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C74634"/>
          </a:solidFill>
          <a:ln w="12700">
            <a:solidFill>
              <a:srgbClr val="C74634"/>
            </a:solidFill>
            <a:prstDash val="solid"/>
          </a:ln>
        </p:spPr>
      </p:sp>
      <p:sp>
        <p:nvSpPr>
          <p:cNvPr id="3" name="Text 1"/>
          <p:cNvSpPr/>
          <p:nvPr/>
        </p:nvSpPr>
        <p:spPr>
          <a:xfrm>
            <a:off x="841248" y="0"/>
            <a:ext cx="3657600" cy="658368"/>
          </a:xfrm>
          <a:prstGeom prst="rect">
            <a:avLst/>
          </a:prstGeom>
          <a:noFill/>
          <a:ln/>
        </p:spPr>
        <p:txBody>
          <a:bodyPr wrap="square" lIns="0" tIns="0" rIns="0" bIns="0" rtlCol="0" anchor="ctr"/>
          <a:lstStyle/>
          <a:p>
            <a:pPr algn="l" indent="0" marL="0">
              <a:buNone/>
            </a:pPr>
            <a:r>
              <a:rPr lang="en-US" sz="2200" b="1" spc="300" kern="0" dirty="0">
                <a:solidFill>
                  <a:srgbClr val="FFFFFF"/>
                </a:solidFill>
                <a:latin typeface="맑은 고딕" pitchFamily="34" charset="0"/>
                <a:ea typeface="맑은 고딕" pitchFamily="34" charset="-122"/>
                <a:cs typeface="맑은 고딕" pitchFamily="34" charset="-120"/>
              </a:rPr>
              <a:t>ORACLE</a:t>
            </a:r>
            <a:endParaRPr lang="en-US" sz="2200" dirty="0"/>
          </a:p>
        </p:txBody>
      </p:sp>
      <p:sp>
        <p:nvSpPr>
          <p:cNvPr id="4" name="Text 2"/>
          <p:cNvSpPr/>
          <p:nvPr/>
        </p:nvSpPr>
        <p:spPr>
          <a:xfrm>
            <a:off x="6775704" y="0"/>
            <a:ext cx="4572000" cy="658368"/>
          </a:xfrm>
          <a:prstGeom prst="rect">
            <a:avLst/>
          </a:prstGeom>
          <a:noFill/>
          <a:ln/>
        </p:spPr>
        <p:txBody>
          <a:bodyPr wrap="square" lIns="0" tIns="0" rIns="0" bIns="0" rtlCol="0" anchor="ctr"/>
          <a:lstStyle/>
          <a:p>
            <a:pPr algn="r" indent="0" marL="0">
              <a:buNone/>
            </a:pPr>
            <a:r>
              <a:rPr lang="en-US" sz="1200" dirty="0">
                <a:solidFill>
                  <a:srgbClr val="FBE3DD"/>
                </a:solidFill>
                <a:latin typeface="맑은 고딕" pitchFamily="34" charset="0"/>
                <a:ea typeface="맑은 고딕" pitchFamily="34" charset="-122"/>
                <a:cs typeface="맑은 고딕" pitchFamily="34" charset="-120"/>
              </a:rPr>
              <a:t>Database 19c · guide_62_68.html</a:t>
            </a:r>
            <a:endParaRPr lang="en-US" sz="1200" dirty="0"/>
          </a:p>
        </p:txBody>
      </p:sp>
      <p:sp>
        <p:nvSpPr>
          <p:cNvPr id="5" name="Text 3"/>
          <p:cNvSpPr/>
          <p:nvPr/>
        </p:nvSpPr>
        <p:spPr>
          <a:xfrm>
            <a:off x="841248" y="1828800"/>
            <a:ext cx="10506456" cy="365760"/>
          </a:xfrm>
          <a:prstGeom prst="rect">
            <a:avLst/>
          </a:prstGeom>
          <a:noFill/>
          <a:ln/>
        </p:spPr>
        <p:txBody>
          <a:bodyPr wrap="square" lIns="0" tIns="0" rIns="0" bIns="0" rtlCol="0" anchor="ctr"/>
          <a:lstStyle/>
          <a:p>
            <a:pPr algn="l" indent="0" marL="0">
              <a:buNone/>
            </a:pPr>
            <a:r>
              <a:rPr lang="en-US" sz="130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468880"/>
            <a:ext cx="10506456" cy="1280160"/>
          </a:xfrm>
          <a:prstGeom prst="rect">
            <a:avLst/>
          </a:prstGeom>
          <a:noFill/>
          <a:ln/>
        </p:spPr>
        <p:txBody>
          <a:bodyPr wrap="square" lIns="0" tIns="0" rIns="0" bIns="0" rtlCol="0" anchor="t"/>
          <a:lstStyle/>
          <a:p>
            <a:pPr algn="l" indent="0" marL="0">
              <a:buNone/>
            </a:pPr>
            <a:r>
              <a:rPr lang="en-US" sz="4600" b="1" dirty="0">
                <a:solidFill>
                  <a:srgbClr val="FFFFFF"/>
                </a:solidFill>
                <a:latin typeface="맑은 고딕" pitchFamily="34" charset="0"/>
                <a:ea typeface="맑은 고딕" pitchFamily="34" charset="-122"/>
                <a:cs typeface="맑은 고딕" pitchFamily="34" charset="-120"/>
              </a:rPr>
              <a:t>SQL 한 줄이 메모리에서 처리되는 모든 과정</a:t>
            </a:r>
            <a:endParaRPr lang="en-US" sz="4600" dirty="0"/>
          </a:p>
        </p:txBody>
      </p:sp>
      <p:sp>
        <p:nvSpPr>
          <p:cNvPr id="7" name="Shape 5"/>
          <p:cNvSpPr/>
          <p:nvPr/>
        </p:nvSpPr>
        <p:spPr>
          <a:xfrm>
            <a:off x="841248" y="5486400"/>
            <a:ext cx="2926080" cy="18288"/>
          </a:xfrm>
          <a:prstGeom prst="rect">
            <a:avLst/>
          </a:prstGeom>
          <a:solidFill>
            <a:srgbClr val="334155"/>
          </a:solidFill>
          <a:ln w="12700">
            <a:solidFill>
              <a:srgbClr val="334155"/>
            </a:solidFill>
            <a:prstDash val="solid"/>
          </a:ln>
        </p:spPr>
      </p:sp>
      <p:sp>
        <p:nvSpPr>
          <p:cNvPr id="8" name="Text 6"/>
          <p:cNvSpPr/>
          <p:nvPr/>
        </p:nvSpPr>
        <p:spPr>
          <a:xfrm>
            <a:off x="841248" y="5623560"/>
            <a:ext cx="7315200" cy="457200"/>
          </a:xfrm>
          <a:prstGeom prst="rect">
            <a:avLst/>
          </a:prstGeom>
          <a:noFill/>
          <a:ln/>
        </p:spPr>
        <p:txBody>
          <a:bodyPr wrap="square" lIns="0" tIns="0" rIns="0" bIns="0" rtlCol="0" anchor="t"/>
          <a:lstStyle/>
          <a:p>
            <a:pPr algn="l" indent="0" marL="0">
              <a:buNone/>
            </a:pPr>
            <a:r>
              <a:rPr lang="en-US" sz="1300" dirty="0">
                <a:solidFill>
                  <a:srgbClr val="FFFFFF"/>
                </a:solidFill>
                <a:latin typeface="맑은 고딕" pitchFamily="34" charset="0"/>
                <a:ea typeface="맑은 고딕" pitchFamily="34" charset="-122"/>
                <a:cs typeface="맑은 고딕" pitchFamily="34" charset="-120"/>
              </a:rPr>
              <a:t>Oracle DBA 부트캠프</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548640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발표 흐름</a:t>
            </a:r>
            <a:endParaRPr lang="en-US" sz="2600" dirty="0"/>
          </a:p>
        </p:txBody>
      </p:sp>
      <p:sp>
        <p:nvSpPr>
          <p:cNvPr id="4" name="Text 2"/>
          <p:cNvSpPr/>
          <p:nvPr/>
        </p:nvSpPr>
        <p:spPr>
          <a:xfrm>
            <a:off x="1097280" y="1325880"/>
            <a:ext cx="5486400" cy="274320"/>
          </a:xfrm>
          <a:prstGeom prst="rect">
            <a:avLst/>
          </a:prstGeom>
          <a:noFill/>
          <a:ln/>
        </p:spPr>
        <p:txBody>
          <a:bodyPr wrap="square" lIns="0" tIns="0" rIns="0" bIns="0" rtlCol="0" anchor="ctr"/>
          <a:lstStyle/>
          <a:p>
            <a:pPr algn="l" indent="0" marL="0">
              <a:buNone/>
            </a:pPr>
            <a:r>
              <a:rPr lang="en-US" sz="1200" spc="200" kern="0" dirty="0">
                <a:solidFill>
                  <a:srgbClr val="94A3B8"/>
                </a:solidFill>
                <a:latin typeface="맑은 고딕" pitchFamily="34" charset="0"/>
                <a:ea typeface="맑은 고딕" pitchFamily="34" charset="-122"/>
                <a:cs typeface="맑은 고딕" pitchFamily="34" charset="-120"/>
              </a:rPr>
              <a:t>ROADMAP</a:t>
            </a:r>
            <a:endParaRPr lang="en-US" sz="12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841248" y="17373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0</a:t>
            </a:r>
            <a:endParaRPr lang="en-US" sz="2600" dirty="0"/>
          </a:p>
        </p:txBody>
      </p:sp>
      <p:sp>
        <p:nvSpPr>
          <p:cNvPr id="8" name="Text 6"/>
          <p:cNvSpPr/>
          <p:nvPr/>
        </p:nvSpPr>
        <p:spPr>
          <a:xfrm>
            <a:off x="1755648" y="175564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등장인물 — 프로세스와 메모리</a:t>
            </a:r>
            <a:endParaRPr lang="en-US" sz="1700" dirty="0"/>
          </a:p>
        </p:txBody>
      </p:sp>
      <p:sp>
        <p:nvSpPr>
          <p:cNvPr id="9" name="Text 7"/>
          <p:cNvSpPr/>
          <p:nvPr/>
        </p:nvSpPr>
        <p:spPr>
          <a:xfrm>
            <a:off x="1755648" y="214884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무대를 먼저 깔아야 모든 동작이 제자리에 들어맞는다</a:t>
            </a:r>
            <a:endParaRPr lang="en-US" sz="1200" dirty="0"/>
          </a:p>
        </p:txBody>
      </p:sp>
      <p:sp>
        <p:nvSpPr>
          <p:cNvPr id="10" name="Text 8"/>
          <p:cNvSpPr/>
          <p:nvPr/>
        </p:nvSpPr>
        <p:spPr>
          <a:xfrm>
            <a:off x="841248" y="245364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1</a:t>
            </a:r>
            <a:endParaRPr lang="en-US" sz="2600" dirty="0"/>
          </a:p>
        </p:txBody>
      </p:sp>
      <p:sp>
        <p:nvSpPr>
          <p:cNvPr id="11" name="Text 9"/>
          <p:cNvSpPr/>
          <p:nvPr/>
        </p:nvSpPr>
        <p:spPr>
          <a:xfrm>
            <a:off x="1755648" y="247192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Parse 62</a:t>
            </a:r>
            <a:endParaRPr lang="en-US" sz="1700" dirty="0"/>
          </a:p>
        </p:txBody>
      </p:sp>
      <p:sp>
        <p:nvSpPr>
          <p:cNvPr id="12" name="Text 10"/>
          <p:cNvSpPr/>
          <p:nvPr/>
        </p:nvSpPr>
        <p:spPr>
          <a:xfrm>
            <a:off x="1755648" y="286512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SQL을 검사하고 실행계획을 마련한다 — Shared Pool에서</a:t>
            </a:r>
            <a:endParaRPr lang="en-US" sz="1200" dirty="0"/>
          </a:p>
        </p:txBody>
      </p:sp>
      <p:sp>
        <p:nvSpPr>
          <p:cNvPr id="13" name="Text 11"/>
          <p:cNvSpPr/>
          <p:nvPr/>
        </p:nvSpPr>
        <p:spPr>
          <a:xfrm>
            <a:off x="841248" y="316992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2</a:t>
            </a:r>
            <a:endParaRPr lang="en-US" sz="2600" dirty="0"/>
          </a:p>
        </p:txBody>
      </p:sp>
      <p:sp>
        <p:nvSpPr>
          <p:cNvPr id="14" name="Text 12"/>
          <p:cNvSpPr/>
          <p:nvPr/>
        </p:nvSpPr>
        <p:spPr>
          <a:xfrm>
            <a:off x="1755648" y="318820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Bind</a:t>
            </a:r>
            <a:endParaRPr lang="en-US" sz="1700" dirty="0"/>
          </a:p>
        </p:txBody>
      </p:sp>
      <p:sp>
        <p:nvSpPr>
          <p:cNvPr id="15" name="Text 13"/>
          <p:cNvSpPr/>
          <p:nvPr/>
        </p:nvSpPr>
        <p:spPr>
          <a:xfrm>
            <a:off x="1755648" y="358140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실행계획의 빈칸에 실제 값을 채운다 — PGA에서</a:t>
            </a:r>
            <a:endParaRPr lang="en-US" sz="1200" dirty="0"/>
          </a:p>
        </p:txBody>
      </p:sp>
      <p:sp>
        <p:nvSpPr>
          <p:cNvPr id="16" name="Text 14"/>
          <p:cNvSpPr/>
          <p:nvPr/>
        </p:nvSpPr>
        <p:spPr>
          <a:xfrm>
            <a:off x="841248" y="388620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3</a:t>
            </a:r>
            <a:endParaRPr lang="en-US" sz="2600" dirty="0"/>
          </a:p>
        </p:txBody>
      </p:sp>
      <p:sp>
        <p:nvSpPr>
          <p:cNvPr id="17" name="Text 15"/>
          <p:cNvSpPr/>
          <p:nvPr/>
        </p:nvSpPr>
        <p:spPr>
          <a:xfrm>
            <a:off x="1755648" y="390448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Execute — 읽기 63</a:t>
            </a:r>
            <a:endParaRPr lang="en-US" sz="1700" dirty="0"/>
          </a:p>
        </p:txBody>
      </p:sp>
      <p:sp>
        <p:nvSpPr>
          <p:cNvPr id="18" name="Text 16"/>
          <p:cNvSpPr/>
          <p:nvPr/>
        </p:nvSpPr>
        <p:spPr>
          <a:xfrm>
            <a:off x="1755648" y="429768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실행계획을 따라 블록을 찾는다 — Buffer Cache</a:t>
            </a:r>
            <a:endParaRPr lang="en-US" sz="1200" dirty="0"/>
          </a:p>
        </p:txBody>
      </p:sp>
      <p:sp>
        <p:nvSpPr>
          <p:cNvPr id="19" name="Text 17"/>
          <p:cNvSpPr/>
          <p:nvPr/>
        </p:nvSpPr>
        <p:spPr>
          <a:xfrm>
            <a:off x="841248" y="460248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4</a:t>
            </a:r>
            <a:endParaRPr lang="en-US" sz="2600" dirty="0"/>
          </a:p>
        </p:txBody>
      </p:sp>
      <p:sp>
        <p:nvSpPr>
          <p:cNvPr id="20" name="Text 18"/>
          <p:cNvSpPr/>
          <p:nvPr/>
        </p:nvSpPr>
        <p:spPr>
          <a:xfrm>
            <a:off x="1755648" y="462076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Fetch</a:t>
            </a:r>
            <a:endParaRPr lang="en-US" sz="1700" dirty="0"/>
          </a:p>
        </p:txBody>
      </p:sp>
      <p:sp>
        <p:nvSpPr>
          <p:cNvPr id="21" name="Text 19"/>
          <p:cNvSpPr/>
          <p:nvPr/>
        </p:nvSpPr>
        <p:spPr>
          <a:xfrm>
            <a:off x="1755648" y="501396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결과 행을 user process로 돌려보낸다 — SELECT 처리의 마지막</a:t>
            </a:r>
            <a:endParaRPr lang="en-US" sz="1200" dirty="0"/>
          </a:p>
        </p:txBody>
      </p:sp>
      <p:sp>
        <p:nvSpPr>
          <p:cNvPr id="22" name="Text 20"/>
          <p:cNvSpPr/>
          <p:nvPr/>
        </p:nvSpPr>
        <p:spPr>
          <a:xfrm>
            <a:off x="841248" y="53187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5</a:t>
            </a:r>
            <a:endParaRPr lang="en-US" sz="2600" dirty="0"/>
          </a:p>
        </p:txBody>
      </p:sp>
      <p:sp>
        <p:nvSpPr>
          <p:cNvPr id="23" name="Text 21"/>
          <p:cNvSpPr/>
          <p:nvPr/>
        </p:nvSpPr>
        <p:spPr>
          <a:xfrm>
            <a:off x="1755648" y="533704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Execute — 트랜잭션(DML) 64</a:t>
            </a:r>
            <a:endParaRPr lang="en-US" sz="1700" dirty="0"/>
          </a:p>
        </p:txBody>
      </p:sp>
      <p:sp>
        <p:nvSpPr>
          <p:cNvPr id="24" name="Text 22"/>
          <p:cNvSpPr/>
          <p:nvPr/>
        </p:nvSpPr>
        <p:spPr>
          <a:xfrm>
            <a:off x="1755648" y="573024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읽기 위에 '변경'을 얹으면 — undo·redo·lock이 동시에 움직인다</a:t>
            </a:r>
            <a:endParaRPr lang="en-US" sz="1200" dirty="0"/>
          </a:p>
        </p:txBody>
      </p:sp>
      <p:sp>
        <p:nvSpPr>
          <p:cNvPr id="25" name="Text 23"/>
          <p:cNvSpPr/>
          <p:nvPr/>
        </p:nvSpPr>
        <p:spPr>
          <a:xfrm>
            <a:off x="6272784" y="17373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5.5</a:t>
            </a:r>
            <a:endParaRPr lang="en-US" sz="2600" dirty="0"/>
          </a:p>
        </p:txBody>
      </p:sp>
      <p:sp>
        <p:nvSpPr>
          <p:cNvPr id="26" name="Text 24"/>
          <p:cNvSpPr/>
          <p:nvPr/>
        </p:nvSpPr>
        <p:spPr>
          <a:xfrm>
            <a:off x="7187184" y="175564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Redo · LGWR · Commit 65</a:t>
            </a:r>
            <a:endParaRPr lang="en-US" sz="1700" dirty="0"/>
          </a:p>
        </p:txBody>
      </p:sp>
      <p:sp>
        <p:nvSpPr>
          <p:cNvPr id="27" name="Text 25"/>
          <p:cNvSpPr/>
          <p:nvPr/>
        </p:nvSpPr>
        <p:spPr>
          <a:xfrm>
            <a:off x="7187184" y="214884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변경 기록을 먼저 디스크에 남겨야 commit이 끝난다</a:t>
            </a:r>
            <a:endParaRPr lang="en-US" sz="1200" dirty="0"/>
          </a:p>
        </p:txBody>
      </p:sp>
      <p:sp>
        <p:nvSpPr>
          <p:cNvPr id="28" name="Text 26"/>
          <p:cNvSpPr/>
          <p:nvPr/>
        </p:nvSpPr>
        <p:spPr>
          <a:xfrm>
            <a:off x="6272784" y="245364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6</a:t>
            </a:r>
            <a:endParaRPr lang="en-US" sz="2600" dirty="0"/>
          </a:p>
        </p:txBody>
      </p:sp>
      <p:sp>
        <p:nvSpPr>
          <p:cNvPr id="29" name="Text 27"/>
          <p:cNvSpPr/>
          <p:nvPr/>
        </p:nvSpPr>
        <p:spPr>
          <a:xfrm>
            <a:off x="7187184" y="247192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Lock &amp; 동시성 66</a:t>
            </a:r>
            <a:endParaRPr lang="en-US" sz="1700" dirty="0"/>
          </a:p>
        </p:txBody>
      </p:sp>
      <p:sp>
        <p:nvSpPr>
          <p:cNvPr id="30" name="Text 28"/>
          <p:cNvSpPr/>
          <p:nvPr/>
        </p:nvSpPr>
        <p:spPr>
          <a:xfrm>
            <a:off x="7187184" y="286512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여러 트랜잭션이 부딪힐 때 — Part 5의 TX가 충돌하면</a:t>
            </a:r>
            <a:endParaRPr lang="en-US" sz="1200" dirty="0"/>
          </a:p>
        </p:txBody>
      </p:sp>
      <p:sp>
        <p:nvSpPr>
          <p:cNvPr id="31" name="Text 29"/>
          <p:cNvSpPr/>
          <p:nvPr/>
        </p:nvSpPr>
        <p:spPr>
          <a:xfrm>
            <a:off x="6272784" y="316992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PART 7</a:t>
            </a:r>
            <a:endParaRPr lang="en-US" sz="2600" dirty="0"/>
          </a:p>
        </p:txBody>
      </p:sp>
      <p:sp>
        <p:nvSpPr>
          <p:cNvPr id="32" name="Text 30"/>
          <p:cNvSpPr/>
          <p:nvPr/>
        </p:nvSpPr>
        <p:spPr>
          <a:xfrm>
            <a:off x="7187184" y="318820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저장 구조 &amp; 공간 관리 67</a:t>
            </a:r>
            <a:endParaRPr lang="en-US" sz="1700" dirty="0"/>
          </a:p>
        </p:txBody>
      </p:sp>
      <p:sp>
        <p:nvSpPr>
          <p:cNvPr id="33" name="Text 31"/>
          <p:cNvSpPr/>
          <p:nvPr/>
        </p:nvSpPr>
        <p:spPr>
          <a:xfrm>
            <a:off x="7187184" y="358140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블록이 디스크에 어떻게 배치되고, 빈 공간을 어떻게 찾나</a:t>
            </a:r>
            <a:endParaRPr lang="en-US" sz="1200" dirty="0"/>
          </a:p>
        </p:txBody>
      </p:sp>
      <p:sp>
        <p:nvSpPr>
          <p:cNvPr id="34" name="Text 32"/>
          <p:cNvSpPr/>
          <p:nvPr/>
        </p:nvSpPr>
        <p:spPr>
          <a:xfrm>
            <a:off x="6272784" y="388620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부록 A</a:t>
            </a:r>
            <a:endParaRPr lang="en-US" sz="2600" dirty="0"/>
          </a:p>
        </p:txBody>
      </p:sp>
      <p:sp>
        <p:nvSpPr>
          <p:cNvPr id="35" name="Text 33"/>
          <p:cNvSpPr/>
          <p:nvPr/>
        </p:nvSpPr>
        <p:spPr>
          <a:xfrm>
            <a:off x="7187184" y="390448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Wait Event 총정리 (62–68)</a:t>
            </a:r>
            <a:endParaRPr lang="en-US" sz="1700" dirty="0"/>
          </a:p>
        </p:txBody>
      </p:sp>
      <p:sp>
        <p:nvSpPr>
          <p:cNvPr id="36" name="Text 34"/>
          <p:cNvSpPr/>
          <p:nvPr/>
        </p:nvSpPr>
        <p:spPr>
          <a:xfrm>
            <a:off x="7187184" y="429768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처리 단계별로 어디서 터지는지</a:t>
            </a:r>
            <a:endParaRPr lang="en-US" sz="1200" dirty="0"/>
          </a:p>
        </p:txBody>
      </p:sp>
      <p:sp>
        <p:nvSpPr>
          <p:cNvPr id="37" name="Text 35"/>
          <p:cNvSpPr/>
          <p:nvPr/>
        </p:nvSpPr>
        <p:spPr>
          <a:xfrm>
            <a:off x="6272784" y="460248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부록 B</a:t>
            </a:r>
            <a:endParaRPr lang="en-US" sz="2600" dirty="0"/>
          </a:p>
        </p:txBody>
      </p:sp>
      <p:sp>
        <p:nvSpPr>
          <p:cNvPr id="38" name="Text 36"/>
          <p:cNvSpPr/>
          <p:nvPr/>
        </p:nvSpPr>
        <p:spPr>
          <a:xfrm>
            <a:off x="7187184" y="462076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핵심 용어집</a:t>
            </a:r>
            <a:endParaRPr lang="en-US" sz="1700" dirty="0"/>
          </a:p>
        </p:txBody>
      </p:sp>
      <p:sp>
        <p:nvSpPr>
          <p:cNvPr id="39" name="Text 37"/>
          <p:cNvSpPr/>
          <p:nvPr/>
        </p:nvSpPr>
        <p:spPr>
          <a:xfrm>
            <a:off x="7187184" y="5013960"/>
            <a:ext cx="4160520" cy="365760"/>
          </a:xfrm>
          <a:prstGeom prst="rect">
            <a:avLst/>
          </a:prstGeom>
          <a:noFill/>
          <a:ln/>
        </p:spPr>
        <p:txBody>
          <a:bodyPr wrap="square" lIns="0" tIns="0" rIns="0" bIns="0" rtlCol="0" anchor="t"/>
          <a:lstStyle/>
          <a:p>
            <a:pPr algn="l" indent="0" marL="0">
              <a:buNone/>
            </a:pPr>
            <a:r>
              <a:rPr lang="en-US" sz="1200" dirty="0">
                <a:solidFill>
                  <a:srgbClr val="64748B"/>
                </a:solidFill>
                <a:latin typeface="맑은 고딕" pitchFamily="34" charset="0"/>
                <a:ea typeface="맑은 고딕" pitchFamily="34" charset="-122"/>
                <a:cs typeface="맑은 고딕" pitchFamily="34" charset="-120"/>
              </a:rPr>
              <a:t>한 줄 정의로 빠르게 확인</a:t>
            </a:r>
            <a:endParaRPr lang="en-US" sz="1200" dirty="0"/>
          </a:p>
        </p:txBody>
      </p:sp>
      <p:sp>
        <p:nvSpPr>
          <p:cNvPr id="40" name="Text 38"/>
          <p:cNvSpPr/>
          <p:nvPr/>
        </p:nvSpPr>
        <p:spPr>
          <a:xfrm>
            <a:off x="6272784" y="53187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부록 C</a:t>
            </a:r>
            <a:endParaRPr lang="en-US" sz="2600" dirty="0"/>
          </a:p>
        </p:txBody>
      </p:sp>
      <p:sp>
        <p:nvSpPr>
          <p:cNvPr id="41" name="Text 39"/>
          <p:cNvSpPr/>
          <p:nvPr/>
        </p:nvSpPr>
        <p:spPr>
          <a:xfrm>
            <a:off x="7187184" y="5337048"/>
            <a:ext cx="4160520" cy="365760"/>
          </a:xfrm>
          <a:prstGeom prst="rect">
            <a:avLst/>
          </a:prstGeom>
          <a:noFill/>
          <a:ln/>
        </p:spPr>
        <p:txBody>
          <a:bodyPr wrap="square" lIns="0" tIns="0" rIns="0" bIns="0" rtlCol="0" anchor="t"/>
          <a:lstStyle/>
          <a:p>
            <a:pPr algn="l" indent="0" marL="0">
              <a:buNone/>
            </a:pPr>
            <a:r>
              <a:rPr lang="en-US" sz="1700" b="1" dirty="0">
                <a:solidFill>
                  <a:srgbClr val="1E293B"/>
                </a:solidFill>
                <a:latin typeface="맑은 고딕" pitchFamily="34" charset="0"/>
                <a:ea typeface="맑은 고딕" pitchFamily="34" charset="-122"/>
                <a:cs typeface="맑은 고딕" pitchFamily="34" charset="-120"/>
              </a:rPr>
              <a:t>핵심 쿼리 모음</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0</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등장인물 — 프로세스와 메모리</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무대를 먼저 깔아야 모든 동작이 제자리에 들어맞는다</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등장인물 — 프로세스와 메모리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01</a:t>
            </a:r>
            <a:endParaRPr lang="en-US" sz="900" dirty="0"/>
          </a:p>
        </p:txBody>
      </p:sp>
      <p:sp>
        <p:nvSpPr>
          <p:cNvPr id="8" name="Text 6"/>
          <p:cNvSpPr/>
          <p:nvPr/>
        </p:nvSpPr>
        <p:spPr>
          <a:xfrm>
            <a:off x="841248" y="1737360"/>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SQL 처리를 이해하려면 "누가(프로세스)" "어디에(메모리)" 접근하는지를 먼저 알아야 합니다. 두 종류의 프로세스와 두 종류의 메모리가 무대의 전부예요.</a:t>
            </a:r>
            <a:endParaRPr lang="en-US" sz="1600" dirty="0"/>
          </a:p>
        </p:txBody>
      </p:sp>
      <p:sp>
        <p:nvSpPr>
          <p:cNvPr id="9" name="Shape 7"/>
          <p:cNvSpPr/>
          <p:nvPr/>
        </p:nvSpPr>
        <p:spPr>
          <a:xfrm>
            <a:off x="841248" y="2724912"/>
            <a:ext cx="10506456" cy="204825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0" name="Shape 8"/>
          <p:cNvSpPr/>
          <p:nvPr/>
        </p:nvSpPr>
        <p:spPr>
          <a:xfrm>
            <a:off x="841248" y="2724912"/>
            <a:ext cx="64008" cy="2048256"/>
          </a:xfrm>
          <a:prstGeom prst="rect">
            <a:avLst/>
          </a:prstGeom>
          <a:solidFill>
            <a:srgbClr val="C74634"/>
          </a:solidFill>
          <a:ln w="12700">
            <a:solidFill>
              <a:srgbClr val="C74634"/>
            </a:solidFill>
            <a:prstDash val="solid"/>
          </a:ln>
        </p:spPr>
      </p:sp>
      <p:sp>
        <p:nvSpPr>
          <p:cNvPr id="11" name="Text 9"/>
          <p:cNvSpPr/>
          <p:nvPr/>
        </p:nvSpPr>
        <p:spPr>
          <a:xfrm>
            <a:off x="1161288" y="2907792"/>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parse는 위쪽(Shared Pool), execute는 아래쪽(Buffer Cache·Redo)을 건드린다.</a:t>
            </a:r>
            <a:endParaRPr lang="en-US" sz="1200" dirty="0"/>
          </a:p>
        </p:txBody>
      </p:sp>
      <p:sp>
        <p:nvSpPr>
          <p:cNvPr id="12" name="Text 10"/>
          <p:cNvSpPr/>
          <p:nvPr/>
        </p:nvSpPr>
        <p:spPr>
          <a:xfrm>
            <a:off x="1161288" y="3438144"/>
            <a:ext cx="9957816" cy="1179576"/>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User Process · 클라이언트 · SQL · Server Process · 전용 서버 · PGA · Cursor · Private SQL Area · SGA · Shared Pool · Library Cache · 공유 SQL·실행계획</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등장인물 — 프로세스와 메모리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02</a:t>
            </a:r>
            <a:endParaRPr lang="en-US" sz="900" dirty="0"/>
          </a:p>
        </p:txBody>
      </p:sp>
      <p:sp>
        <p:nvSpPr>
          <p:cNvPr id="8" name="Shape 6"/>
          <p:cNvSpPr/>
          <p:nvPr/>
        </p:nvSpPr>
        <p:spPr>
          <a:xfrm>
            <a:off x="841248" y="1737360"/>
            <a:ext cx="10506456" cy="213969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13969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커서는 두 부분으로 나뉜다</a:t>
            </a:r>
            <a:endParaRPr lang="en-US" sz="1400" dirty="0"/>
          </a:p>
        </p:txBody>
      </p:sp>
      <p:sp>
        <p:nvSpPr>
          <p:cNvPr id="11" name="Text 9"/>
          <p:cNvSpPr/>
          <p:nvPr/>
        </p:nvSpPr>
        <p:spPr>
          <a:xfrm>
            <a:off x="1161288" y="2395728"/>
            <a:ext cx="9957816" cy="131673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Shared SQL Area (파스 트리·실행계획)는 Library Cache에 두고 여러 세션이 공유 한다. Private SQL Area (바인드 값·fetch 진행 상태)는 PGA에 두고 세션마다 따로 갖는다. 이 분리 덕분에 같은 SQL의 실행계획을 한 번만 만들어 모두가 재사용(soft parse)하면서도, 세션별로 다른 값을 동시에 처리할 수 있다.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등장인물 — 프로세스와 메모리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03</a:t>
            </a:r>
            <a:endParaRPr lang="en-US" sz="900" dirty="0"/>
          </a:p>
        </p:txBody>
      </p:sp>
      <p:sp>
        <p:nvSpPr>
          <p:cNvPr id="8" name="Shape 6"/>
          <p:cNvSpPr/>
          <p:nvPr/>
        </p:nvSpPr>
        <p:spPr>
          <a:xfrm>
            <a:off x="841248" y="1737360"/>
            <a:ext cx="10506456" cy="433425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433425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Shared Pool과 PGA도 '작업 공간'이 있다</a:t>
            </a:r>
            <a:endParaRPr lang="en-US" sz="1400" dirty="0"/>
          </a:p>
        </p:txBody>
      </p:sp>
      <p:sp>
        <p:nvSpPr>
          <p:cNvPr id="11" name="Text 9"/>
          <p:cNvSpPr/>
          <p:nvPr/>
        </p:nvSpPr>
        <p:spPr>
          <a:xfrm>
            <a:off x="1161288" y="2395728"/>
            <a:ext cx="9957816" cy="351129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Buffer Cache만 깊게 보면 균형이 안 맞는다. 나머지 두 영역도 처리에 직접 쓰인다. Shared Pool = Library Cache(공유 SQL·실행계획) + Dictionary(row) Cache (테이블·컬럼·권한 등 메타데이터) + Reserved Pool (큰 청크용 예약 ~5%). parse가 여기서 일어난다(Part 1). 메타데이터 변경 경합이 row cache lock , 큰 청크 부족이 ORA-04031 . PGA 작업 영역(work area) — ORDER BY · GROUP BY · DISTINCT 는 sort area , HASH JOIN 은 hash area 에서 처리된다. PGA에서 다 못 담으면 temp 테이블스페이스로 흘러넘쳐 (spill) direct path read/write temp 가 발생한다. 그래서 정렬·조인 튜닝은 PGA( pg_aggregate_target ) 이야기로 이어진다(→ SQL 튜닝편). 한 줄로: parse·메타데이터 = Shared Pool , 블록 캐싱 = Buffer Cache , 정렬·해시 작업 = PGA . 세 곳이 역할을 나눠 맡는다.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1</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Parse 62</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SQL을 검사하고 실행계획을 마련한다 — Shared Pool에서</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Parse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04</a:t>
            </a:r>
            <a:endParaRPr lang="en-US" sz="900" dirty="0"/>
          </a:p>
        </p:txBody>
      </p:sp>
      <p:sp>
        <p:nvSpPr>
          <p:cNvPr id="7" name="Text 5"/>
          <p:cNvSpPr/>
          <p:nvPr/>
        </p:nvSpPr>
        <p:spPr>
          <a:xfrm>
            <a:off x="841248" y="1737360"/>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Server Process가 SQL을 받으면 가장 먼저 커서 를 준비하고 parse를 시작합니다. parse는 네 개의 검사를 순서대로 거쳐요.</a:t>
            </a:r>
            <a:endParaRPr lang="en-US" sz="1600" dirty="0"/>
          </a:p>
        </p:txBody>
      </p:sp>
      <p:sp>
        <p:nvSpPr>
          <p:cNvPr id="8" name="Shape 6"/>
          <p:cNvSpPr/>
          <p:nvPr/>
        </p:nvSpPr>
        <p:spPr>
          <a:xfrm>
            <a:off x="841248" y="2724912"/>
            <a:ext cx="10506456" cy="2304288"/>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2724912"/>
            <a:ext cx="64008" cy="2304288"/>
          </a:xfrm>
          <a:prstGeom prst="rect">
            <a:avLst/>
          </a:prstGeom>
          <a:solidFill>
            <a:srgbClr val="C74634"/>
          </a:solidFill>
          <a:ln w="12700">
            <a:solidFill>
              <a:srgbClr val="C74634"/>
            </a:solidFill>
            <a:prstDash val="solid"/>
          </a:ln>
        </p:spPr>
      </p:sp>
      <p:sp>
        <p:nvSpPr>
          <p:cNvPr id="10" name="Text 8"/>
          <p:cNvSpPr/>
          <p:nvPr/>
        </p:nvSpPr>
        <p:spPr>
          <a:xfrm>
            <a:off x="1161288" y="2907792"/>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네 검사를 통과한 뒤 라이브러리 캐시에 같은 커서가 있으면 soft, 없으면 hard.</a:t>
            </a:r>
            <a:endParaRPr lang="en-US" sz="1200" dirty="0"/>
          </a:p>
        </p:txBody>
      </p:sp>
      <p:sp>
        <p:nvSpPr>
          <p:cNvPr id="11" name="Text 9"/>
          <p:cNvSpPr/>
          <p:nvPr/>
        </p:nvSpPr>
        <p:spPr>
          <a:xfrm>
            <a:off x="1161288" y="3438144"/>
            <a:ext cx="9957816" cy="1435608"/>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SQL 수신 → 커서 생성 · ① 문법 검사 (Syntax) · 구문이 올바른가 · ② 의미 검사 (Semantic) · 객체·컬럼 존재? (딕셔너리) · ③ 권한 검사 (Privilege) · 접근 권한 확인 · ④ 라이브러리 캐시 검색 · SQL 해시로 기존 커서 탐색 · 있으면 · 없으면 · Soft Parse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1.1 네 가지 검사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066544"/>
        </p:xfrm>
        <a:graphic>
          <a:graphicData uri="http://schemas.openxmlformats.org/drawingml/2006/table">
            <a:tbl>
              <a:tblPr/>
              <a:tblGrid>
                <a:gridCol w="5253228"/>
                <a:gridCol w="5253228"/>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단계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하는 일 / 무엇을 보는가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① 문법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키워드·구문이 오라클 문법에 맞는가. 틀리면 ORA-00936 등. 아직 객체 존재는 안 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② 의미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테이블·컬럼이 실제로 존재하는가. Dictionary Cache(row cache) 를 조회. 없으면 ORA-00904 .</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③ 권한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이 사용자가 객체에 접근 권한이 있는가. ②③은 둘 다 딕셔너리 근거라 묶어서 보기도 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④ 캐시검색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SQL 텍스트를 해시 → Library Cache 버킷에서 같은 커서 탐색. 결과로 soft/hard 분기.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1.1 네 가지 검사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06</a:t>
            </a:r>
            <a:endParaRPr lang="en-US" sz="900" dirty="0"/>
          </a:p>
        </p:txBody>
      </p:sp>
      <p:sp>
        <p:nvSpPr>
          <p:cNvPr id="8" name="Shape 6"/>
          <p:cNvSpPr/>
          <p:nvPr/>
        </p:nvSpPr>
        <p:spPr>
          <a:xfrm>
            <a:off x="841248" y="1737360"/>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41401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왜 바인드 변수가 중요한가</a:t>
            </a:r>
            <a:endParaRPr lang="en-US" sz="1400" dirty="0"/>
          </a:p>
        </p:txBody>
      </p:sp>
      <p:sp>
        <p:nvSpPr>
          <p:cNvPr id="11" name="Text 9"/>
          <p:cNvSpPr/>
          <p:nvPr/>
        </p:nvSpPr>
        <p:spPr>
          <a:xfrm>
            <a:off x="1161288" y="2395728"/>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리터럴을 매번 박으면( =100 , =101 …) SQL 텍스트가 달라져 해시값이 매번 바뀌고, 그때마다 hard parse 가 일어난다. hard parse는 옵티마이저 연산 + shared pool에 새 청크 할당(→ shared pool latch , 심하면 ORA-04031 )이라 비싸다. :emp_id 같은 바인드 변수를 쓰면 텍스트가 고정돼 soft parse로 재사용된다. 운영 튜닝의 1순위 항목.</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1.2 hard parse는 내부에서 무슨 일을 하나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07</a:t>
            </a:r>
            <a:endParaRPr lang="en-US" sz="900" dirty="0"/>
          </a:p>
        </p:txBody>
      </p:sp>
      <p:sp>
        <p:nvSpPr>
          <p:cNvPr id="8" name="Text 6"/>
          <p:cNvSpPr/>
          <p:nvPr/>
        </p:nvSpPr>
        <p:spPr>
          <a:xfrm>
            <a:off x="841248" y="1737360"/>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위 ④ 캐시검색에서 같은 커서를 못 찾으면(cache miss) hard parse 가 시작된다. 단순히 "계획을 만든다"가 아니라 아래 단계를 차례로 거친다.</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2724912"/>
          <a:ext cx="10506456" cy="2450592"/>
        </p:xfrm>
        <a:graphic>
          <a:graphicData uri="http://schemas.openxmlformats.org/drawingml/2006/table">
            <a:tbl>
              <a:tblPr/>
              <a:tblGrid>
                <a:gridCol w="5253228"/>
                <a:gridCol w="5253228"/>
              </a:tblGrid>
              <a:tr h="408432">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단계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하는 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1. 공유 가능성 확인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해시는 같아도 완전히 동일한 SQL 인지(텍스트·바인드 타입·옵티마이저 환경·참조 객체)를 비교. 다르면 같은 부모 아래 child cursor 를 새로 만든다.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2. Query Transformation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옵티마이저가 같은 결과를 내는 더 나은 형태로 SQL을 재작성 한다. view merging, subquery unnesting, predicate pushing, OR 확장 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3. Optimization (CBO)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통계(행 수·카디널리티·클러스터링 팩터)로 후보 계획들의 비용(Cost)을 추정·비교 해 최저 비용을 선택. 액세스 경로·조인 방식·조인 순서를 정한다.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4. Row Source Generation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고른 논리 계획을 실제 실행 가능한 반복자 트리(=실행계획) 로 변환. 실행계획에 보이는 TABLE ACCESS FULL · NESTED LOOPS 가 이 단계의 산물.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5. Library Cache 적재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완성된 커서(파스 트리+실행계획)를 Shared SQL Area로 적재 . 이때 shared pool 청크를 할당한다(→ latch/mutex, 부족하면 ORA-04031 ). 이후 같은 SQL은 soft parse로 재사용.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1.2 hard parse는 내부에서 무슨 일을 하나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08</a:t>
            </a:r>
            <a:endParaRPr lang="en-US" sz="900" dirty="0"/>
          </a:p>
        </p:txBody>
      </p:sp>
      <p:sp>
        <p:nvSpPr>
          <p:cNvPr id="8" name="Shape 6"/>
          <p:cNvSpPr/>
          <p:nvPr/>
        </p:nvSpPr>
        <p:spPr>
          <a:xfrm>
            <a:off x="841248" y="1737360"/>
            <a:ext cx="10506456" cy="213969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13969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soft parse와 갈리는 지점</a:t>
            </a:r>
            <a:endParaRPr lang="en-US" sz="1400" dirty="0"/>
          </a:p>
        </p:txBody>
      </p:sp>
      <p:sp>
        <p:nvSpPr>
          <p:cNvPr id="11" name="Text 9"/>
          <p:cNvSpPr/>
          <p:nvPr/>
        </p:nvSpPr>
        <p:spPr>
          <a:xfrm>
            <a:off x="1161288" y="2395728"/>
            <a:ext cx="9957816" cy="131673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soft parse도 ①문법·②의미·③권한·④캐시검색은 똑같이 수행 한다. 차이는 ④에서 기존 커서를 찾으면 2~4단계(변환·최적화·생성)를 통째로 건너뛰고 그 계획을 재사용한다는 것이다. 그래서 hard parse의 진짜 비용은 CBO 연산(CPU) 과 적재 시 메모리 할당 직렬화(latch) 다. 바인드 변수가 ④의 해시를 고정해 2~4단계를 안 타게 만드는 것이 parse 튜닝의 핵심이다.</a:t>
            </a:r>
            <a:endParaRPr lang="en-US" sz="1300" dirty="0"/>
          </a:p>
        </p:txBody>
      </p:sp>
      <p:sp>
        <p:nvSpPr>
          <p:cNvPr id="12" name="Shape 10"/>
          <p:cNvSpPr/>
          <p:nvPr/>
        </p:nvSpPr>
        <p:spPr>
          <a:xfrm>
            <a:off x="841248" y="4059936"/>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3" name="Shape 11"/>
          <p:cNvSpPr/>
          <p:nvPr/>
        </p:nvSpPr>
        <p:spPr>
          <a:xfrm>
            <a:off x="841248" y="4059936"/>
            <a:ext cx="64008" cy="1865376"/>
          </a:xfrm>
          <a:prstGeom prst="rect">
            <a:avLst/>
          </a:prstGeom>
          <a:solidFill>
            <a:srgbClr val="334155"/>
          </a:solidFill>
          <a:ln w="12700">
            <a:solidFill>
              <a:srgbClr val="334155"/>
            </a:solidFill>
            <a:prstDash val="solid"/>
          </a:ln>
        </p:spPr>
      </p:sp>
      <p:sp>
        <p:nvSpPr>
          <p:cNvPr id="14" name="Text 12"/>
          <p:cNvSpPr/>
          <p:nvPr/>
        </p:nvSpPr>
        <p:spPr>
          <a:xfrm>
            <a:off x="1161288" y="4261104"/>
            <a:ext cx="9957816" cy="365760"/>
          </a:xfrm>
          <a:prstGeom prst="rect">
            <a:avLst/>
          </a:prstGeom>
          <a:noFill/>
          <a:ln/>
        </p:spPr>
        <p:txBody>
          <a:bodyPr wrap="square" lIns="0" tIns="0" rIns="0" bIns="0" rtlCol="0" anchor="ctr"/>
          <a:lstStyle/>
          <a:p>
            <a:pPr algn="l" indent="0" marL="0">
              <a:buNone/>
            </a:pPr>
            <a:r>
              <a:rPr lang="en-US" sz="1400" b="1" dirty="0">
                <a:solidFill>
                  <a:srgbClr val="1E293B"/>
                </a:solidFill>
                <a:latin typeface="맑은 고딕" pitchFamily="34" charset="0"/>
                <a:ea typeface="맑은 고딕" pitchFamily="34" charset="-122"/>
                <a:cs typeface="맑은 고딕" pitchFamily="34" charset="-120"/>
              </a:rPr>
              <a:t>parent vs child cursor</a:t>
            </a:r>
            <a:endParaRPr lang="en-US" sz="1400" dirty="0"/>
          </a:p>
        </p:txBody>
      </p:sp>
      <p:sp>
        <p:nvSpPr>
          <p:cNvPr id="15" name="Text 13"/>
          <p:cNvSpPr/>
          <p:nvPr/>
        </p:nvSpPr>
        <p:spPr>
          <a:xfrm>
            <a:off x="1161288" y="4718304"/>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SQL 텍스트가 같으면 하나의 parent cursor ( v$sqlarea )로 묶이고, 텍스트는 같지만 바인드 타입·환경이 달라 계획이 갈리면 그 아래 여러 child cursor ( v$sql )로 나뉜다. child가 과도하게 많으면(high version count) 그 자체가 parse 부하·공유 실패의 신호다.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1.2 hard parse는 내부에서 무슨 일을 하나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09</a:t>
            </a:r>
            <a:endParaRPr lang="en-US" sz="900" dirty="0"/>
          </a:p>
        </p:txBody>
      </p:sp>
      <p:sp>
        <p:nvSpPr>
          <p:cNvPr id="8" name="Text 6"/>
          <p:cNvSpPr/>
          <p:nvPr/>
        </p:nvSpPr>
        <p:spPr>
          <a:xfrm>
            <a:off x="841248" y="1737360"/>
            <a:ext cx="10506456" cy="179222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그럼 그 단계들이 진행되는 동안 라이브러리 캐시를 어떻게 잡고 푸는가. 도구는 셋이다 — latch/mutex (해시 체인 탐색, 찰나) · library cache lock (객체 핸들 의 존재·권한 고정) · library cache pin (객체 본문(heap) 접근). lock은 이름표(핸들)에 대한 권한, pin은 본문에 대한 접근 이라 역할이 다르다.</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1.2 hard parse는 내부에서 무슨 일을 하나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4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10</a:t>
            </a:r>
            <a:endParaRPr lang="en-US" sz="900" dirty="0"/>
          </a:p>
        </p:txBody>
      </p:sp>
      <p:sp>
        <p:nvSpPr>
          <p:cNvPr id="8" name="Shape 6"/>
          <p:cNvSpPr/>
          <p:nvPr/>
        </p:nvSpPr>
        <p:spPr>
          <a:xfrm>
            <a:off x="841248" y="1737360"/>
            <a:ext cx="10506456" cy="256032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560320"/>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hard parse의 동시성 동작: 체인 진입(latch) → 참조 객체 lock S·pin S → 새 커서 lock X·pin X로 적재 → 해제.</a:t>
            </a:r>
            <a:endParaRPr lang="en-US" sz="1200" dirty="0"/>
          </a:p>
        </p:txBody>
      </p:sp>
      <p:sp>
        <p:nvSpPr>
          <p:cNvPr id="11" name="Text 9"/>
          <p:cNvSpPr/>
          <p:nvPr/>
        </p:nvSpPr>
        <p:spPr>
          <a:xfrm>
            <a:off x="1161288" y="2450592"/>
            <a:ext cx="9957816" cy="169164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① 체인 진입 · latch/mutex (찰나) · ② 참조 객체 · lock S + pin S · (존재 고정·정의 읽기) · ③ 새 커서 적재 · lock X + pin X · (독점 · 청크 할당) · ④ 전부 해제 · → 공유 가능 · ③에서 shared pool latch도 잡음 · 부족하면 ORA-04031 · S = share (읽기·공유)</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1.2 hard parse는 내부에서 무슨 일을 하나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5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11</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066544"/>
        </p:xfrm>
        <a:graphic>
          <a:graphicData uri="http://schemas.openxmlformats.org/drawingml/2006/table">
            <a:tbl>
              <a:tblPr/>
              <a:tblGrid>
                <a:gridCol w="5253228"/>
                <a:gridCol w="5253228"/>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순서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무엇을 잡나 / 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① 해시 버킷 진입</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SQL 해시 → 버킷 체인을 뒤지려 latch/mutex 를 찰나만 잡고 놓는다. 같은 커서를 찾으면 soft, miss면 hard로.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② 참조 객체 보호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테이블·뷰 등 핸들에 library cache lock S (파싱 중 그 객체가 drop·변경되지 않게 존재·정의 고정) + 정의를 읽는 동안 본문에 pin S . 그래서 파싱 중 그 객체에 DDL(X)이 들어오면 충돌해 막힌다.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③ 새 커서 적재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변환·최적화·생성으로 만든 새 child cursor를 적재할 때 그 객체에 lock X + pin X(독점) . 동시에 shared pool에서 청크를 할당하느라 shared pool latch 를 잡는다(부족하면 ORA-04031 ).</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④ 해제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적재가 끝나면 새 커서의 X lock/pin을 풀고, 참조 객체의 S lock/pin도 푼다. 이제 공유 가능 → 다음 세션은 soft parse로 재사용.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1.2 hard parse는 내부에서 무슨 일을 하나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6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12</a:t>
            </a:r>
            <a:endParaRPr lang="en-US" sz="900" dirty="0"/>
          </a:p>
        </p:txBody>
      </p:sp>
      <p:sp>
        <p:nvSpPr>
          <p:cNvPr id="8" name="Shape 6"/>
          <p:cNvSpPr/>
          <p:nvPr/>
        </p:nvSpPr>
        <p:spPr>
          <a:xfrm>
            <a:off x="841248" y="1737360"/>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41401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lock과 pin을 왜 나누나</a:t>
            </a:r>
            <a:endParaRPr lang="en-US" sz="1400" dirty="0"/>
          </a:p>
        </p:txBody>
      </p:sp>
      <p:sp>
        <p:nvSpPr>
          <p:cNvPr id="11" name="Text 9"/>
          <p:cNvSpPr/>
          <p:nvPr/>
        </p:nvSpPr>
        <p:spPr>
          <a:xfrm>
            <a:off x="1161288" y="2395728"/>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lock 은 핸들(이름표)에 대한 권한이라 "이 객체가 파싱 내내 살아있고 정의가 안 바뀜"을 비교적 오래 보장한다. pin 은 본문(heap)에 대한 접근이라 "지금 실제로 읽거나 쓰는 그 순간"만 잡는다. 그래서 정의를 lock S로 붙잡아 둔 채, 본문을 읽을 때만 pin S를 걸었다 푸는 식으로 따로 움직인다. 최신 버전은 latch·일부 pin을 더 가벼운 mutex 로 대체해 경합을 줄였다( cursor: pin S , library cache: mutex X 대기).</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1.3 Shared Pool 보호 장치 — Library Cache lock/pin/mutex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13</a:t>
            </a:r>
            <a:endParaRPr lang="en-US" sz="900" dirty="0"/>
          </a:p>
        </p:txBody>
      </p:sp>
      <p:sp>
        <p:nvSpPr>
          <p:cNvPr id="7" name="Text 5"/>
          <p:cNvSpPr/>
          <p:nvPr/>
        </p:nvSpPr>
        <p:spPr>
          <a:xfrm>
            <a:off x="841248" y="1737360"/>
            <a:ext cx="10506456" cy="179222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라이브러리 캐시의 커서를 탐색·실행하는 동안 다른 세션이 그 커서를 갈아엎지 못하게 보호해야 한다. 이를 위해 library cache lock (객체 핸들 보호)· library cache pin (실제 실행 중 보호)을 shared 모드로 잡고, 최신 버전에선 library cache: mutex 를 쓴다. 경합 시 library cache: mutex X 대기가 발생.</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1.4 Row Cache Lock &amp; 시퀀스 경합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14</a:t>
            </a:r>
            <a:endParaRPr lang="en-US" sz="900" dirty="0"/>
          </a:p>
        </p:txBody>
      </p:sp>
      <p:sp>
        <p:nvSpPr>
          <p:cNvPr id="8" name="Text 6"/>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의미·권한 검사가 뒤지는 Dictionary Cache(row cache) 는 객체·유저·시퀀스 메타정보가 사는 곳. 이를 보호하는 시스템 lock이 row cache lock 이다. 시퀀스가 대표적 경합원이다.</a:t>
            </a:r>
            <a:endParaRPr lang="en-US" sz="1600" dirty="0"/>
          </a:p>
        </p:txBody>
      </p:sp>
      <p:sp>
        <p:nvSpPr>
          <p:cNvPr id="9" name="Shape 7"/>
          <p:cNvSpPr/>
          <p:nvPr/>
        </p:nvSpPr>
        <p:spPr>
          <a:xfrm>
            <a:off x="841248" y="3054096"/>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0" name="Shape 8"/>
          <p:cNvSpPr/>
          <p:nvPr/>
        </p:nvSpPr>
        <p:spPr>
          <a:xfrm>
            <a:off x="841248" y="3054096"/>
            <a:ext cx="64008" cy="1865376"/>
          </a:xfrm>
          <a:prstGeom prst="rect">
            <a:avLst/>
          </a:prstGeom>
          <a:solidFill>
            <a:srgbClr val="C74634"/>
          </a:solidFill>
          <a:ln w="12700">
            <a:solidFill>
              <a:srgbClr val="C74634"/>
            </a:solidFill>
            <a:prstDash val="solid"/>
          </a:ln>
        </p:spPr>
      </p:sp>
      <p:sp>
        <p:nvSpPr>
          <p:cNvPr id="11" name="Text 9"/>
          <p:cNvSpPr/>
          <p:nvPr/>
        </p:nvSpPr>
        <p:spPr>
          <a:xfrm>
            <a:off x="1161288" y="325526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시퀀스는 왜 row cache를 건드리나</a:t>
            </a:r>
            <a:endParaRPr lang="en-US" sz="1400" dirty="0"/>
          </a:p>
        </p:txBody>
      </p:sp>
      <p:sp>
        <p:nvSpPr>
          <p:cNvPr id="12" name="Text 10"/>
          <p:cNvSpPr/>
          <p:nvPr/>
        </p:nvSpPr>
        <p:spPr>
          <a:xfrm>
            <a:off x="1161288" y="3712464"/>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시퀀스의 다음 값은 딕셔너리의 LAST_NUMBER 로 관리된다. nocache 면 nextval 한 번마다 이 값을 갱신해야 하고, 갱신은 row cache를 ssx(5) 모드 로 잡는 변경 작업이다. 동시에 여러 세션이 nextval을 호출하면 이 lock을 두고 줄을 선다 → row cache lock 폭증.</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1.4 Row Cache Lock &amp; 시퀀스 경합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15</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설정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동작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nocache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매 값마다 딕셔너리 변경</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row cache lock</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cache 20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20개씩 메모리 선점 → 딕셔너리 접근 1/20로 감소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SQ -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cache 100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100개씩 → 경합 거의 해소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거의 없음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841248" y="3602736"/>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 enq: SQ 는 캐시 소진 후 다음 묶음을 채울 때 시퀀스 자체에 걸리는 enqueue. cache를 키울수록 빈도가 준다.</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1.5 Reserved Pool — ORA-04031 방지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16</a:t>
            </a:r>
            <a:endParaRPr lang="en-US" sz="900" dirty="0"/>
          </a:p>
        </p:txBody>
      </p:sp>
      <p:sp>
        <p:nvSpPr>
          <p:cNvPr id="7" name="Text 5"/>
          <p:cNvSpPr/>
          <p:nvPr/>
        </p:nvSpPr>
        <p:spPr>
          <a:xfrm>
            <a:off x="841248" y="173736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Shared Pool 안에서 메모리는 청크(chunk) 단위로 할당된다. 작은 조각만 남아 큰 청크를 못 만들면 ORA-04031 이 난다. 이를 막으려 shared pool의 약 5% 를 예약해 두고, 일반 영역에서 free chunk를 못 찾고 요청 크기가 4400 byte 이상 이면 이 예약 영역을 사용한다.</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1.6 Keep / Unkeep — 프로그램 고정 62</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17</a:t>
            </a:r>
            <a:endParaRPr lang="en-US" sz="900" dirty="0"/>
          </a:p>
        </p:txBody>
      </p:sp>
      <p:sp>
        <p:nvSpPr>
          <p:cNvPr id="7" name="Text 5"/>
          <p:cNvSpPr/>
          <p:nvPr/>
        </p:nvSpPr>
        <p:spPr>
          <a:xfrm>
            <a:off x="841248" y="1737360"/>
            <a:ext cx="10506456" cy="2121408"/>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Shared Pool도 LRU로 관리되어, 안 쓰는 객체는 밀려난다(aged out). 자주 쓰는 큰 패키지가 밀려났다 다시 적재되면 hard parse·단편화를 유발하므로, dbms_shared_pool.keep('객체') 로 메모리에 고정 한다. unkeep 으로 해제, v$db_object_cache 의 KEPT='YES' 로 확인. 보충 패키지 전역 변수( g_comm 등)는 세션 동안 PGA가 아닌 UGA에 유지되며, 패키지가 메모리에 살아있어야 안정적이라 keep과 잘 어울린다.</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2</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Bind</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실행계획의 빈칸에 실제 값을 채운다 — PGA에서</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Bind</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18</a:t>
            </a:r>
            <a:endParaRPr lang="en-US" sz="900" dirty="0"/>
          </a:p>
        </p:txBody>
      </p:sp>
      <p:sp>
        <p:nvSpPr>
          <p:cNvPr id="7" name="Text 5"/>
          <p:cNvSpPr/>
          <p:nvPr/>
        </p:nvSpPr>
        <p:spPr>
          <a:xfrm>
            <a:off x="841248" y="173736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실행계획은 이미 완성됐고, 이제 :emp_id 같은 바인드 변수 자리에 실제 값을 넣습니다. 값은 공유 영역이 아니라 PGA의 Private SQL Area 에 들어가요. 그래서 같은 커서(공유 실행계획)를 여러 세션이 서로 다른 값으로 동시에 실행할 수 있습니다.</a:t>
            </a:r>
            <a:endParaRPr lang="en-US" sz="1600" dirty="0"/>
          </a:p>
        </p:txBody>
      </p:sp>
      <p:sp>
        <p:nvSpPr>
          <p:cNvPr id="8" name="Shape 6"/>
          <p:cNvSpPr/>
          <p:nvPr/>
        </p:nvSpPr>
        <p:spPr>
          <a:xfrm>
            <a:off x="841248" y="3383280"/>
            <a:ext cx="10506456" cy="213969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3383280"/>
            <a:ext cx="64008" cy="2139696"/>
          </a:xfrm>
          <a:prstGeom prst="rect">
            <a:avLst/>
          </a:prstGeom>
          <a:solidFill>
            <a:srgbClr val="C74634"/>
          </a:solidFill>
          <a:ln w="12700">
            <a:solidFill>
              <a:srgbClr val="C74634"/>
            </a:solidFill>
            <a:prstDash val="solid"/>
          </a:ln>
        </p:spPr>
      </p:sp>
      <p:sp>
        <p:nvSpPr>
          <p:cNvPr id="10" name="Text 8"/>
          <p:cNvSpPr/>
          <p:nvPr/>
        </p:nvSpPr>
        <p:spPr>
          <a:xfrm>
            <a:off x="1161288" y="358444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Bind Variable Peeking</a:t>
            </a:r>
            <a:endParaRPr lang="en-US" sz="1400" dirty="0"/>
          </a:p>
        </p:txBody>
      </p:sp>
      <p:sp>
        <p:nvSpPr>
          <p:cNvPr id="11" name="Text 9"/>
          <p:cNvSpPr/>
          <p:nvPr/>
        </p:nvSpPr>
        <p:spPr>
          <a:xfrm>
            <a:off x="1161288" y="4041648"/>
            <a:ext cx="9957816" cy="131673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hard parse 시점에 오라클은 첫 바인드 값을 한 번 "엿보고(peeking)" 그 값에 최적화된 계획을 만든다. 값 분포가 한쪽으로 치우친 컬럼(예: 99%가 'Y')에서는 이 첫 값에 따라 계획이 좋게도 나쁘게도 굳어버린다. 이를 보완하는 기능이 Adaptive Cursor Sharing (값에 따라 복수 계획 유지)이다.</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3</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Execute — 읽기 63</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실행계획을 따라 블록을 찾는다 — Buffer Cache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3.1 버퍼 캐시란, 그리고 왜 해시인가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19</a:t>
            </a:r>
            <a:endParaRPr lang="en-US" sz="900" dirty="0"/>
          </a:p>
        </p:txBody>
      </p:sp>
      <p:sp>
        <p:nvSpPr>
          <p:cNvPr id="7" name="Text 5"/>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Database Buffer Cache 는 데이터파일에서 읽은 블록의 복사본을 담아 물리 I/O를 최소화하는 메모리 영역이다. v$buffer_pool 기준 DEFAULT 풀은 8KB 블록 버퍼 37,202개.</a:t>
            </a:r>
            <a:endParaRPr lang="en-US" sz="1600" dirty="0"/>
          </a:p>
        </p:txBody>
      </p:sp>
      <p:sp>
        <p:nvSpPr>
          <p:cNvPr id="8" name="Shape 6"/>
          <p:cNvSpPr/>
          <p:nvPr/>
        </p:nvSpPr>
        <p:spPr>
          <a:xfrm>
            <a:off x="841248" y="3054096"/>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3054096"/>
            <a:ext cx="64008" cy="1865376"/>
          </a:xfrm>
          <a:prstGeom prst="rect">
            <a:avLst/>
          </a:prstGeom>
          <a:solidFill>
            <a:srgbClr val="C74634"/>
          </a:solidFill>
          <a:ln w="12700">
            <a:solidFill>
              <a:srgbClr val="C74634"/>
            </a:solidFill>
            <a:prstDash val="solid"/>
          </a:ln>
        </p:spPr>
      </p:sp>
      <p:sp>
        <p:nvSpPr>
          <p:cNvPr id="10" name="Text 8"/>
          <p:cNvSpPr/>
          <p:nvPr/>
        </p:nvSpPr>
        <p:spPr>
          <a:xfrm>
            <a:off x="1161288" y="325526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왜 해시 테이블을 쓰는가</a:t>
            </a:r>
            <a:endParaRPr lang="en-US" sz="1400" dirty="0"/>
          </a:p>
        </p:txBody>
      </p:sp>
      <p:sp>
        <p:nvSpPr>
          <p:cNvPr id="11" name="Text 9"/>
          <p:cNvSpPr/>
          <p:nvPr/>
        </p:nvSpPr>
        <p:spPr>
          <a:xfrm>
            <a:off x="1161288" y="3712464"/>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버퍼가 수만~수백만 개인데 "이 블록이 캐시에 있나?"를 매번 전부 훑으면 O(n)이라 느리다. 블록 주소를 해시해 버킷으로 바로 점프하면 평균 O(1)에 가깝게 찾는다. 그래서 "오라클이 메모리 관리에 쓰는 하나의 방법이 hash table" 이라고 한 것. 스택·큐·링크드리스트·해시를 공부하라는 당부가 여기서 나온다.</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3.2 블록 찾기 — hash → bucket → chain → buffer header</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20</a:t>
            </a:r>
            <a:endParaRPr lang="en-US" sz="900" dirty="0"/>
          </a:p>
        </p:txBody>
      </p:sp>
      <p:sp>
        <p:nvSpPr>
          <p:cNvPr id="8" name="Text 6"/>
          <p:cNvSpPr/>
          <p:nvPr/>
        </p:nvSpPr>
        <p:spPr>
          <a:xfrm>
            <a:off x="841248" y="173736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요청 블록의 DBA (Data Block Address = 파일#·블록#) + 블록 클래스 를 해시해 hash bucket을 찾는다. 한 버킷에는 같은 해시값을 가진 버퍼 헤더 들이 체인으로 매달려 있고, 버퍼 헤더는 실제 버퍼 캐시 위치를 가리키는 메타정보다. 이 hash table은 shared pool 이 관리한다.</a:t>
            </a:r>
            <a:endParaRPr lang="en-US" sz="1600" dirty="0"/>
          </a:p>
        </p:txBody>
      </p:sp>
      <p:sp>
        <p:nvSpPr>
          <p:cNvPr id="9" name="Shape 7"/>
          <p:cNvSpPr/>
          <p:nvPr/>
        </p:nvSpPr>
        <p:spPr>
          <a:xfrm>
            <a:off x="841248" y="3383280"/>
            <a:ext cx="10506456" cy="228600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0" name="Shape 8"/>
          <p:cNvSpPr/>
          <p:nvPr/>
        </p:nvSpPr>
        <p:spPr>
          <a:xfrm>
            <a:off x="841248" y="3383280"/>
            <a:ext cx="64008" cy="2286000"/>
          </a:xfrm>
          <a:prstGeom prst="rect">
            <a:avLst/>
          </a:prstGeom>
          <a:solidFill>
            <a:srgbClr val="C74634"/>
          </a:solidFill>
          <a:ln w="12700">
            <a:solidFill>
              <a:srgbClr val="C74634"/>
            </a:solidFill>
            <a:prstDash val="solid"/>
          </a:ln>
        </p:spPr>
      </p:sp>
      <p:sp>
        <p:nvSpPr>
          <p:cNvPr id="11" name="Text 9"/>
          <p:cNvSpPr/>
          <p:nvPr/>
        </p:nvSpPr>
        <p:spPr>
          <a:xfrm>
            <a:off x="1161288" y="356616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endParaRPr lang="en-US" sz="1200" dirty="0"/>
          </a:p>
        </p:txBody>
      </p:sp>
      <p:sp>
        <p:nvSpPr>
          <p:cNvPr id="12" name="Text 10"/>
          <p:cNvSpPr/>
          <p:nvPr/>
        </p:nvSpPr>
        <p:spPr>
          <a:xfrm>
            <a:off x="1161288" y="4096512"/>
            <a:ext cx="9957816" cy="141732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요청 블록 (DBA) · 파일#·블록# + 블록 클래스 · 해시 함수 · Hash Bucket · shared pool이 관리 · 체인 검색 → latch · cache buffers chains latch · 읽기 shared · 쓰기 exclusive · 버퍼 헤더 · Database Buffer Cache · 실제 데이터 블록 복사본</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3.2 블록 찾기 — hash → bucket → chain → buffer header</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21</a:t>
            </a:r>
            <a:endParaRPr lang="en-US" sz="900" dirty="0"/>
          </a:p>
        </p:txBody>
      </p:sp>
      <p:sp>
        <p:nvSpPr>
          <p:cNvPr id="8" name="Text 6"/>
          <p:cNvSpPr/>
          <p:nvPr/>
        </p:nvSpPr>
        <p:spPr>
          <a:xfrm>
            <a:off x="841248" y="1737360"/>
            <a:ext cx="10506456" cy="3108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체인을 뒤지려면 latch: cache buffers chains 를 잡아야 한다. 읽기는 shared, 쓰기는 exclusive 모드.</a:t>
            </a:r>
            <a:endParaRPr lang="en-US" sz="1600" dirty="0"/>
          </a:p>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전체 latch 수는 select count(*) from v$latch_children where name='cache buffers chains'; 로 확인 (1024).</a:t>
            </a:r>
            <a:endParaRPr lang="en-US" sz="1600" dirty="0"/>
          </a:p>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버퍼 헤더 는 버퍼 캐시 바깥(SGA)에 있는 작은 메타 구조 다. 블록 하나(=버퍼 하나)마다 정확히 하나씩 있고, 그 버퍼의 주소·상태·LRU/해시 체인 포인터, 그리고 잠금(핀) 상태 를 담는다. 즉 버퍼 헤더는 "그 블록을 대표하는 표딱지"이고, 실제 데이터는 그 헤더가 가리키는 버퍼에 들어 있다.</a:t>
            </a:r>
            <a:endParaRPr lang="en-US" sz="1600" dirty="0"/>
          </a:p>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이름이 비슷해 자주 섞이는 세 가지 헤더 를 반드시 구분하자:</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3.2 블록 찾기 — hash → bucket → chain → buffer header</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22</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헤더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어디에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무엇을 담나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buffer header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SGA(블록 바깥)</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버퍼 위치·상태· 핀(lock) — 잠금이 기록되는 곳</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block header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데이터 블록 안쪽</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ITL·SCN 등 (Part 7.5의 블록 구조 맨 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segment header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세그먼트 첫 블록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extent map·HWM·freelist (buffer busy waits 단골)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841248" y="3602736"/>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두 세션이 같은 블록에 접근하면, 둘 다 같은 DBA를 해시해 똑같은 하나의 버퍼 헤더 를 찾고(각자 chains latch를 찰나 잡았다 놓음), 그 헤더에 각자 핀을 건다.</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3.2 블록 찾기 — hash → bucket → chain → buffer header</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4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23</a:t>
            </a:r>
            <a:endParaRPr lang="en-US" sz="900" dirty="0"/>
          </a:p>
        </p:txBody>
      </p:sp>
      <p:sp>
        <p:nvSpPr>
          <p:cNvPr id="8" name="Shape 6"/>
          <p:cNvSpPr/>
          <p:nvPr/>
        </p:nvSpPr>
        <p:spPr>
          <a:xfrm>
            <a:off x="841248" y="1737360"/>
            <a:ext cx="10506456" cy="256032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560320"/>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"헤더를 잡느냐 블록을 잡느냐"가 아니라, 헤더를 통해 블록을 잡는 구조. 헤더는 블록마다 1개.</a:t>
            </a:r>
            <a:endParaRPr lang="en-US" sz="1200" dirty="0"/>
          </a:p>
        </p:txBody>
      </p:sp>
      <p:sp>
        <p:nvSpPr>
          <p:cNvPr id="11" name="Text 9"/>
          <p:cNvSpPr/>
          <p:nvPr/>
        </p:nvSpPr>
        <p:spPr>
          <a:xfrm>
            <a:off x="1161288" y="2450592"/>
            <a:ext cx="9957816" cy="169164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Session A · Session B · 둘 다 같은 헤더 1개에 핀 · Buffer Header (1개) · 핀(lock) 기록 · SGA 메타구조 · 가리킴(포인터) · Buffer — 데이터 블록 8K 복사본 · 이 안에 block header(ITL·SCN)가 들어있음 · shared + shared = 공존 · exclusive 포함 = buffer busy waits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3.3 논리 I/O vs 물리 I/O, 그리고 버퍼의 상태</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24</a:t>
            </a:r>
            <a:endParaRPr lang="en-US" sz="900" dirty="0"/>
          </a:p>
        </p:txBody>
      </p:sp>
      <p:sp>
        <p:nvSpPr>
          <p:cNvPr id="7" name="Shape 5"/>
          <p:cNvSpPr/>
          <p:nvPr/>
        </p:nvSpPr>
        <p:spPr>
          <a:xfrm>
            <a:off x="841248" y="1737360"/>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8" name="Shape 6"/>
          <p:cNvSpPr/>
          <p:nvPr/>
        </p:nvSpPr>
        <p:spPr>
          <a:xfrm>
            <a:off x="841248" y="1737360"/>
            <a:ext cx="64008" cy="1865376"/>
          </a:xfrm>
          <a:prstGeom prst="rect">
            <a:avLst/>
          </a:prstGeom>
          <a:solidFill>
            <a:srgbClr val="C74634"/>
          </a:solidFill>
          <a:ln w="12700">
            <a:solidFill>
              <a:srgbClr val="C74634"/>
            </a:solidFill>
            <a:prstDash val="solid"/>
          </a:ln>
        </p:spPr>
      </p:sp>
      <p:sp>
        <p:nvSpPr>
          <p:cNvPr id="9" name="Text 7"/>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버퍼의 상태</a:t>
            </a:r>
            <a:endParaRPr lang="en-US" sz="1400" dirty="0"/>
          </a:p>
        </p:txBody>
      </p:sp>
      <p:sp>
        <p:nvSpPr>
          <p:cNvPr id="10" name="Text 8"/>
          <p:cNvSpPr/>
          <p:nvPr/>
        </p:nvSpPr>
        <p:spPr>
          <a:xfrm>
            <a:off x="1161288" y="2395728"/>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free (비었거나 깨끗해 재사용 가능) · pinned (현재 누가 사용 중) · dirty (변경됐지만 아직 디스크에 안 씀) · clean (디스크와 동일). dirty buffer는 LRUW로 옮겨져 DBWR가 내려쓸 때까지 free가 될 수 없다.</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3.4 Working Set — LRU / LRUW + touch count</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25</a:t>
            </a:r>
            <a:endParaRPr lang="en-US" sz="900" dirty="0"/>
          </a:p>
        </p:txBody>
      </p:sp>
      <p:sp>
        <p:nvSpPr>
          <p:cNvPr id="8" name="Shape 6"/>
          <p:cNvSpPr/>
          <p:nvPr/>
        </p:nvSpPr>
        <p:spPr>
          <a:xfrm>
            <a:off x="841248" y="1737360"/>
            <a:ext cx="10506456" cy="228600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286000"/>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endParaRPr lang="en-US" sz="1200" dirty="0"/>
          </a:p>
        </p:txBody>
      </p:sp>
      <p:sp>
        <p:nvSpPr>
          <p:cNvPr id="11" name="Text 9"/>
          <p:cNvSpPr/>
          <p:nvPr/>
        </p:nvSpPr>
        <p:spPr>
          <a:xfrm>
            <a:off x="1161288" y="2450592"/>
            <a:ext cx="9957816" cy="141732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Working Set — 버퍼 캐시 관리 · LRU List (재사용 관리) · Hot 영역 · 앞(MRU) · 자주 사용 · Cold 영역 · 뒤(LRU) · free 후보 · 보조 리스트 — free · 미사용 · DBWR 기록완료 버퍼 · LRUW List (쓰기 대기 관리) · 메인: dirty buffer (기록 대기) · 보조: 현재 DBWR가 기록 중 · touch +1 · 3초 주기 재접근</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3.4 Working Set — LRU / LRUW + touch count</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26</a:t>
            </a:r>
            <a:endParaRPr lang="en-US" sz="900" dirty="0"/>
          </a:p>
        </p:txBody>
      </p:sp>
      <p:sp>
        <p:nvSpPr>
          <p:cNvPr id="8" name="Shape 6"/>
          <p:cNvSpPr/>
          <p:nvPr/>
        </p:nvSpPr>
        <p:spPr>
          <a:xfrm>
            <a:off x="841248" y="1737360"/>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186537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midpoint insertion (hot/cold로 나누는 이유)</a:t>
            </a:r>
            <a:endParaRPr lang="en-US" sz="1400" dirty="0"/>
          </a:p>
        </p:txBody>
      </p:sp>
      <p:sp>
        <p:nvSpPr>
          <p:cNvPr id="11" name="Text 9"/>
          <p:cNvSpPr/>
          <p:nvPr/>
        </p:nvSpPr>
        <p:spPr>
          <a:xfrm>
            <a:off x="1161288" y="2395728"/>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새 블록을 무조건 맨 앞에 넣으면, 한 번만 읽고 말 블록(예: full scan)이 자주 쓰는 블록을 밀어낸다. 그래서 오라클은 새 버퍼를 hot/cold 경계(midpoint)에 넣고, touch count가 쌓여 "진짜 자주 쓰인다"가 증명돼야 hot으로 승격시킨다. 캐시 오염을 막는 장치다.</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3.6 cache buffers lru chain latch 64 (chains latch와 혼동 금지)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27</a:t>
            </a:r>
            <a:endParaRPr lang="en-US" sz="900" dirty="0"/>
          </a:p>
        </p:txBody>
      </p:sp>
      <p:sp>
        <p:nvSpPr>
          <p:cNvPr id="7" name="Text 5"/>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버퍼 풀(KEEP/RECYCLE/DEFAULT)·블록 크기별로 latch set이 쌍으로 나뉘어 child가 파라미터보다 많이 보인다. 아래 쿼리로 실제 사용 중인 latch 를 식별 — SLEEPS = 대기 중인 세션 수.</a:t>
            </a:r>
            <a:endParaRPr lang="en-US" sz="1600" dirty="0"/>
          </a:p>
        </p:txBody>
      </p:sp>
      <p:sp>
        <p:nvSpPr>
          <p:cNvPr id="8" name="Shape 6"/>
          <p:cNvSpPr/>
          <p:nvPr/>
        </p:nvSpPr>
        <p:spPr>
          <a:xfrm>
            <a:off x="841248" y="3054096"/>
            <a:ext cx="10506456" cy="2313432"/>
          </a:xfrm>
          <a:prstGeom prst="roundRect">
            <a:avLst>
              <a:gd name="adj" fmla="val 2372"/>
            </a:avLst>
          </a:prstGeom>
          <a:solidFill>
            <a:srgbClr val="0F172A"/>
          </a:solidFill>
          <a:ln w="12700">
            <a:solidFill>
              <a:srgbClr val="0F172A"/>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1161288" y="3310128"/>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3310128"/>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3310128"/>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3712464"/>
            <a:ext cx="9957816" cy="1490472"/>
          </a:xfrm>
          <a:prstGeom prst="rect">
            <a:avLst/>
          </a:prstGeom>
          <a:noFill/>
          <a:ln/>
        </p:spPr>
        <p:txBody>
          <a:bodyPr wrap="square" lIns="0" tIns="0" rIns="0" bIns="0" rtlCol="0" anchor="t"/>
          <a:lstStyle/>
          <a:p>
            <a:pPr algn="l" indent="0" marL="0">
              <a:buNone/>
            </a:pPr>
            <a:r>
              <a:rPr lang="en-US" sz="1250" dirty="0">
                <a:solidFill>
                  <a:srgbClr val="E2E8F0"/>
                </a:solidFill>
                <a:latin typeface="Consolas" pitchFamily="34" charset="0"/>
                <a:ea typeface="Consolas" pitchFamily="34" charset="-122"/>
                <a:cs typeface="Consolas" pitchFamily="34" charset="-120"/>
              </a:rPr>
              <a:t>SYS@ora19c &gt; select a.bp_blksz, c.child#, a.bp_name, c.gets, c.misses, c.sleeps</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from x$kcbwbpd a, x$kcbwds b, v$latch_children c</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where b.set_id between a.bp_lo_sid and a.bp_hi_sid and c.addr = b.set_latch order by 1,2;</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8192  9   DEFAULT  133382  67  7   &lt;- 실사용 (sleeps=대기 세션)</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8192  11  DEFAULT  116263  65  0   &lt;- 실사용</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(그 외 child들은 GETS 70, 거의 미사용)</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3.7 물리 I/O 관련 대기 이벤트 64</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28</a:t>
            </a:r>
            <a:endParaRPr lang="en-US" sz="900" dirty="0"/>
          </a:p>
        </p:txBody>
      </p:sp>
      <p:sp>
        <p:nvSpPr>
          <p:cNvPr id="8" name="Text 6"/>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인덱스 스캔을 유도( /*+ index(e emp_idx) */ )하고 flush buffer_cache 후 v$session_event 로 관찰. 어떤 상황에서 어떤 대기가 뜨는지 설명할 수 있어야 한다.</a:t>
            </a:r>
            <a:endParaRPr lang="en-US" sz="1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41248" y="3054096"/>
          <a:ext cx="10506456" cy="2450592"/>
        </p:xfrm>
        <a:graphic>
          <a:graphicData uri="http://schemas.openxmlformats.org/drawingml/2006/table">
            <a:tbl>
              <a:tblPr/>
              <a:tblGrid>
                <a:gridCol w="5253228"/>
                <a:gridCol w="5253228"/>
              </a:tblGrid>
              <a:tr h="408432">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Wait Event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발생 상황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read by other session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한 세션이 블록을 물리 I/O로 적재 중(buffer를 exclusive로 점유)일 때, 다른 세션이 같은 블록을 shared로 읽으려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db file sequential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single block 물리 I/O — rowid scan(인덱스 → 단일 블록).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db file scattered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multi block 물리 I/O — table full scan / index fast full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db file parallel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prefetch (다음 읽을 블록을 미리 함께) 수행 시. ※ 병렬처리 아님.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direct path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버퍼 캐시를 거치지 않고 PGA의 cursor로 직접 읽기. 큰 테이블 full scan·CTAS 등. 10949 이벤트로 끔. _serial_direct_read=auto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3.7 물리 I/O 관련 대기 이벤트 64</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29</a:t>
            </a:r>
            <a:endParaRPr lang="en-US" sz="900" dirty="0"/>
          </a:p>
        </p:txBody>
      </p:sp>
      <p:sp>
        <p:nvSpPr>
          <p:cNvPr id="8" name="Shape 6"/>
          <p:cNvSpPr/>
          <p:nvPr/>
        </p:nvSpPr>
        <p:spPr>
          <a:xfrm>
            <a:off x="841248" y="1737360"/>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1865376"/>
          </a:xfrm>
          <a:prstGeom prst="rect">
            <a:avLst/>
          </a:prstGeom>
          <a:solidFill>
            <a:srgbClr val="334155"/>
          </a:solidFill>
          <a:ln w="12700">
            <a:solidFill>
              <a:srgbClr val="334155"/>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1E293B"/>
                </a:solidFill>
                <a:latin typeface="맑은 고딕" pitchFamily="34" charset="0"/>
                <a:ea typeface="맑은 고딕" pitchFamily="34" charset="-122"/>
                <a:cs typeface="맑은 고딕" pitchFamily="34" charset="-120"/>
              </a:rPr>
              <a:t>Q. fetch란?</a:t>
            </a:r>
            <a:endParaRPr lang="en-US" sz="1400" dirty="0"/>
          </a:p>
        </p:txBody>
      </p:sp>
      <p:sp>
        <p:nvSpPr>
          <p:cNvPr id="11" name="Text 9"/>
          <p:cNvSpPr/>
          <p:nvPr/>
        </p:nvSpPr>
        <p:spPr>
          <a:xfrm>
            <a:off x="1161288" y="2395728"/>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active set(결과 집합)을 user process에 전달하는 것. 실행계획의 TABLE ACCESS BY INDEX ROWID BATCHED · INDEX RANGE SCAN , 그리고 dynamic sampling 은 "통계가 없어 오라클이 샘플로 수집했구나"까지 읽어야 함.</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3.8 buffer header lock(pin) — latch와 무엇이 다른가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7</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30</a:t>
            </a:r>
            <a:endParaRPr lang="en-US" sz="900" dirty="0"/>
          </a:p>
        </p:txBody>
      </p:sp>
      <p:sp>
        <p:nvSpPr>
          <p:cNvPr id="8" name="Text 6"/>
          <p:cNvSpPr/>
          <p:nvPr/>
        </p:nvSpPr>
        <p:spPr>
          <a:xfrm>
            <a:off x="841248" y="1737360"/>
            <a:ext cx="10506456" cy="3108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3.2에서 본 버퍼 헤더에 거는 잠금이 buffer header lock , 흔히 buffer pin 이라 부른다(수업 노트의 "block lock"). 가장 많이 헷갈리는 게 cache buffers chains latch 와의 차이인데, 보호 대상도 보유 기간도 다르다 .</a:t>
            </a:r>
            <a:endParaRPr lang="en-US" sz="1600" dirty="0"/>
          </a:p>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그래서 순서가 이렇다 (Part 5 트랜잭션 step 3의 "block lock 획득 후 chains latch 해제"가 이것): ① chains latch 획득 → 버퍼 헤더를 찾음 → ② 헤더에 핀 을 건다(읽기 shared / 쓰기 exclusive) → ③ chains latch 즉시 해제 → ④ 핀을 쥔 채 버퍼 내용 처리 → ⑤ 끝나면 핀 해제. latch는 찰나, 핀은 작업이 끝날 때까지 유지된다.</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3.8 buffer header lock(pin) — latch와 무엇이 다른가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7</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31</a:t>
            </a:r>
            <a:endParaRPr lang="en-US" sz="900" dirty="0"/>
          </a:p>
        </p:txBody>
      </p:sp>
      <p:sp>
        <p:nvSpPr>
          <p:cNvPr id="8" name="Shape 6"/>
          <p:cNvSpPr/>
          <p:nvPr/>
        </p:nvSpPr>
        <p:spPr>
          <a:xfrm>
            <a:off x="841248" y="1737360"/>
            <a:ext cx="10506456" cy="256032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560320"/>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buffer header lock은 latch보다 길게, TX/TM lock보다 훨씬 짧게 — 딱 그 블록 작업(execute) 동안만.</a:t>
            </a:r>
            <a:endParaRPr lang="en-US" sz="1200" dirty="0"/>
          </a:p>
        </p:txBody>
      </p:sp>
      <p:sp>
        <p:nvSpPr>
          <p:cNvPr id="11" name="Text 9"/>
          <p:cNvSpPr/>
          <p:nvPr/>
        </p:nvSpPr>
        <p:spPr>
          <a:xfrm>
            <a:off x="1161288" y="2450592"/>
            <a:ext cx="9957816" cy="169164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보호 대상 · 보유 기간 길어짐 → · cache buffers chains latch · 해시 체인(자료구조) · 탐색 순간 (μs) · buffer header lock (pin) · 버퍼(블록) 내용 · 블록 작업 동안 (execute 단계) · TX / TM lock (enqueue) · 행 · 테이블(논리) · 트랜잭션 종료(commit/rollback)까지</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3.8 buffer header lock(pin) — latch와 무엇이 다른가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7</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32</a:t>
            </a:r>
            <a:endParaRPr lang="en-US" sz="900" dirty="0"/>
          </a:p>
        </p:txBody>
      </p:sp>
      <p:sp>
        <p:nvSpPr>
          <p:cNvPr id="8" name="Shape 6"/>
          <p:cNvSpPr/>
          <p:nvPr/>
        </p:nvSpPr>
        <p:spPr>
          <a:xfrm>
            <a:off x="841248" y="1737360"/>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41401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보유 기간이 commit이 아니라 execute까지인 이유</a:t>
            </a:r>
            <a:endParaRPr lang="en-US" sz="1400" dirty="0"/>
          </a:p>
        </p:txBody>
      </p:sp>
      <p:sp>
        <p:nvSpPr>
          <p:cNvPr id="11" name="Text 9"/>
          <p:cNvSpPr/>
          <p:nvPr/>
        </p:nvSpPr>
        <p:spPr>
          <a:xfrm>
            <a:off x="1161288" y="2395728"/>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buffer pin은 그 블록을 만지는 순간 에만 필요한 메모리 구조 보호다. 그래서 같은 UPDATE 한 줄이라도, 핀은 블록을 바꾸는 동안만 잡혔다 풀리고(Part 5 노트: "active set 만들기 전=execute 종료 전까지 버퍼 헤더 lock 해제 안 함"), 행을 보호하는 TX lock은 commit까지 따로 남는다. "메모리 구조를 잠깐 지키는 핀"과 "논리적 데이터를 트랜잭션 내내 지키는 lock"은 완전히 다른 층위다.</a:t>
            </a:r>
            <a:endParaRPr lang="en-US" sz="1300" dirty="0"/>
          </a:p>
        </p:txBody>
      </p:sp>
      <p:sp>
        <p:nvSpPr>
          <p:cNvPr id="12" name="Text 10"/>
          <p:cNvSpPr/>
          <p:nvPr/>
        </p:nvSpPr>
        <p:spPr>
          <a:xfrm>
            <a:off x="841248" y="4334256"/>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"헤더에 건다"가 헷갈리는 건 이름이 비슷한 헤더가 셋이기 때문이다. 핀이 걸리는 건 그중 버퍼 헤더 하나뿐이다.</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3.8 buffer header lock(pin) — latch와 무엇이 다른가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4 / 7</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33</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이름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위치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무엇</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buffer header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SGA (블록 바깥)</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버퍼의 메타 구조(주소·상태·핀 상태·버퍼 위치 포인터). 핀/lock이 여기 기록 ← 잠그는 게 이것</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block header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데이터 블록 안쪽</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블록 내용의 머리(ITL·SCN). 7.5 data block format의 맨 위 영역</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segment header (block)</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세그먼트 첫 블록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extent map·HWM·freelist 보관. buffer busy waits가 자주 터지는 곳</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841248" y="3602736"/>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비유하면, 책(=버퍼=블록 내용)을 빌릴 때 대출 기록은 책 안이 아니라 대출 카드(=버퍼 헤더) 에 적힌다. "카드에 도장 = 그 책을 빌린 상태"이듯, 버퍼 헤더가 잠금이 기록되는 자리이고 그 잠금이 보호하는 대상이 버퍼다. 그래서 "헤더를 잡느냐 블록을 잡느냐"가 아니라, 헤더를 통해 블록을 잡는다.</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3.8 buffer header lock(pin) — latch와 무엇이 다른가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5 / 7</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34</a:t>
            </a:r>
            <a:endParaRPr lang="en-US" sz="900" dirty="0"/>
          </a:p>
        </p:txBody>
      </p:sp>
      <p:sp>
        <p:nvSpPr>
          <p:cNvPr id="8" name="Shape 6"/>
          <p:cNvSpPr/>
          <p:nvPr/>
        </p:nvSpPr>
        <p:spPr>
          <a:xfrm>
            <a:off x="841248" y="1737360"/>
            <a:ext cx="10506456" cy="228600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286000"/>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버퍼 헤더는 블록마다 하나. 두 세션은 같은 헤더에 각자 핀을 건다.</a:t>
            </a:r>
            <a:endParaRPr lang="en-US" sz="1200" dirty="0"/>
          </a:p>
        </p:txBody>
      </p:sp>
      <p:sp>
        <p:nvSpPr>
          <p:cNvPr id="11" name="Text 9"/>
          <p:cNvSpPr/>
          <p:nvPr/>
        </p:nvSpPr>
        <p:spPr>
          <a:xfrm>
            <a:off x="1161288" y="2450592"/>
            <a:ext cx="9957816" cy="141732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Session A · Session B · 둘 다 같은 헤더 1개에 핀 · Buffer Header (1개) · 핀(lock) 기록 · SGA 메타구조 · 포인터 · Buffer — 데이터 블록 8K 복사본 · 이 안에 block header(ITL·SCN)가 들어있음 · shared+shared = 공존 · exclusive 포함 = buffer busy waits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3.8 buffer header lock(pin) — latch와 무엇이 다른가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6 / 7</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35</a:t>
            </a:r>
            <a:endParaRPr lang="en-US" sz="900" dirty="0"/>
          </a:p>
        </p:txBody>
      </p:sp>
      <p:sp>
        <p:nvSpPr>
          <p:cNvPr id="8" name="Text 6"/>
          <p:cNvSpPr/>
          <p:nvPr/>
        </p:nvSpPr>
        <p:spPr>
          <a:xfrm>
            <a:off x="841248" y="1737360"/>
            <a:ext cx="10506456" cy="2121408"/>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버퍼 헤더는 블록마다 정확히 하나 다(캐시 복사본 1개 → 헤더 1개). 그래서 두 세션이 같은 블록을 원하면, 같은 해시 버킷을 거쳐 똑같은 그 하나의 버퍼 헤더 를 찾아 각자 거기에 핀을 건다(호환되면 공존, 아니면 대기 — 모드는 아래 참고). 그리고 66 에서 본 ITL에 entry를 등록하는 트랜잭션 작업은 block header(블록 내용) 를 바꾸는 것이라, 그 전에 먼저 buffer header 에 exclusive 핀을 걸어야 한다 — 두 헤더가 이렇게 위아래로 맞물린다.</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3.8 buffer header lock(pin) — latch와 무엇이 다른가</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7 / 7</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36</a:t>
            </a:r>
            <a:endParaRPr lang="en-US" sz="900" dirty="0"/>
          </a:p>
        </p:txBody>
      </p:sp>
      <p:sp>
        <p:nvSpPr>
          <p:cNvPr id="8" name="Shape 6"/>
          <p:cNvSpPr/>
          <p:nvPr/>
        </p:nvSpPr>
        <p:spPr>
          <a:xfrm>
            <a:off x="841248" y="1737360"/>
            <a:ext cx="10506456" cy="213969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139696"/>
          </a:xfrm>
          <a:prstGeom prst="rect">
            <a:avLst/>
          </a:prstGeom>
          <a:solidFill>
            <a:srgbClr val="334155"/>
          </a:solidFill>
          <a:ln w="12700">
            <a:solidFill>
              <a:srgbClr val="334155"/>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1E293B"/>
                </a:solidFill>
                <a:latin typeface="맑은 고딕" pitchFamily="34" charset="0"/>
                <a:ea typeface="맑은 고딕" pitchFamily="34" charset="-122"/>
                <a:cs typeface="맑은 고딕" pitchFamily="34" charset="-120"/>
              </a:rPr>
              <a:t>세 층위로 묶어 외우기</a:t>
            </a:r>
            <a:endParaRPr lang="en-US" sz="1400" dirty="0"/>
          </a:p>
        </p:txBody>
      </p:sp>
      <p:sp>
        <p:nvSpPr>
          <p:cNvPr id="11" name="Text 9"/>
          <p:cNvSpPr/>
          <p:nvPr/>
        </p:nvSpPr>
        <p:spPr>
          <a:xfrm>
            <a:off x="1161288" y="2395728"/>
            <a:ext cx="9957816" cy="131673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chains latch(체인, μs · 못 잡으면 latch: cache buffers chains ) → buffer header pin(블록, execute까지 · read by other session / buffer busy waits ) → TX/TM lock(행·테이블, commit까지 · enq: TX / enq: TM ). 어떤 대기가 떴는지로 "어느 층에서 막혔는지"를 거꾸로 짚는다.</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3.9 순수 SELECT의 Execute — '준비'만 한다 보충</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37</a:t>
            </a:r>
            <a:endParaRPr lang="en-US" sz="900" dirty="0"/>
          </a:p>
        </p:txBody>
      </p:sp>
      <p:sp>
        <p:nvSpPr>
          <p:cNvPr id="8" name="Text 6"/>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지금까지가 SELECT가 블록을 찾는 길이었다. 그런데 SELECT의 execute는 데이터를 "준비"하는 단계 일 뿐, 실제 읽기는 바로 다음 단계인 fetch (Part 4)에서 일어난다. DML과 결정적으로 다른 점이다.</a:t>
            </a:r>
            <a:endParaRPr lang="en-US" sz="1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841248" y="3054096"/>
          <a:ext cx="10506456" cy="2450592"/>
        </p:xfrm>
        <a:graphic>
          <a:graphicData uri="http://schemas.openxmlformats.org/drawingml/2006/table">
            <a:tbl>
              <a:tblPr/>
              <a:tblGrid>
                <a:gridCol w="3502152"/>
                <a:gridCol w="3502152"/>
                <a:gridCol w="3502152"/>
              </a:tblGrid>
              <a:tr h="408432">
                <a:tc>
                  <a:txBody>
                    <a:bodyPr/>
                    <a:lstStyle/>
                    <a:p>
                      <a:pPr algn="l" indent="0" marL="0">
                        <a:buNone/>
                      </a:pP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순수 SELECT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DML (UPDATE 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execute에서 블록 변경</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(준비만)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실제 변경</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 undo 생성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TX · row lock</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(TX 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실제 데이터 읽기 시점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fetch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execute에서 읽고 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읽기 일관성 기준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execute의 스냅샷 SCN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3.9 순수 SELECT의 Execute — '준비'만 한다 보충</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38</a:t>
            </a:r>
            <a:endParaRPr lang="en-US" sz="900" dirty="0"/>
          </a:p>
        </p:txBody>
      </p:sp>
      <p:sp>
        <p:nvSpPr>
          <p:cNvPr id="8" name="Shape 6"/>
          <p:cNvSpPr/>
          <p:nvPr/>
        </p:nvSpPr>
        <p:spPr>
          <a:xfrm>
            <a:off x="841248" y="1737360"/>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41401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한 줄 정리</a:t>
            </a:r>
            <a:endParaRPr lang="en-US" sz="1400" dirty="0"/>
          </a:p>
        </p:txBody>
      </p:sp>
      <p:sp>
        <p:nvSpPr>
          <p:cNvPr id="11" name="Text 9"/>
          <p:cNvSpPr/>
          <p:nvPr/>
        </p:nvSpPr>
        <p:spPr>
          <a:xfrm>
            <a:off x="1161288" y="2395728"/>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DML의 execute는 "읽고 → 바꾸고 → 기록"이지만, SELECT의 execute는 '판 깔기(스냅샷 SCN 확정)' 이고 실제 읽기는 fetch에서 일어난다. 그래서 SELECT는 redo도 undo 생성도 lock도 없다. 단, 읽는 중 남이 바꾼 블록은 남이 만들어 둔 undo를 읽어 CR 블록 으로 되돌려 본다(읽기는 undo를 쓰는 게 아니라 활용 ). 자세한 CR 재구성은 Part 4 Fetch에서.</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4</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Fetch</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결과 행을 user process로 돌려보낸다 — SELECT 처리의 마지막</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4.1 읽기 일관성 (Read Consistency)</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39</a:t>
            </a:r>
            <a:endParaRPr lang="en-US" sz="900" dirty="0"/>
          </a:p>
        </p:txBody>
      </p:sp>
      <p:sp>
        <p:nvSpPr>
          <p:cNvPr id="7" name="Text 5"/>
          <p:cNvSpPr/>
          <p:nvPr/>
        </p:nvSpPr>
        <p:spPr>
          <a:xfrm>
            <a:off x="841248" y="1737360"/>
            <a:ext cx="6675120"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오라클의 핵심 강점 하나 — 읽기는 쓰기를 막지 않고, 쓰기는 읽기를 막지 않는다. fetch 도중 어떤 블록이 "내 쿼리 시작 이후 다른 트랜잭션이 바꾼" 상태여도, 내 결과는 흔들리지 않는다.</a:t>
            </a:r>
            <a:endParaRPr lang="en-US" sz="1600" dirty="0"/>
          </a:p>
        </p:txBody>
      </p:sp>
      <p:sp>
        <p:nvSpPr>
          <p:cNvPr id="8" name="Shape 6"/>
          <p:cNvSpPr/>
          <p:nvPr/>
        </p:nvSpPr>
        <p:spPr>
          <a:xfrm>
            <a:off x="7973568" y="1737360"/>
            <a:ext cx="3374136" cy="405993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7973568" y="1737360"/>
            <a:ext cx="64008" cy="4059936"/>
          </a:xfrm>
          <a:prstGeom prst="rect">
            <a:avLst/>
          </a:prstGeom>
          <a:solidFill>
            <a:srgbClr val="C74634"/>
          </a:solidFill>
          <a:ln w="12700">
            <a:solidFill>
              <a:srgbClr val="C74634"/>
            </a:solidFill>
            <a:prstDash val="solid"/>
          </a:ln>
        </p:spPr>
      </p:sp>
      <p:sp>
        <p:nvSpPr>
          <p:cNvPr id="10" name="Text 8"/>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문장수준 vs 트랜잭션수준</a:t>
            </a:r>
            <a:endParaRPr lang="en-US" sz="1400" dirty="0"/>
          </a:p>
        </p:txBody>
      </p:sp>
      <p:sp>
        <p:nvSpPr>
          <p:cNvPr id="11" name="Text 9"/>
          <p:cNvSpPr/>
          <p:nvPr/>
        </p:nvSpPr>
        <p:spPr>
          <a:xfrm>
            <a:off x="8293608" y="2395728"/>
            <a:ext cx="2825496" cy="323697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기본은 문장수준 일관성 — 각 SQL이 "그 문장 시작 시점"으로 일관되게 본다. SET TRANSACTION ISOLATION LEVEL SERIALIZABLE 이나 READ ONLY 를 쓰면 트랜잭션수준 — 트랜잭션 시작 시점으로 트랜잭션 내 모든 쿼리가 같은 스냅샷을 본다.</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4.2 ORA-01555 snapshot too old</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40</a:t>
            </a:r>
            <a:endParaRPr lang="en-US" sz="900" dirty="0"/>
          </a:p>
        </p:txBody>
      </p:sp>
      <p:sp>
        <p:nvSpPr>
          <p:cNvPr id="8" name="Text 6"/>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CR 블록을 만들려면 변경 전 값(undo) 이 살아 있어야 한다. 그 undo가 이미 다른 트랜잭션에 의해 덮어써졌다면 옛 모습을 재구성할 수 없어 ORA-01555: snapshot too old 가 발생한다.</a:t>
            </a:r>
            <a:endParaRPr lang="en-US" sz="1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841248" y="3054096"/>
          <a:ext cx="10506456" cy="2066544"/>
        </p:xfrm>
        <a:graphic>
          <a:graphicData uri="http://schemas.openxmlformats.org/drawingml/2006/table">
            <a:tbl>
              <a:tblPr/>
              <a:tblGrid>
                <a:gridCol w="5253228"/>
                <a:gridCol w="5253228"/>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해결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방법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undo 더 오래 보관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undo_retention ↑, undo 테이블스페이스 크기↑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보관 보장</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undo 테이블스페이스 RETENTION GUARANTEE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쿼리 시간 단축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긴 쿼리 자체를 튜닝 (→ SQL 튜닝편)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패턴 교정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fetch 도중 잦은 commit(자기 undo 파괴) 피하기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4.2 ORA-01555 snapshot too old</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41</a:t>
            </a:r>
            <a:endParaRPr lang="en-US" sz="900" dirty="0"/>
          </a:p>
        </p:txBody>
      </p:sp>
      <p:sp>
        <p:nvSpPr>
          <p:cNvPr id="8" name="Shape 6"/>
          <p:cNvSpPr/>
          <p:nvPr/>
        </p:nvSpPr>
        <p:spPr>
          <a:xfrm>
            <a:off x="841248" y="1737360"/>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1865376"/>
          </a:xfrm>
          <a:prstGeom prst="rect">
            <a:avLst/>
          </a:prstGeom>
          <a:solidFill>
            <a:srgbClr val="334155"/>
          </a:solidFill>
          <a:ln w="12700">
            <a:solidFill>
              <a:srgbClr val="334155"/>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1E293B"/>
                </a:solidFill>
                <a:latin typeface="맑은 고딕" pitchFamily="34" charset="0"/>
                <a:ea typeface="맑은 고딕" pitchFamily="34" charset="-122"/>
                <a:cs typeface="맑은 고딕" pitchFamily="34" charset="-120"/>
              </a:rPr>
              <a:t>연결</a:t>
            </a:r>
            <a:endParaRPr lang="en-US" sz="1400" dirty="0"/>
          </a:p>
        </p:txBody>
      </p:sp>
      <p:sp>
        <p:nvSpPr>
          <p:cNvPr id="11" name="Text 9"/>
          <p:cNvSpPr/>
          <p:nvPr/>
        </p:nvSpPr>
        <p:spPr>
          <a:xfrm>
            <a:off x="1161288" y="2395728"/>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undo는 Part 5(트랜잭션)에서 "변경 전 값을 적는 곳"으로 배운다. 그 undo가 rollback과 CR 양쪽에 쓰이고, CR용으로 남겨둬야 할 undo가 모자라면 ORA-01555 가 난다. undo가 두 일을 겸한다는 걸 기억하면 자연스럽다.</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5</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Execute — 트랜잭션(DML) 64</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읽기 위에 '변경'을 얹으면 — undo·redo·lock이 동시에 움직인다</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Execute — 트랜잭션(DML) 64</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42</a:t>
            </a:r>
            <a:endParaRPr lang="en-US" sz="900" dirty="0"/>
          </a:p>
        </p:txBody>
      </p:sp>
      <p:sp>
        <p:nvSpPr>
          <p:cNvPr id="7" name="Text 5"/>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SELECT는 블록을 읽기만 했지만, UPDATE/DELETE/INSERT 는 블록을 변경 한다. 변경에는 세 가지가 함께 따라온다: 이전 값을 보관할 undo , 복구를 위한 redo , 동시성을 위한 lock . 그 전에 "왜 이것들이 필요한가"부터.</a:t>
            </a:r>
            <a:endParaRPr lang="en-US" sz="1600" dirty="0"/>
          </a:p>
        </p:txBody>
      </p:sp>
      <p:sp>
        <p:nvSpPr>
          <p:cNvPr id="8" name="Shape 6"/>
          <p:cNvSpPr/>
          <p:nvPr/>
        </p:nvSpPr>
        <p:spPr>
          <a:xfrm>
            <a:off x="841248" y="3054096"/>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3054096"/>
            <a:ext cx="64008" cy="2414016"/>
          </a:xfrm>
          <a:prstGeom prst="rect">
            <a:avLst/>
          </a:prstGeom>
          <a:solidFill>
            <a:srgbClr val="C74634"/>
          </a:solidFill>
          <a:ln w="12700">
            <a:solidFill>
              <a:srgbClr val="C74634"/>
            </a:solidFill>
            <a:prstDash val="solid"/>
          </a:ln>
        </p:spPr>
      </p:sp>
      <p:sp>
        <p:nvSpPr>
          <p:cNvPr id="10" name="Text 8"/>
          <p:cNvSpPr/>
          <p:nvPr/>
        </p:nvSpPr>
        <p:spPr>
          <a:xfrm>
            <a:off x="1161288" y="325526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undo와 redo는 왜 존재하나</a:t>
            </a:r>
            <a:endParaRPr lang="en-US" sz="1400" dirty="0"/>
          </a:p>
        </p:txBody>
      </p:sp>
      <p:sp>
        <p:nvSpPr>
          <p:cNvPr id="11" name="Text 9"/>
          <p:cNvSpPr/>
          <p:nvPr/>
        </p:nvSpPr>
        <p:spPr>
          <a:xfrm>
            <a:off x="1161288" y="3712464"/>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Undo(이전 값) — ① rollback 시 되돌리기 ② read consistency : 내가 SELECT하는 도중 남이 그 행을 바꿔도, 나는 쿼리 시작 시점의 옛 값을 undo로 재구성해 본다(consistent read). 그래서 undo는 SELECT에도 쓰인다. Redo(변경 기록) — 장애로 메모리가 날아가도 redo log를 재생(roll forward)해 변경을 복구. redo는 change vector 들의 묶음(redo entry)으로 만들어진다.</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4.1 블록 클래스 (v$waitstat) — 경합이 잡히는 단위</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43</a:t>
            </a:r>
            <a:endParaRPr lang="en-US" sz="900" dirty="0"/>
          </a:p>
        </p:txBody>
      </p:sp>
      <p:sp>
        <p:nvSpPr>
          <p:cNvPr id="7" name="Text 5"/>
          <p:cNvSpPr/>
          <p:nvPr/>
        </p:nvSpPr>
        <p:spPr>
          <a:xfrm>
            <a:off x="841248" y="1737360"/>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해시 버킷을 결정하는 "블록 종류". 각 클래스마다 경합 통계가 따로 잡힌다 ( select class from v$waitstat; ).</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4.2 Transaction 처리 순서 ★ — 핵심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44</a:t>
            </a:r>
            <a:endParaRPr lang="en-US" sz="900" dirty="0"/>
          </a:p>
        </p:txBody>
      </p:sp>
      <p:sp>
        <p:nvSpPr>
          <p:cNvPr id="8" name="Text 6"/>
          <p:cNvSpPr/>
          <p:nvPr/>
        </p:nvSpPr>
        <p:spPr>
          <a:xfrm>
            <a:off x="841248" y="173736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update hr.employees set salary=salary*1.1 where employee_id=100; 한 줄이 어떻게 처리되는지. v$transaction (xidusn=undo 세그먼트 번호 등 트랜잭션 정보)으로 진행 중인 undo 사용을 확인할 수 있고, rollback 하면 사라진다.</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4.2 Transaction 처리 순서 ★ — 핵심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45</a:t>
            </a:r>
            <a:endParaRPr lang="en-US" sz="900" dirty="0"/>
          </a:p>
        </p:txBody>
      </p:sp>
      <p:sp>
        <p:nvSpPr>
          <p:cNvPr id="8" name="Shape 6"/>
          <p:cNvSpPr/>
          <p:nvPr/>
        </p:nvSpPr>
        <p:spPr>
          <a:xfrm>
            <a:off x="841248" y="1737360"/>
            <a:ext cx="10506456" cy="268833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68833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ITL이 정확히 뭔가, 왜 2개?</a:t>
            </a:r>
            <a:endParaRPr lang="en-US" sz="1400" dirty="0"/>
          </a:p>
        </p:txBody>
      </p:sp>
      <p:sp>
        <p:nvSpPr>
          <p:cNvPr id="11" name="Text 9"/>
          <p:cNvSpPr/>
          <p:nvPr/>
        </p:nvSpPr>
        <p:spPr>
          <a:xfrm>
            <a:off x="1161288" y="2395728"/>
            <a:ext cx="9957816" cy="186537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ITL 은 블록 헤더 안의 작은 표로, "이 블록을 건드린 트랜잭션"마다 한 줄(entry)이 들어간다. 한 entry에는 txid, undo 위치(이전 값을 어디서 찾는지), 락 상태가 담긴다. 처음 만들 entry 수는 INITRANS (테이블 보통 1, 인덱스 2)로 정하고, 모자라면 블록 여유 공간에서 MAXTRANS 까지 늘린다. 노트의 "테이블에 무조건 2개"는 환경에 따른 값이며, 핵심은 "동시 트랜잭션 수만큼 ITL이 필요하고, 부족하면 enq: TX - allocate ITL entry로 줄 선다" 는 점.</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4.2 Transaction 처리 순서 ★ — 핵심</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46</a:t>
            </a:r>
            <a:endParaRPr lang="en-US" sz="900" dirty="0"/>
          </a:p>
        </p:txBody>
      </p:sp>
      <p:sp>
        <p:nvSpPr>
          <p:cNvPr id="8" name="Shape 6"/>
          <p:cNvSpPr/>
          <p:nvPr/>
        </p:nvSpPr>
        <p:spPr>
          <a:xfrm>
            <a:off x="841248" y="1737360"/>
            <a:ext cx="10506456" cy="159105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159105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"q가 들어간 wait event는 enqueue"</a:t>
            </a:r>
            <a:endParaRPr lang="en-US" sz="1400" dirty="0"/>
          </a:p>
        </p:txBody>
      </p:sp>
      <p:sp>
        <p:nvSpPr>
          <p:cNvPr id="11" name="Text 9"/>
          <p:cNvSpPr/>
          <p:nvPr/>
        </p:nvSpPr>
        <p:spPr>
          <a:xfrm>
            <a:off x="1161288" y="2395728"/>
            <a:ext cx="9957816" cy="76809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enq: 로 시작하는 대기(US, SQ, TX, TM…)는 enqueue — 큐(FIFO) 알고리즘으로 순서를 지키며 기다리는 잠금이다. 반면 latch 는 순서 보장이 없는 아주 짧은 스핀 잠금. 이 둘을 구분하면 대기 이벤트 절반이 정리된다.</a:t>
            </a:r>
            <a:endParaRPr lang="en-US" sz="1300" dirty="0"/>
          </a:p>
        </p:txBody>
      </p:sp>
      <p:sp>
        <p:nvSpPr>
          <p:cNvPr id="12" name="Shape 10"/>
          <p:cNvSpPr/>
          <p:nvPr/>
        </p:nvSpPr>
        <p:spPr>
          <a:xfrm>
            <a:off x="841248" y="3511296"/>
            <a:ext cx="10506456" cy="159105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3" name="Shape 11"/>
          <p:cNvSpPr/>
          <p:nvPr/>
        </p:nvSpPr>
        <p:spPr>
          <a:xfrm>
            <a:off x="841248" y="3511296"/>
            <a:ext cx="64008" cy="1591056"/>
          </a:xfrm>
          <a:prstGeom prst="rect">
            <a:avLst/>
          </a:prstGeom>
          <a:solidFill>
            <a:srgbClr val="334155"/>
          </a:solidFill>
          <a:ln w="12700">
            <a:solidFill>
              <a:srgbClr val="334155"/>
            </a:solidFill>
            <a:prstDash val="solid"/>
          </a:ln>
        </p:spPr>
      </p:sp>
      <p:sp>
        <p:nvSpPr>
          <p:cNvPr id="14" name="Text 12"/>
          <p:cNvSpPr/>
          <p:nvPr/>
        </p:nvSpPr>
        <p:spPr>
          <a:xfrm>
            <a:off x="1161288" y="3712464"/>
            <a:ext cx="9957816" cy="365760"/>
          </a:xfrm>
          <a:prstGeom prst="rect">
            <a:avLst/>
          </a:prstGeom>
          <a:noFill/>
          <a:ln/>
        </p:spPr>
        <p:txBody>
          <a:bodyPr wrap="square" lIns="0" tIns="0" rIns="0" bIns="0" rtlCol="0" anchor="ctr"/>
          <a:lstStyle/>
          <a:p>
            <a:pPr algn="l" indent="0" marL="0">
              <a:buNone/>
            </a:pPr>
            <a:r>
              <a:rPr lang="en-US" sz="1400" b="1" dirty="0">
                <a:solidFill>
                  <a:srgbClr val="1E293B"/>
                </a:solidFill>
                <a:latin typeface="맑은 고딕" pitchFamily="34" charset="0"/>
                <a:ea typeface="맑은 고딕" pitchFamily="34" charset="-122"/>
                <a:cs typeface="맑은 고딕" pitchFamily="34" charset="-120"/>
              </a:rPr>
              <a:t>returning into</a:t>
            </a:r>
            <a:endParaRPr lang="en-US" sz="1400" dirty="0"/>
          </a:p>
        </p:txBody>
      </p:sp>
      <p:sp>
        <p:nvSpPr>
          <p:cNvPr id="15" name="Text 13"/>
          <p:cNvSpPr/>
          <p:nvPr/>
        </p:nvSpPr>
        <p:spPr>
          <a:xfrm>
            <a:off x="1161288" y="4169664"/>
            <a:ext cx="9957816" cy="76809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DML과 SELECT를 한 번의 블록 I/O 로 처리하는 절. 예: update ... set ... returning salary into :v; 변경과 동시에 결과를 받아 블록을 두 번 안 읽는다. 튜닝의 핵심.</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5.5</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Redo · LGWR · Commit 65</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변경 기록을 먼저 디스크에 남겨야 commit이 끝난다</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Redo · LGWR · Commit 65</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47</a:t>
            </a:r>
            <a:endParaRPr lang="en-US" sz="900" dirty="0"/>
          </a:p>
        </p:txBody>
      </p:sp>
      <p:sp>
        <p:nvSpPr>
          <p:cNvPr id="7" name="Text 5"/>
          <p:cNvSpPr/>
          <p:nvPr/>
        </p:nvSpPr>
        <p:spPr>
          <a:xfrm>
            <a:off x="841248" y="1737360"/>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블록을 바꾸면 그 변경의 기록(redo)을 먼저 안전하게 디스크에 남기고, 그게 끝나야 commit이 완료된다. 이것이 Part 5 step 5·6의 속을 들여다본 내용이다.</a:t>
            </a:r>
            <a:endParaRPr lang="en-US" sz="1600" dirty="0"/>
          </a:p>
        </p:txBody>
      </p:sp>
      <p:sp>
        <p:nvSpPr>
          <p:cNvPr id="8" name="Shape 6"/>
          <p:cNvSpPr/>
          <p:nvPr/>
        </p:nvSpPr>
        <p:spPr>
          <a:xfrm>
            <a:off x="841248" y="2724912"/>
            <a:ext cx="10506456" cy="256032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2724912"/>
            <a:ext cx="64008" cy="2560320"/>
          </a:xfrm>
          <a:prstGeom prst="rect">
            <a:avLst/>
          </a:prstGeom>
          <a:solidFill>
            <a:srgbClr val="C74634"/>
          </a:solidFill>
          <a:ln w="12700">
            <a:solidFill>
              <a:srgbClr val="C74634"/>
            </a:solidFill>
            <a:prstDash val="solid"/>
          </a:ln>
        </p:spPr>
      </p:sp>
      <p:sp>
        <p:nvSpPr>
          <p:cNvPr id="10" name="Text 8"/>
          <p:cNvSpPr/>
          <p:nvPr/>
        </p:nvSpPr>
        <p:spPr>
          <a:xfrm>
            <a:off x="1161288" y="2907792"/>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change vector → redo log buffer → LGWR → redo log file. commit한 서버는 log file sync로 기다린다.</a:t>
            </a:r>
            <a:endParaRPr lang="en-US" sz="1200" dirty="0"/>
          </a:p>
        </p:txBody>
      </p:sp>
      <p:sp>
        <p:nvSpPr>
          <p:cNvPr id="11" name="Text 9"/>
          <p:cNvSpPr/>
          <p:nvPr/>
        </p:nvSpPr>
        <p:spPr>
          <a:xfrm>
            <a:off x="1161288" y="3438144"/>
            <a:ext cx="9957816" cy="169164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① PGA — change vector 3개 · undo header · undo block · 데이터 블록 · redo copy latch · ② Redo Log Buffer · redo entry로 복사 (redo allocation latch) · LGWR 트리거 시 · ③ LGWR · redo entry를 디스크에 기록 · log file sync · 서버는 대기 · ④ Redo Log File (디스크)</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4.5.1 redo의 목적과 발생 작업</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48</a:t>
            </a:r>
            <a:endParaRPr lang="en-US" sz="900" dirty="0"/>
          </a:p>
        </p:txBody>
      </p:sp>
      <p:sp>
        <p:nvSpPr>
          <p:cNvPr id="7" name="Text 5"/>
          <p:cNvSpPr/>
          <p:nvPr/>
        </p:nvSpPr>
        <p:spPr>
          <a:xfrm>
            <a:off x="841248" y="1737360"/>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redo의 목적은 단 하나 — 데이터베이스 복구 . DB에 적용된 모든 변경을 재구성·재실행할 정보가 redo entry다. 장애로 메모리가 날아가도 redo를 재생(roll forward)해 복구한다.</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4.5.3 LGWR는 언제 작동하나 — 5가지 트리거</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49</a:t>
            </a:r>
            <a:endParaRPr lang="en-US" sz="900" dirty="0"/>
          </a:p>
        </p:txBody>
      </p:sp>
      <p:sp>
        <p:nvSpPr>
          <p:cNvPr id="7" name="Shape 5"/>
          <p:cNvSpPr/>
          <p:nvPr/>
        </p:nvSpPr>
        <p:spPr>
          <a:xfrm>
            <a:off x="841248" y="1737360"/>
            <a:ext cx="10506456" cy="213969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8" name="Shape 6"/>
          <p:cNvSpPr/>
          <p:nvPr/>
        </p:nvSpPr>
        <p:spPr>
          <a:xfrm>
            <a:off x="841248" y="1737360"/>
            <a:ext cx="64008" cy="2139696"/>
          </a:xfrm>
          <a:prstGeom prst="rect">
            <a:avLst/>
          </a:prstGeom>
          <a:solidFill>
            <a:srgbClr val="C74634"/>
          </a:solidFill>
          <a:ln w="12700">
            <a:solidFill>
              <a:srgbClr val="C74634"/>
            </a:solidFill>
            <a:prstDash val="solid"/>
          </a:ln>
        </p:spPr>
      </p:sp>
      <p:sp>
        <p:nvSpPr>
          <p:cNvPr id="9" name="Text 7"/>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두 가지 원칙 (Write Ahead Log · Log Force at Commit)</a:t>
            </a:r>
            <a:endParaRPr lang="en-US" sz="1400" dirty="0"/>
          </a:p>
        </p:txBody>
      </p:sp>
      <p:sp>
        <p:nvSpPr>
          <p:cNvPr id="10" name="Text 8"/>
          <p:cNvSpPr/>
          <p:nvPr/>
        </p:nvSpPr>
        <p:spPr>
          <a:xfrm>
            <a:off x="1161288" y="2395728"/>
            <a:ext cx="9957816" cy="131673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WAL — dirty buffer를 데이터파일에 쓰기 전에 , 그 변경의 redo entry를 redo log file에 먼저 기록한다. 그래서 LGWR가 DBWR보다 앞선다. Log Force at Commit — 트랜잭션과 관련된 모든 redo entry를 log file에 저장한 후에야 commit이 완료된다. 이 둘이 "데이터는 잃어도 redo로 복구 가능"을 보장한다.</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4.5.4 log file sync — 가장 흔한 대기</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50</a:t>
            </a:r>
            <a:endParaRPr lang="en-US" sz="900" dirty="0"/>
          </a:p>
        </p:txBody>
      </p:sp>
      <p:sp>
        <p:nvSpPr>
          <p:cNvPr id="7" name="Text 5"/>
          <p:cNvSpPr/>
          <p:nvPr/>
        </p:nvSpPr>
        <p:spPr>
          <a:xfrm>
            <a:off x="841248" y="173736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서버 프로세스가 commit/rollback 하면 LGWR가 redo를 log file에 기록(sync write, redo synch writes 증가)하는데, 서버는 그 write가 끝날 때까지 멈춰 기다린다. 이 대기가 log file sync . sync write 자체가 짧아 보통은 문제가 안 된다.</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4.5.5 redo latch 3종 + 수치</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51</a:t>
            </a:r>
            <a:endParaRPr lang="en-US" sz="9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latch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역할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개수 (이 환경)</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copy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change vector를 redo log buffer로 복사하는 동안 보유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CPU×2 기본 · _log_simultaneous_copies =4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allocation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log buffer에 공간 확보 (9i 이후 redo strand별)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count=53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writing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LGWR에 쓰기 요청할 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1개만 (parent), gets 1,127,570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4.5.6 redo 줄이기 — 적재 방식 · logging · group commit</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52</a:t>
            </a:r>
            <a:endParaRPr lang="en-US" sz="9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적재 방식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동작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redo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conventional path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버퍼 캐시 거쳐 데이터파일에 씀 (일반 insert)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많음 (~9,051 entries)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direct path ( /*+ append */ )</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버퍼 캐시 우회, HWM 이후 직접 append, undo 최소(딕셔너리 undo만), TM lock exclusive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적음 (~2,168)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direct path + nologging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위 + redo 생성까지 최소화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가장 적음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3602736"/>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0" name="Shape 7"/>
          <p:cNvSpPr/>
          <p:nvPr/>
        </p:nvSpPr>
        <p:spPr>
          <a:xfrm>
            <a:off x="841248" y="3602736"/>
            <a:ext cx="64008" cy="2414016"/>
          </a:xfrm>
          <a:prstGeom prst="rect">
            <a:avLst/>
          </a:prstGeom>
          <a:solidFill>
            <a:srgbClr val="C74634"/>
          </a:solidFill>
          <a:ln w="12700">
            <a:solidFill>
              <a:srgbClr val="C74634"/>
            </a:solidFill>
            <a:prstDash val="solid"/>
          </a:ln>
        </p:spPr>
      </p:sp>
      <p:sp>
        <p:nvSpPr>
          <p:cNvPr id="11" name="Text 8"/>
          <p:cNvSpPr/>
          <p:nvPr/>
        </p:nvSpPr>
        <p:spPr>
          <a:xfrm>
            <a:off x="1161288" y="380390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주의 · nologging의 대가 (66일차에서 확인)</a:t>
            </a:r>
            <a:endParaRPr lang="en-US" sz="1400" dirty="0"/>
          </a:p>
        </p:txBody>
      </p:sp>
      <p:sp>
        <p:nvSpPr>
          <p:cNvPr id="12" name="Text 9"/>
          <p:cNvSpPr/>
          <p:nvPr/>
        </p:nvSpPr>
        <p:spPr>
          <a:xfrm>
            <a:off x="1161288" y="4261104"/>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nologging + direct path로 넣은 블록은 redo가 없다. 따라서 datafile을 백업에서 restore·recover 해도 그 블록은 재구성되지 않아 ORA-01578 (block corrupted) + ORA-26040 (loaded with NOLOGGING)로 깨진 채 남는다. "redo를 아끼면 복구를 포기하는 것" — 자세한 복구 절차와 dbms_repair 대처는 별도의 RMAN 복구 치트시트 참고.</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4.5.6 redo 줄이기 — 적재 방식 · logging · group commit</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53</a:t>
            </a:r>
            <a:endParaRPr lang="en-US" sz="900" dirty="0"/>
          </a:p>
        </p:txBody>
      </p:sp>
      <p:sp>
        <p:nvSpPr>
          <p:cNvPr id="8" name="Shape 6"/>
          <p:cNvSpPr/>
          <p:nvPr/>
        </p:nvSpPr>
        <p:spPr>
          <a:xfrm>
            <a:off x="841248" y="1737360"/>
            <a:ext cx="10506456" cy="159105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1591056"/>
          </a:xfrm>
          <a:prstGeom prst="rect">
            <a:avLst/>
          </a:prstGeom>
          <a:solidFill>
            <a:srgbClr val="334155"/>
          </a:solidFill>
          <a:ln w="12700">
            <a:solidFill>
              <a:srgbClr val="334155"/>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1E293B"/>
                </a:solidFill>
                <a:latin typeface="맑은 고딕" pitchFamily="34" charset="0"/>
                <a:ea typeface="맑은 고딕" pitchFamily="34" charset="-122"/>
                <a:cs typeface="맑은 고딕" pitchFamily="34" charset="-120"/>
              </a:rPr>
              <a:t>Group Commit</a:t>
            </a:r>
            <a:endParaRPr lang="en-US" sz="1400" dirty="0"/>
          </a:p>
        </p:txBody>
      </p:sp>
      <p:sp>
        <p:nvSpPr>
          <p:cNvPr id="11" name="Text 9"/>
          <p:cNvSpPr/>
          <p:nvPr/>
        </p:nvSpPr>
        <p:spPr>
          <a:xfrm>
            <a:off x="1161288" y="2395728"/>
            <a:ext cx="9957816" cy="76809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PL/SQL 블록에서 commit을 여러 번(예: 5번) 해도 LGWR는 묶어 한 번에 처리한다. 노트 테스트에서 user commits =5인데 log file sync 는 2번. 잦은 commit이 곧 LGWR 폭증으로 직결되지 않는 이유다.</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4.5.6 redo 줄이기 — 적재 방식 · logging · group commit</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54</a:t>
            </a:r>
            <a:endParaRPr lang="en-US" sz="900" dirty="0"/>
          </a:p>
        </p:txBody>
      </p:sp>
      <p:sp>
        <p:nvSpPr>
          <p:cNvPr id="8" name="Shape 6"/>
          <p:cNvSpPr/>
          <p:nvPr/>
        </p:nvSpPr>
        <p:spPr>
          <a:xfrm>
            <a:off x="841248" y="1737360"/>
            <a:ext cx="10506456" cy="351129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351129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Private Redo Strand (10gR2+, "zero copy latch")</a:t>
            </a:r>
            <a:endParaRPr lang="en-US" sz="1400" dirty="0"/>
          </a:p>
        </p:txBody>
      </p:sp>
      <p:sp>
        <p:nvSpPr>
          <p:cNvPr id="11" name="Text 9"/>
          <p:cNvSpPr/>
          <p:nvPr/>
        </p:nvSpPr>
        <p:spPr>
          <a:xfrm>
            <a:off x="1161288" y="2395728"/>
            <a:ext cx="9957816" cy="268833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redo를 PGA의 change vector로 만들지 않고 shared pool의 private redo strand 영역에 바로 저장해, redo log buffer를 거치지 않고 log file에 기록하는 방식. 이러면 redo copy · redo allocation latch를 안 잡아도 되어 "zero copy latch"라 부른다. shared pool의 _log_private_mul (0.5%)만큼 사용하고 v$sgastat 의 private strands (약 6.9MB)로 확인. 발전 과정 8i 단일 allocation latch → 9i redo strand 분할(strand별 allocation latch, log_parallelism 기본1) → 10gR1 동적 관리( _log_parallelism_dynamic =true) → 10gR2 private redo strand.</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4.5.7 redo 통계 (v$sesstat) 읽는 법</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55</a:t>
            </a:r>
            <a:endParaRPr lang="en-US" sz="9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066544"/>
        </p:xfrm>
        <a:graphic>
          <a:graphicData uri="http://schemas.openxmlformats.org/drawingml/2006/table">
            <a:tbl>
              <a:tblPr/>
              <a:tblGrid>
                <a:gridCol w="5253228"/>
                <a:gridCol w="5253228"/>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통계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의미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entries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entry가 redo log buffer에 기록된 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size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생성된 redo 크기(byte) — redo 발생량 비교의 핵심 지표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synch writes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commit/rollback으로 LGWR가 sync write 수행한 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log space requests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log file이 꽉 차 log switch가 발생한 횟수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6</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Lock &amp; 동시성 66</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여러 트랜잭션이 부딪힐 때 — Part 5의 TX가 충돌하면</a:t>
            </a: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Lock &amp; 동시성 66</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56</a:t>
            </a:r>
            <a:endParaRPr lang="en-US" sz="900" dirty="0"/>
          </a:p>
        </p:txBody>
      </p:sp>
      <p:sp>
        <p:nvSpPr>
          <p:cNvPr id="7" name="Text 5"/>
          <p:cNvSpPr/>
          <p:nvPr/>
        </p:nvSpPr>
        <p:spPr>
          <a:xfrm>
            <a:off x="841248" y="173736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Part 5–5.5가 하나의 트랜잭션 안에서 undo·redo·lock이 생기는 과정이었다면, 여기는 여러 트랜잭션이 같은 자원을 동시에 원할 때 어떻게 충돌하고 진단·해소되는지다. LOCK은 동시 변경을 막아 객체를 보호하는 동기화 장치이고, enqueue (대기 행렬)로 순서를 지킨다.</a:t>
            </a:r>
            <a:endParaRPr lang="en-US" sz="1600" dirty="0"/>
          </a:p>
        </p:txBody>
      </p:sp>
      <p:sp>
        <p:nvSpPr>
          <p:cNvPr id="8" name="Shape 6"/>
          <p:cNvSpPr/>
          <p:nvPr/>
        </p:nvSpPr>
        <p:spPr>
          <a:xfrm>
            <a:off x="841248" y="3383280"/>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3383280"/>
            <a:ext cx="64008" cy="2414016"/>
          </a:xfrm>
          <a:prstGeom prst="rect">
            <a:avLst/>
          </a:prstGeom>
          <a:solidFill>
            <a:srgbClr val="C74634"/>
          </a:solidFill>
          <a:ln w="12700">
            <a:solidFill>
              <a:srgbClr val="C74634"/>
            </a:solidFill>
            <a:prstDash val="solid"/>
          </a:ln>
        </p:spPr>
      </p:sp>
      <p:sp>
        <p:nvSpPr>
          <p:cNvPr id="10" name="Text 8"/>
          <p:cNvSpPr/>
          <p:nvPr/>
        </p:nvSpPr>
        <p:spPr>
          <a:xfrm>
            <a:off x="1161288" y="358444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먼저 — lock은 '쓰기'끼리의 문제다</a:t>
            </a:r>
            <a:endParaRPr lang="en-US" sz="1400" dirty="0"/>
          </a:p>
        </p:txBody>
      </p:sp>
      <p:sp>
        <p:nvSpPr>
          <p:cNvPr id="11" name="Text 9"/>
          <p:cNvSpPr/>
          <p:nvPr/>
        </p:nvSpPr>
        <p:spPr>
          <a:xfrm>
            <a:off x="1161288" y="4041648"/>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이 장의 충돌은 전부 쓰기-쓰기 사이의 일이다. 오라클에서 읽기는 lock을 잡지 않고, 쓰기도 읽기를 막지 않는다 (§4.1 읽기 일관성). 그래서 SELECT는 아무리 많아도 서로·DML과 줄 서지 않는다 — 남이 바꾼 블록은 undo로 옛 모습(CR)을 만들어 볼 뿐이다. 즉 TX/TM lock으로 직렬화되는 건 변경(DML·DDL)뿐 이고, 읽기 동시성은 lock이 아니라 MVCC(다중 버전)로 해결한다. 아래의 모든 블로킹 시나리오를 "쓰기끼리의 경합"으로 읽으면 된다.</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6.1 두 종류 — TM(테이블) vs TX(행)</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57</a:t>
            </a:r>
            <a:endParaRPr lang="en-US" sz="9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298448"/>
        </p:xfrm>
        <a:graphic>
          <a:graphicData uri="http://schemas.openxmlformats.org/drawingml/2006/table">
            <a:tbl>
              <a:tblPr/>
              <a:tblGrid>
                <a:gridCol w="2626614"/>
                <a:gridCol w="2626614"/>
                <a:gridCol w="2626614"/>
                <a:gridCol w="2626614"/>
              </a:tblGrid>
              <a:tr h="432816">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lock</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대상</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v$lock 식별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DML이 잡는 모드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3281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TM</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테이블(객체) 레벨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ID1 = OBJECT_ID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RX(3) 자동</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3281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행(트랜잭션) 레벨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ID1 = usn×65536 + slot · ID2 = slot seq#</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5"/>
          <p:cNvSpPr/>
          <p:nvPr/>
        </p:nvSpPr>
        <p:spPr>
          <a:xfrm>
            <a:off x="841248" y="3218688"/>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그래서 수업의 decode 쿼리가 usn = trunc(id1/power(2,16)) , slot = bitand(id1, to_number('ffff','xxxx')) 인 것. DML 한 줄은 테이블에 TM RX(3) + 행에 TX X(6) 를 동시에 잡는다.</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6.2 Lock 모드 6단계 + 호환성</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58</a:t>
            </a:r>
            <a:endParaRPr lang="en-US" sz="9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834640"/>
        </p:xfrm>
        <a:graphic>
          <a:graphicData uri="http://schemas.openxmlformats.org/drawingml/2006/table">
            <a:tbl>
              <a:tblPr/>
              <a:tblGrid>
                <a:gridCol w="3502152"/>
                <a:gridCol w="3502152"/>
                <a:gridCol w="3502152"/>
              </a:tblGrid>
              <a:tr h="40494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LMODE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모드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언제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0 / 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none / Null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lock 없음 / 거의 안 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Row Share (RS/SS)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LOCK TABLE ... IN ROW SHARE MODE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Row eXclusive (RX/SX)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DML 자동 획득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Share (S)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일반 인덱스 생성 , PK/unique 충돌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Share Row eXclusive (SRX)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row cache lock(시퀀스 nocache)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eXclusive (X)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DDL , 같은 행 동시 변경 방지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6.2 Lock 모드 6단계 + 호환성</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59</a:t>
            </a:r>
            <a:endParaRPr lang="en-US" sz="9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834640"/>
        </p:xfrm>
        <a:graphic>
          <a:graphicData uri="http://schemas.openxmlformats.org/drawingml/2006/table">
            <a:tbl>
              <a:tblPr/>
              <a:tblGrid>
                <a:gridCol w="1500922"/>
                <a:gridCol w="1500922"/>
                <a:gridCol w="1500922"/>
                <a:gridCol w="1500922"/>
                <a:gridCol w="1500922"/>
                <a:gridCol w="1500922"/>
                <a:gridCol w="1500922"/>
              </a:tblGrid>
              <a:tr h="40494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보유＼요청</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RX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SRX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SRX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494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6.3 v$lock 읽는 법 + blocking 진단</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60</a:t>
            </a:r>
            <a:endParaRPr lang="en-US" sz="900" dirty="0"/>
          </a:p>
        </p:txBody>
      </p:sp>
      <p:sp>
        <p:nvSpPr>
          <p:cNvPr id="8" name="Shape 6"/>
          <p:cNvSpPr/>
          <p:nvPr/>
        </p:nvSpPr>
        <p:spPr>
          <a:xfrm>
            <a:off x="841248" y="1737360"/>
            <a:ext cx="10506456" cy="3072384"/>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3072384"/>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v$session.blocking_session으로 막은 세션을 찾고, sql_id/prev_sql_id로 막힌·막은 SQL을 추적한다.</a:t>
            </a:r>
            <a:endParaRPr lang="en-US" sz="1200" dirty="0"/>
          </a:p>
        </p:txBody>
      </p:sp>
      <p:sp>
        <p:nvSpPr>
          <p:cNvPr id="11" name="Text 9"/>
          <p:cNvSpPr/>
          <p:nvPr/>
        </p:nvSpPr>
        <p:spPr>
          <a:xfrm>
            <a:off x="1161288" y="2450592"/>
            <a:ext cx="9957816" cy="2203704"/>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Session A — 보유(holder) · UPDATE ... id=100 · TX LMODE=6(X) · BLOCK=1 · 지금은 idle · SQL*Net message from client · Session B — 대기(waiter) · DELETE ... id=100 · TX REQUEST=6 · LMODE=0 · enq: TX - row lock contention · blocking_session = A · 대기 · 테이블은 둘 다 TM RX(3)로 호환 · 충돌은 "같은 행"의 TX X(6)에서</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6.3 v$lock 읽는 법 + blocking 진단</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61</a:t>
            </a:r>
            <a:endParaRPr lang="en-US" sz="900" dirty="0"/>
          </a:p>
        </p:txBody>
      </p:sp>
      <p:sp>
        <p:nvSpPr>
          <p:cNvPr id="8" name="Text 6"/>
          <p:cNvSpPr/>
          <p:nvPr/>
        </p:nvSpPr>
        <p:spPr>
          <a:xfrm>
            <a:off x="841248" y="173736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막은 세션(A)을 거슬러 올라가면 보통 SQL*Net message from client — commit을 안 하고 손 놓은 세션 이다. 막힌 행 위치는 row_wait_obj#/file#/block#/row# 로, 실제 rowid는 dbms_rowid 로 만든다.</a:t>
            </a:r>
            <a:endParaRPr lang="en-US" sz="1600" dirty="0"/>
          </a:p>
        </p:txBody>
      </p:sp>
      <p:sp>
        <p:nvSpPr>
          <p:cNvPr id="9" name="Shape 7"/>
          <p:cNvSpPr/>
          <p:nvPr/>
        </p:nvSpPr>
        <p:spPr>
          <a:xfrm>
            <a:off x="841248" y="3383280"/>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0" name="Shape 8"/>
          <p:cNvSpPr/>
          <p:nvPr/>
        </p:nvSpPr>
        <p:spPr>
          <a:xfrm>
            <a:off x="841248" y="3383280"/>
            <a:ext cx="64008" cy="2414016"/>
          </a:xfrm>
          <a:prstGeom prst="rect">
            <a:avLst/>
          </a:prstGeom>
          <a:solidFill>
            <a:srgbClr val="C74634"/>
          </a:solidFill>
          <a:ln w="12700">
            <a:solidFill>
              <a:srgbClr val="C74634"/>
            </a:solidFill>
            <a:prstDash val="solid"/>
          </a:ln>
        </p:spPr>
      </p:sp>
      <p:sp>
        <p:nvSpPr>
          <p:cNvPr id="11" name="Text 9"/>
          <p:cNvSpPr/>
          <p:nvPr/>
        </p:nvSpPr>
        <p:spPr>
          <a:xfrm>
            <a:off x="1161288" y="358444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rowid 두 형식</a:t>
            </a:r>
            <a:endParaRPr lang="en-US" sz="1400" dirty="0"/>
          </a:p>
        </p:txBody>
      </p:sp>
      <p:sp>
        <p:nvSpPr>
          <p:cNvPr id="12" name="Text 10"/>
          <p:cNvSpPr/>
          <p:nvPr/>
        </p:nvSpPr>
        <p:spPr>
          <a:xfrm>
            <a:off x="1161288" y="4041648"/>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restricted rowid (6 byte) = #block.#row.#file (예 0000015B.0000.0007 ). extended rowid (10 byte) = data object id(6) + file id(3) + block id(6) + row slot(3) (예 AAASqpAAHAAAAFbAAA ). dbms_rowid.rowid_create(0|1, obj, file, block, row) 로 생성.</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6.4 특수 케이스 — 시험·면접 단골</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62</a:t>
            </a:r>
            <a:endParaRPr lang="en-US" sz="9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3218688"/>
        </p:xfrm>
        <a:graphic>
          <a:graphicData uri="http://schemas.openxmlformats.org/drawingml/2006/table">
            <a:tbl>
              <a:tblPr/>
              <a:tblGrid>
                <a:gridCol w="3502152"/>
                <a:gridCol w="3502152"/>
                <a:gridCol w="3502152"/>
              </a:tblGrid>
              <a:tr h="402336">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상황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lock 동작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결과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0233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같은 값 unique/PK insert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2번째가 1번째의 종료까지 TX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1번 commit → ORA-00001 / rollback → 성공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SELECT 중 drop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SELECT는 TM null(0) → drop이 TM X(6) 획득 가능</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drop 성공, SELECT는 ORA-08103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UPDATE/for update 중 drop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DML이 TM RX(3) 보유 → X(6)와 충돌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drop이 ORA-00054 (busy)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일반 create index 중 DML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인덱스 생성이 테이블 S(4) → DML의 RX(3)와 충돌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DML이 enq: TM - contention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create index ... online 중 DML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DML 허용. 변경은 SYS_JOURNAL 임시 테이블에 저장 후 병합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둘 다 진행 (rebuild online 동일)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for update nowait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이미 잠겨 있으면 즉시 오류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ORA-00054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for update wait 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3초 대기 후 안 풀리면 오류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ORA-30006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6.4 특수 케이스 — 시험·면접 단골</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63</a:t>
            </a:r>
            <a:endParaRPr lang="en-US" sz="900" dirty="0"/>
          </a:p>
        </p:txBody>
      </p:sp>
      <p:sp>
        <p:nvSpPr>
          <p:cNvPr id="8" name="Shape 6"/>
          <p:cNvSpPr/>
          <p:nvPr/>
        </p:nvSpPr>
        <p:spPr>
          <a:xfrm>
            <a:off x="841248" y="1737360"/>
            <a:ext cx="10506456" cy="213969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13969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왜 SELECT 중 drop은 되고 UPDATE 중 drop은 안 되나</a:t>
            </a:r>
            <a:endParaRPr lang="en-US" sz="1400" dirty="0"/>
          </a:p>
        </p:txBody>
      </p:sp>
      <p:sp>
        <p:nvSpPr>
          <p:cNvPr id="11" name="Text 9"/>
          <p:cNvSpPr/>
          <p:nvPr/>
        </p:nvSpPr>
        <p:spPr>
          <a:xfrm>
            <a:off x="1161288" y="2395728"/>
            <a:ext cx="9957816" cy="131673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순수 SELECT는 테이블에 TM null(0) lock만 잡는다(호환성 표의 N 행은 X와도 o). 그래서 drop의 X(6)가 통과해 테이블이 사라지고, 읽던 세션은 ORA-08103: object no longer exists 를 만난다. 반면 DML·for update는 TM RX(3) 를 잡으므로 X(6)와 충돌해 drop이 ORA-00054 로 막힌다.</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6.5 Deadlock (ORA-00060)</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64</a:t>
            </a:r>
            <a:endParaRPr lang="en-US" sz="900" dirty="0"/>
          </a:p>
        </p:txBody>
      </p:sp>
      <p:sp>
        <p:nvSpPr>
          <p:cNvPr id="7" name="Shape 5"/>
          <p:cNvSpPr/>
          <p:nvPr/>
        </p:nvSpPr>
        <p:spPr>
          <a:xfrm>
            <a:off x="841248" y="1737360"/>
            <a:ext cx="10506456" cy="177393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8" name="Shape 6"/>
          <p:cNvSpPr/>
          <p:nvPr/>
        </p:nvSpPr>
        <p:spPr>
          <a:xfrm>
            <a:off x="841248" y="1737360"/>
            <a:ext cx="64008" cy="1773936"/>
          </a:xfrm>
          <a:prstGeom prst="rect">
            <a:avLst/>
          </a:prstGeom>
          <a:solidFill>
            <a:srgbClr val="C74634"/>
          </a:solidFill>
          <a:ln w="12700">
            <a:solidFill>
              <a:srgbClr val="C74634"/>
            </a:solidFill>
            <a:prstDash val="solid"/>
          </a:ln>
        </p:spPr>
      </p:sp>
      <p:sp>
        <p:nvSpPr>
          <p:cNvPr id="9" name="Text 7"/>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서로가 잡은 행을 동시에 기다리면 영원히 안 풀린다.</a:t>
            </a:r>
            <a:endParaRPr lang="en-US" sz="1200" dirty="0"/>
          </a:p>
        </p:txBody>
      </p:sp>
      <p:sp>
        <p:nvSpPr>
          <p:cNvPr id="10" name="Text 8"/>
          <p:cNvSpPr/>
          <p:nvPr/>
        </p:nvSpPr>
        <p:spPr>
          <a:xfrm>
            <a:off x="1161288" y="2450592"/>
            <a:ext cx="9957816" cy="905256"/>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두 세션이 서로의 행을 기다림 · Session 1 · 100 보유 → 200 요청 · Session 2 · 200 보유 → 100 요청 · row id=100 · row id=200 · 보유 · 요청·대기 (교차)</a:t>
            </a:r>
            <a:endParaRPr lang="en-US" sz="1200" dirty="0"/>
          </a:p>
        </p:txBody>
      </p:sp>
      <p:sp>
        <p:nvSpPr>
          <p:cNvPr id="11" name="Shape 9"/>
          <p:cNvSpPr/>
          <p:nvPr/>
        </p:nvSpPr>
        <p:spPr>
          <a:xfrm>
            <a:off x="841248" y="3694176"/>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12" name="Shape 10"/>
          <p:cNvSpPr/>
          <p:nvPr/>
        </p:nvSpPr>
        <p:spPr>
          <a:xfrm>
            <a:off x="841248" y="3694176"/>
            <a:ext cx="64008" cy="1865376"/>
          </a:xfrm>
          <a:prstGeom prst="rect">
            <a:avLst/>
          </a:prstGeom>
          <a:solidFill>
            <a:srgbClr val="C74634"/>
          </a:solidFill>
          <a:ln w="12700">
            <a:solidFill>
              <a:srgbClr val="C74634"/>
            </a:solidFill>
            <a:prstDash val="solid"/>
          </a:ln>
        </p:spPr>
      </p:sp>
      <p:sp>
        <p:nvSpPr>
          <p:cNvPr id="13" name="Text 11"/>
          <p:cNvSpPr/>
          <p:nvPr/>
        </p:nvSpPr>
        <p:spPr>
          <a:xfrm>
            <a:off x="1161288" y="389534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핵심 · 오라클의 deadlock 처리</a:t>
            </a:r>
            <a:endParaRPr lang="en-US" sz="1400" dirty="0"/>
          </a:p>
        </p:txBody>
      </p:sp>
      <p:sp>
        <p:nvSpPr>
          <p:cNvPr id="14" name="Text 12"/>
          <p:cNvSpPr/>
          <p:nvPr/>
        </p:nvSpPr>
        <p:spPr>
          <a:xfrm>
            <a:off x="1161288" y="4352544"/>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오라클이 자동 감지 하고 ORA-00060 으로, 먼저 대기에 빠진 세션의 "마지막 DML 문장 하나만" 취소한다(트랜잭션 전체가 아님). 그 세션의 앞선 DML과 lock은 살아있으니, 상대 세션은 여전히 대기 → 반드시 그 트랜잭션을 commit/rollback으로 끝내야 완전히 풀린다.</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PART 7</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저장 구조 &amp; 공간 관리 67</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블록이 디스크에 어떻게 배치되고, 빈 공간을 어떻게 찾나</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7.1 저장 계층 — Block ⊂ Extent ⊂ Segment ⊂ Tablespace</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65</a:t>
            </a:r>
            <a:endParaRPr lang="en-US" sz="900" dirty="0"/>
          </a:p>
        </p:txBody>
      </p:sp>
      <p:sp>
        <p:nvSpPr>
          <p:cNvPr id="7" name="Shape 5"/>
          <p:cNvSpPr/>
          <p:nvPr/>
        </p:nvSpPr>
        <p:spPr>
          <a:xfrm>
            <a:off x="841248" y="1737360"/>
            <a:ext cx="10506456" cy="2029968"/>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8" name="Shape 6"/>
          <p:cNvSpPr/>
          <p:nvPr/>
        </p:nvSpPr>
        <p:spPr>
          <a:xfrm>
            <a:off x="841248" y="1737360"/>
            <a:ext cx="64008" cy="2029968"/>
          </a:xfrm>
          <a:prstGeom prst="rect">
            <a:avLst/>
          </a:prstGeom>
          <a:solidFill>
            <a:srgbClr val="C74634"/>
          </a:solidFill>
          <a:ln w="12700">
            <a:solidFill>
              <a:srgbClr val="C74634"/>
            </a:solidFill>
            <a:prstDash val="solid"/>
          </a:ln>
        </p:spPr>
      </p:sp>
      <p:sp>
        <p:nvSpPr>
          <p:cNvPr id="9" name="Text 7"/>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endParaRPr lang="en-US" sz="1200" dirty="0"/>
          </a:p>
        </p:txBody>
      </p:sp>
      <p:sp>
        <p:nvSpPr>
          <p:cNvPr id="10" name="Text 8"/>
          <p:cNvSpPr/>
          <p:nvPr/>
        </p:nvSpPr>
        <p:spPr>
          <a:xfrm>
            <a:off x="1161288" y="2450592"/>
            <a:ext cx="9957816" cy="1161288"/>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Tablespace (논리적 단위) · ↔ Datafile(물리) 1개 이상으로 구성 · Segment — 테이블·인덱스 (여러 extent로 확장) · Extent — 연속된 블록 · Block — 최소 I/O 단위 (기본 8K) · Extent · … · 데이터 증가 시 extent 추가 할당</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7.2 Extent를 누가 관리하나 — DMT vs LMT</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66</a:t>
            </a:r>
            <a:endParaRPr lang="en-US" sz="9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298448"/>
        </p:xfrm>
        <a:graphic>
          <a:graphicData uri="http://schemas.openxmlformats.org/drawingml/2006/table">
            <a:tbl>
              <a:tblPr/>
              <a:tblGrid>
                <a:gridCol w="3502152"/>
                <a:gridCol w="3502152"/>
                <a:gridCol w="3502152"/>
              </a:tblGrid>
              <a:tr h="432816">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방식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관리 위치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특징 /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3281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Dictionary Managed (DMT)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데이터 딕셔너리 ( fet$ =free, uet$ =used)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extent 할당·해제마다 딕셔너리 조회·갱신 → enq: ST - contention . coalesce(병합) 필요. (옛 방식)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3281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Locally Managed (LMT)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테이블스페이스 자체의 비트맵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딕셔너리 경합·undo 최소화, 병합 불필요. 현재 표준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841248" y="3218688"/>
            <a:ext cx="10506456" cy="179222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extent management local uniform size 1m 이 LMT 구문. 보충 extent 크기 정책은 uniform (모든 extent 동일 크기, 예측 쉬움)과 autoallocate (오라클이 64K→1M→8M… 자동 증가, 단편화 적음) 중 선택한다. coalesce는 인접한 free extent를 하나로 합치는 작업인데, LMT는 비트맵 관리라 이게 필요 없다.</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7.2 Extent를 누가 관리하나 — DMT vs LMT</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2</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67</a:t>
            </a:r>
            <a:endParaRPr lang="en-US" sz="900" dirty="0"/>
          </a:p>
        </p:txBody>
      </p:sp>
      <p:sp>
        <p:nvSpPr>
          <p:cNvPr id="8" name="Shape 6"/>
          <p:cNvSpPr/>
          <p:nvPr/>
        </p:nvSpPr>
        <p:spPr>
          <a:xfrm>
            <a:off x="841248" y="1737360"/>
            <a:ext cx="10506456" cy="241401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41401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UNDO 테이블스페이스는 선택권이 없다 68</a:t>
            </a:r>
            <a:endParaRPr lang="en-US" sz="1400" dirty="0"/>
          </a:p>
        </p:txBody>
      </p:sp>
      <p:sp>
        <p:nvSpPr>
          <p:cNvPr id="11" name="Text 9"/>
          <p:cNvSpPr/>
          <p:nvPr/>
        </p:nvSpPr>
        <p:spPr>
          <a:xfrm>
            <a:off x="1161288" y="2395728"/>
            <a:ext cx="9957816" cy="159105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undo는 트랜잭션 크기에 따라 수시로 늘고 줄어야 해서, 오라클이 공간을 직접 관리한다. 그래서 일반 테이블스페이스와 달리 ① LMT만 가능 (DMT로 못 만듦) ② extent 크기를 오라클이 자동 결정 (사용자가 uniform size 로 못 정함). 결과적으로 CREATE UNDO TABLESPACE 는 datafile 절(DATAFILE·SIZE·AUTOEXTEND·MAXSIZE)까지만 작성한다 — extent 절을 쓸 여지가 없다.</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7.3 블록 내 여유공간을 누가 관리하나 — FLM vs ASSM ★</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68</a:t>
            </a:r>
            <a:endParaRPr lang="en-US" sz="9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298448"/>
        </p:xfrm>
        <a:graphic>
          <a:graphicData uri="http://schemas.openxmlformats.org/drawingml/2006/table">
            <a:tbl>
              <a:tblPr/>
              <a:tblGrid>
                <a:gridCol w="3502152"/>
                <a:gridCol w="3502152"/>
                <a:gridCol w="3502152"/>
              </a:tblGrid>
              <a:tr h="432816">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방식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구문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관리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3281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FLM (Free List Management)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segment space management manual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pctused · freelists · freelist groups. freelist = insert 가능한 블록들의 연결 리스트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32816">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ASSM (Automatic SSM)</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segment space management auto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각 블록 상태를 비트맵(BMB) 으로 자동 관리. 튜닝 불필요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841248" y="3218688"/>
            <a:ext cx="10506456" cy="80467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FLM의 약점은 freelist 개수가 적으면 동시 insert 세션이 같은 freelist→같은 블록으로 몰린다는 것:</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7.3 블록 내 여유공간을 누가 관리하나 — FLM vs ASSM ★</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69</a:t>
            </a:r>
            <a:endParaRPr lang="en-US" sz="900" dirty="0"/>
          </a:p>
        </p:txBody>
      </p:sp>
      <p:sp>
        <p:nvSpPr>
          <p:cNvPr id="8" name="Shape 6"/>
          <p:cNvSpPr/>
          <p:nvPr/>
        </p:nvSpPr>
        <p:spPr>
          <a:xfrm>
            <a:off x="841248" y="1737360"/>
            <a:ext cx="10506456" cy="2304288"/>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304288"/>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freelist가 적으면 같은 블록으로 몰려 buffer busy waits가 폭증한다.</a:t>
            </a:r>
            <a:endParaRPr lang="en-US" sz="1200" dirty="0"/>
          </a:p>
        </p:txBody>
      </p:sp>
      <p:sp>
        <p:nvSpPr>
          <p:cNvPr id="11" name="Text 9"/>
          <p:cNvSpPr/>
          <p:nvPr/>
        </p:nvSpPr>
        <p:spPr>
          <a:xfrm>
            <a:off x="1161288" y="2450592"/>
            <a:ext cx="9957816" cy="1435608"/>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freelists 1 — 경합 · Sess A · Sess B · Freelist (1개) · 같은 블록 · buffer busy waits ≈ 8,600 · freelists 2 — 분산 · Freelist 1 · Freelist 2 · 블록 X · 블록 Y · buffer busy waits ≈ 300</a:t>
            </a:r>
            <a:endParaRPr lang="en-US" sz="1200" dirty="0"/>
          </a:p>
        </p:txBody>
      </p:sp>
      <p:sp>
        <p:nvSpPr>
          <p:cNvPr id="12" name="Text 10"/>
          <p:cNvSpPr/>
          <p:nvPr/>
        </p:nvSpPr>
        <p:spPr>
          <a:xfrm>
            <a:off x="841248" y="4224528"/>
            <a:ext cx="10506456" cy="475488"/>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수업 실측 (insert 10만 × 2세션):</a:t>
            </a:r>
            <a:endParaRPr lang="en-US" sz="1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7.3 블록 내 여유공간을 누가 관리하나 — FLM vs ASSM ★</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70</a:t>
            </a:r>
            <a:endParaRPr lang="en-US" sz="9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구성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 busy waits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enq: HW -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FLM freelists 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8,600 / 세션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1,400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FLM freelists 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300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580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ASSM (auto)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4,600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 56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841248" y="3602736"/>
            <a:ext cx="10506456" cy="179222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freelists 1 은 두 세션이 한 블록에 몰려 경합 폭증, freelists 2 로 세션 수에 맞추면 급감. ASSM은 그 중간이지만 사람이 freelist를 안 맞춰도 자동 이고 enq: HW 까지 가장 낮다.</a:t>
            </a:r>
            <a:endParaRPr lang="en-US" sz="1600" dirty="0"/>
          </a:p>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ASSM 블록 여유공간 6단계: ① full ② unformatted ③ 0~25% free ④ 25~50% ⑤ 50~75% ⑥ 75~100% free</a:t>
            </a:r>
            <a:endParaRPr lang="en-US" sz="1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7.3 블록 내 여유공간을 누가 관리하나 — FLM vs ASSM ★</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4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71</a:t>
            </a:r>
            <a:endParaRPr lang="en-US" sz="900" dirty="0"/>
          </a:p>
        </p:txBody>
      </p:sp>
      <p:sp>
        <p:nvSpPr>
          <p:cNvPr id="8" name="Shape 6"/>
          <p:cNvSpPr/>
          <p:nvPr/>
        </p:nvSpPr>
        <p:spPr>
          <a:xfrm>
            <a:off x="841248" y="1737360"/>
            <a:ext cx="10506456" cy="268833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68833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왜 ASSM이 확장성 있나</a:t>
            </a:r>
            <a:endParaRPr lang="en-US" sz="1400" dirty="0"/>
          </a:p>
        </p:txBody>
      </p:sp>
      <p:sp>
        <p:nvSpPr>
          <p:cNvPr id="11" name="Text 9"/>
          <p:cNvSpPr/>
          <p:nvPr/>
        </p:nvSpPr>
        <p:spPr>
          <a:xfrm>
            <a:off x="1161288" y="2395728"/>
            <a:ext cx="9957816" cy="186537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FLM의 freelist는 사실상 "하나의 줄"이라, 동시성이 높아지면 그 줄(과 segment header)에 직렬화 경합(buffer busy waits)이 생긴다. freelists 개수를 늘리면 완화되지만 "동시 세션 수에 맞춰 미리 수동 설정"해야 한다. ASSM은 블록별 비트맵을 여러 BMB(1st/2nd/3rd level)로 계층화해, 세션마다 다른 블록 후보를 자동으로 흩어주므로 수동 튜닝 없이 동시성에 따라 확장된다. 64 에서 본 1st/2nd/3rd level bmb 가 바로 이 계층 비트맵이다.</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7.3 블록 내 여유공간을 누가 관리하나 — FLM vs ASSM ★</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5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72</a:t>
            </a:r>
            <a:endParaRPr lang="en-US" sz="900" dirty="0"/>
          </a:p>
        </p:txBody>
      </p:sp>
      <p:sp>
        <p:nvSpPr>
          <p:cNvPr id="8" name="Shape 6"/>
          <p:cNvSpPr/>
          <p:nvPr/>
        </p:nvSpPr>
        <p:spPr>
          <a:xfrm>
            <a:off x="841248" y="1737360"/>
            <a:ext cx="10506456" cy="296265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96265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Q. 혼자(단일 세션) 쓰면 ASSM은 괜한 손해 아닌가?</a:t>
            </a:r>
            <a:endParaRPr lang="en-US" sz="1400" dirty="0"/>
          </a:p>
        </p:txBody>
      </p:sp>
      <p:sp>
        <p:nvSpPr>
          <p:cNvPr id="11" name="Text 9"/>
          <p:cNvSpPr/>
          <p:nvPr/>
        </p:nvSpPr>
        <p:spPr>
          <a:xfrm>
            <a:off x="1161288" y="2395728"/>
            <a:ext cx="9957816" cy="213969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ASSM의 간판 이득은 동시성 이라, 한 세션만 쓰면 그 이득은 사실상 0이 맞다. 하지만 손해도 0에 수렴 한다 — 비트맵 한 번 확인 vs freelist에서 블록 꺼내기는 둘 다 메모리 안의 가벼운 북키핑이라 차이가 마이크로초 수준이고 디스크 I/O·redo 시간에 묻힌다. 게다가 FLM이 이기려면 freelists 를 미래 동시성에 정확히 맞춰 수동 설정해야만 한다(위 표에서 freelists 2가 ASSM을 이긴 건 세션이 정확히 2였기 때문). 측정도 안 되는 시간을 아끼려고 수동 관리 부담 + 나중에 세션이 늘면 세그먼트를 재생성할 리스크를 사는 전형적인 조기 최적화(premature optimization) 다.</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7.3 블록 내 여유공간을 누가 관리하나 — FLM vs ASSM ★</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6 / 6</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73</a:t>
            </a:r>
            <a:endParaRPr lang="en-US" sz="900" dirty="0"/>
          </a:p>
        </p:txBody>
      </p:sp>
      <p:sp>
        <p:nvSpPr>
          <p:cNvPr id="8" name="Shape 6"/>
          <p:cNvSpPr/>
          <p:nvPr/>
        </p:nvSpPr>
        <p:spPr>
          <a:xfrm>
            <a:off x="841248" y="1737360"/>
            <a:ext cx="10506456" cy="296265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96265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Q. 그럼 ASSM만 있으면 되지 왜 FLM이 아직 있나?</a:t>
            </a:r>
            <a:endParaRPr lang="en-US" sz="1400" dirty="0"/>
          </a:p>
        </p:txBody>
      </p:sp>
      <p:sp>
        <p:nvSpPr>
          <p:cNvPr id="11" name="Text 9"/>
          <p:cNvSpPr/>
          <p:nvPr/>
        </p:nvSpPr>
        <p:spPr>
          <a:xfrm>
            <a:off x="1161288" y="2395728"/>
            <a:ext cx="9957816" cy="213969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시간 순서 때문이다 — FLM이 원래 방식이고 ASSM은 9i(2001)에 추가 됐다. ① 하위 호환 : 기존 DB엔 FLM 세그먼트가 가득해, 삭제하면 업그레이드 시 깨진다. ② 비상구 : 초기 ASSM이 일부 워크로드에서 느린 사례가 있어 되돌릴 수단으로 남겼다. ③ 학습 대조군 : freelists 1/2 vs ASSM을 비교해야 ASSM의 가치가 보인다(오늘 수업이 그 비교였다). 결국 FLM은 "구버전이라 못 지운 + 비상구 + 대조군"이고, 실무 기본·권장은 ASSM( auto ). nologging·DMT처럼 더 나은 방식이 나와도 옛 방식이 호환성 때문에 남는 공통 패턴이다.</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7.4 블록 파라미터 — pctfree / pctused</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74</a:t>
            </a:r>
            <a:endParaRPr lang="en-US" sz="9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파라미터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기본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의미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pctfree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10%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① update 증가분 여유( row migration 방지) ② ITL 슬롯 만들 공간 확보(maxtrans 보장)</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pctused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40%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insert 재사용 판단. 사용률이 이 값 아래로 떨어지면 freelist에 다시 올림 (FLM 전용)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initrans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테이블 1 / 인덱스 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block header에 미리 만들어두는 ITL 슬롯(transaction slot) 수 (고정)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maxtrans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255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그 블록의 ITL 슬롯 전체 한도. 현재 버전은 항상 255로 표시 — 사실상 블록 여유공간이 한계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841248" y="3986784"/>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update로 행이 커졌는데 블록에 pctfree 여유가 없으면, 행이 새 블록으로 이사하고 원래 자리엔 "새 주소 포인터" 만 남는다. 인덱스는 옛 rowid를 가리키므로, rowid scan이 포인터를 따라 한 번 더 점프한다.</a:t>
            </a:r>
            <a:endParaRPr lang="en-US" sz="1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7.4 블록 파라미터 — pctfree / pctused</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75</a:t>
            </a:r>
            <a:endParaRPr lang="en-US" sz="900" dirty="0"/>
          </a:p>
        </p:txBody>
      </p:sp>
      <p:sp>
        <p:nvSpPr>
          <p:cNvPr id="8" name="Shape 6"/>
          <p:cNvSpPr/>
          <p:nvPr/>
        </p:nvSpPr>
        <p:spPr>
          <a:xfrm>
            <a:off x="841248" y="1737360"/>
            <a:ext cx="10506456" cy="2286000"/>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286000"/>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endParaRPr lang="en-US" sz="1200" dirty="0"/>
          </a:p>
        </p:txBody>
      </p:sp>
      <p:sp>
        <p:nvSpPr>
          <p:cNvPr id="11" name="Text 9"/>
          <p:cNvSpPr/>
          <p:nvPr/>
        </p:nvSpPr>
        <p:spPr>
          <a:xfrm>
            <a:off x="1161288" y="2450592"/>
            <a:ext cx="9957816" cy="1417320"/>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update로 행이 커짐 + Block A에 free 공간 없음 → 행이 Block B로 이사 · Index · 옛 rowid 보관 · Block A · 포인터만 남음 · Block B · 이사 간 실제 행 · rowid(원래) · 또 점프 · rowid scan은 A→B 두 번 = table fetch continued row +1 (추가 I/O)</a:t>
            </a:r>
            <a:endParaRPr lang="en-US"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7.4 블록 파라미터 — pctfree / pctused</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76</a:t>
            </a:r>
            <a:endParaRPr lang="en-US" sz="900" dirty="0"/>
          </a:p>
        </p:txBody>
      </p:sp>
      <p:sp>
        <p:nvSpPr>
          <p:cNvPr id="8" name="Shape 6"/>
          <p:cNvSpPr/>
          <p:nvPr/>
        </p:nvSpPr>
        <p:spPr>
          <a:xfrm>
            <a:off x="841248" y="1737360"/>
            <a:ext cx="10506456" cy="18653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1865376"/>
          </a:xfrm>
          <a:prstGeom prst="rect">
            <a:avLst/>
          </a:prstGeom>
          <a:solidFill>
            <a:srgbClr val="C74634"/>
          </a:solidFill>
          <a:ln w="12700">
            <a:solidFill>
              <a:srgbClr val="C74634"/>
            </a:solidFill>
            <a:prstDash val="solid"/>
          </a:ln>
        </p:spPr>
      </p:sp>
      <p:sp>
        <p:nvSpPr>
          <p:cNvPr id="10" name="Text 8"/>
          <p:cNvSpPr/>
          <p:nvPr/>
        </p:nvSpPr>
        <p:spPr>
          <a:xfrm>
            <a:off x="1161288" y="1938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보충 · row migration vs row chaining</a:t>
            </a:r>
            <a:endParaRPr lang="en-US" sz="1400" dirty="0"/>
          </a:p>
        </p:txBody>
      </p:sp>
      <p:sp>
        <p:nvSpPr>
          <p:cNvPr id="11" name="Text 9"/>
          <p:cNvSpPr/>
          <p:nvPr/>
        </p:nvSpPr>
        <p:spPr>
          <a:xfrm>
            <a:off x="1161288" y="2395728"/>
            <a:ext cx="9957816" cy="10424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row migration 은 위처럼 update로 커진 행이 이사하는 것(pctfree로 예방). row chaining 은 행 자체가 블록 하나보다 커서 처음부터 여러 블록에 걸치는 것(긴 행·LOB) — 이건 pctfree로 못 막고 더 큰 블록 크기가 답.</a:t>
            </a:r>
            <a:endParaRPr lang="en-US" sz="1300" dirty="0"/>
          </a:p>
        </p:txBody>
      </p:sp>
      <p:sp>
        <p:nvSpPr>
          <p:cNvPr id="12" name="Text 10"/>
          <p:cNvSpPr/>
          <p:nvPr/>
        </p:nvSpPr>
        <p:spPr>
          <a:xfrm>
            <a:off x="841248" y="3785616"/>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66 에서 이름만 본 그 대기를 만드는 조건이 initrans (슬롯 수) + pctfree (슬롯 늘릴 공간)다. initrans 1 maxtrans 2 pctfree 0 으로 만든 테이블에서, 한 블록에 든 여러 행을 3개 세션이 동시에 update하면 슬롯이 모자라 마지막 세션이 대기한다.</a:t>
            </a:r>
            <a:endParaRPr lang="en-US" sz="16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7.4 블록 파라미터 — pctfree / pctused</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4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77</a:t>
            </a:r>
            <a:endParaRPr lang="en-US" sz="900" dirty="0"/>
          </a:p>
        </p:txBody>
      </p:sp>
      <p:sp>
        <p:nvSpPr>
          <p:cNvPr id="8" name="Shape 6"/>
          <p:cNvSpPr/>
          <p:nvPr/>
        </p:nvSpPr>
        <p:spPr>
          <a:xfrm>
            <a:off x="841248" y="1737360"/>
            <a:ext cx="10506456" cy="2798064"/>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841248" y="1737360"/>
            <a:ext cx="64008" cy="2798064"/>
          </a:xfrm>
          <a:prstGeom prst="rect">
            <a:avLst/>
          </a:prstGeom>
          <a:solidFill>
            <a:srgbClr val="C74634"/>
          </a:solidFill>
          <a:ln w="12700">
            <a:solidFill>
              <a:srgbClr val="C74634"/>
            </a:solidFill>
            <a:prstDash val="solid"/>
          </a:ln>
        </p:spPr>
      </p:sp>
      <p:sp>
        <p:nvSpPr>
          <p:cNvPr id="10" name="Text 8"/>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endParaRPr lang="en-US" sz="1200" dirty="0"/>
          </a:p>
        </p:txBody>
      </p:sp>
      <p:sp>
        <p:nvSpPr>
          <p:cNvPr id="11" name="Text 9"/>
          <p:cNvSpPr/>
          <p:nvPr/>
        </p:nvSpPr>
        <p:spPr>
          <a:xfrm>
            <a:off x="1161288" y="2450592"/>
            <a:ext cx="9957816" cy="1929384"/>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Sess A · row1 · Sess B · row2 · Sess C · row3 · 하나의 블록 (row1·row2·row3 같이 들어있음) · ITL 슬롯: #1 [Sess A 사용중] — initrans 1 → 슬롯 1개뿐 · free 공간 0 (pctfree 0) → 새 ITL 슬롯 만들 자리 없음 · row data · 슬롯 부족 + free 없음 → enq: TX - allocate ITL entry · v$lock에서 이 대기는 TX REQUEST=4(Share) — row lock(6)과 다름</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7.5 보충 · 데이터 블록 구조 (Figure 13-7)</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78</a:t>
            </a:r>
            <a:endParaRPr lang="en-US" sz="900" dirty="0"/>
          </a:p>
        </p:txBody>
      </p:sp>
      <p:sp>
        <p:nvSpPr>
          <p:cNvPr id="7" name="Shape 5"/>
          <p:cNvSpPr/>
          <p:nvPr/>
        </p:nvSpPr>
        <p:spPr>
          <a:xfrm>
            <a:off x="841248" y="1737360"/>
            <a:ext cx="10506456" cy="2304288"/>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8" name="Shape 6"/>
          <p:cNvSpPr/>
          <p:nvPr/>
        </p:nvSpPr>
        <p:spPr>
          <a:xfrm>
            <a:off x="841248" y="1737360"/>
            <a:ext cx="64008" cy="2304288"/>
          </a:xfrm>
          <a:prstGeom prst="rect">
            <a:avLst/>
          </a:prstGeom>
          <a:solidFill>
            <a:srgbClr val="C74634"/>
          </a:solidFill>
          <a:ln w="12700">
            <a:solidFill>
              <a:srgbClr val="C74634"/>
            </a:solidFill>
            <a:prstDash val="solid"/>
          </a:ln>
        </p:spPr>
      </p:sp>
      <p:sp>
        <p:nvSpPr>
          <p:cNvPr id="9" name="Text 7"/>
          <p:cNvSpPr/>
          <p:nvPr/>
        </p:nvSpPr>
        <p:spPr>
          <a:xfrm>
            <a:off x="1161288" y="1920240"/>
            <a:ext cx="9957816" cy="502920"/>
          </a:xfrm>
          <a:prstGeom prst="rect">
            <a:avLst/>
          </a:prstGeom>
          <a:noFill/>
          <a:ln/>
        </p:spPr>
        <p:txBody>
          <a:bodyPr wrap="square" lIns="0" tIns="0" rIns="0" bIns="0" rtlCol="0" anchor="t"/>
          <a:lstStyle/>
          <a:p>
            <a:pPr algn="l" indent="0" marL="0">
              <a:buNone/>
            </a:pPr>
            <a:r>
              <a:rPr lang="en-US" sz="1200" b="1" dirty="0">
                <a:solidFill>
                  <a:srgbClr val="C74634"/>
                </a:solidFill>
                <a:latin typeface="맑은 고딕" pitchFamily="34" charset="0"/>
                <a:ea typeface="맑은 고딕" pitchFamily="34" charset="-122"/>
                <a:cs typeface="맑은 고딕" pitchFamily="34" charset="-120"/>
              </a:rPr>
              <a:t>다이어그램  </a:t>
            </a:r>
            <a:pPr algn="l" indent="0" marL="0">
              <a:buNone/>
            </a:pPr>
            <a:r>
              <a:rPr lang="en-US" sz="1300" b="1" dirty="0">
                <a:solidFill>
                  <a:srgbClr val="1E293B"/>
                </a:solidFill>
                <a:latin typeface="맑은 고딕" pitchFamily="34" charset="0"/>
                <a:ea typeface="맑은 고딕" pitchFamily="34" charset="-122"/>
                <a:cs typeface="맑은 고딕" pitchFamily="34" charset="-120"/>
              </a:rPr>
              <a:t>헤더·디렉터리는 위에서, 행 데이터는 아래에서 차올라 가운데 free space에서 만난다.</a:t>
            </a:r>
            <a:endParaRPr lang="en-US" sz="1200" dirty="0"/>
          </a:p>
        </p:txBody>
      </p:sp>
      <p:sp>
        <p:nvSpPr>
          <p:cNvPr id="10" name="Text 8"/>
          <p:cNvSpPr/>
          <p:nvPr/>
        </p:nvSpPr>
        <p:spPr>
          <a:xfrm>
            <a:off x="1161288" y="2450592"/>
            <a:ext cx="9957816" cy="1435608"/>
          </a:xfrm>
          <a:prstGeom prst="rect">
            <a:avLst/>
          </a:prstGeom>
          <a:noFill/>
          <a:ln/>
        </p:spPr>
        <p:txBody>
          <a:bodyPr wrap="square" lIns="0" tIns="0" rIns="0" bIns="0" rtlCol="0" anchor="t"/>
          <a:lstStyle/>
          <a:p>
            <a:pPr algn="l" indent="0" marL="0">
              <a:buNone/>
            </a:pPr>
            <a:r>
              <a:rPr lang="en-US" sz="1200" i="1" dirty="0">
                <a:solidFill>
                  <a:srgbClr val="64748B"/>
                </a:solidFill>
                <a:latin typeface="맑은 고딕" pitchFamily="34" charset="0"/>
                <a:ea typeface="맑은 고딕" pitchFamily="34" charset="-122"/>
                <a:cs typeface="맑은 고딕" pitchFamily="34" charset="-120"/>
              </a:rPr>
              <a:t>Block Header — 블록 주소·SCN·블록 종류 · Table Directory — 어떤 테이블의 행인가 · Row Directory — 각 행의 위치 포인터 · Free Space — pctfree 여유 (update 대비) · 위(header)에서 아래로, 행은 아래에서 위로 채워짐 · Row Data — 실제 행 데이터</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7.6 보충 · High Water Mark(HWM)와 enq: HW</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6" name="Text 4"/>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79</a:t>
            </a:r>
            <a:endParaRPr lang="en-US" sz="900" dirty="0"/>
          </a:p>
        </p:txBody>
      </p:sp>
      <p:sp>
        <p:nvSpPr>
          <p:cNvPr id="7" name="Text 5"/>
          <p:cNvSpPr/>
          <p:nvPr/>
        </p:nvSpPr>
        <p:spPr>
          <a:xfrm>
            <a:off x="841248" y="1737360"/>
            <a:ext cx="6675120" cy="3108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93B"/>
                </a:solidFill>
                <a:latin typeface="맑은 고딕" pitchFamily="34" charset="0"/>
                <a:ea typeface="맑은 고딕" pitchFamily="34" charset="-122"/>
                <a:cs typeface="맑은 고딕" pitchFamily="34" charset="-120"/>
              </a:rPr>
              <a:t>세그먼트에서 "여기까지 한 번이라도 데이터가 쓰였다" 는 경계선이 HWM 이다. full scan은 segment 시작부터 HWM까지를 읽고(그래서 delete 로 행을 다 지워도 HWM은 안 내려가 full scan이 여전히 느림 → truncate 는 HWM을 리셋), 대량 insert는 HWM을 위로 밀어 올린다. 여러 세션이 동시에 HWM을 밀어 올리려 하면 그 이동이 직렬화되며 enq: HW - contention 이 발생한다. ASSM이 이 경합을 크게 줄인다(위 표에서 56).</a:t>
            </a:r>
            <a:endParaRPr lang="en-US" sz="1600" dirty="0"/>
          </a:p>
        </p:txBody>
      </p:sp>
      <p:sp>
        <p:nvSpPr>
          <p:cNvPr id="8" name="Shape 6"/>
          <p:cNvSpPr/>
          <p:nvPr/>
        </p:nvSpPr>
        <p:spPr>
          <a:xfrm>
            <a:off x="7973568" y="1737360"/>
            <a:ext cx="3374136" cy="3236976"/>
          </a:xfrm>
          <a:prstGeom prst="rect">
            <a:avLst/>
          </a:prstGeom>
          <a:solidFill>
            <a:srgbClr val="F1F5F9"/>
          </a:solidFill>
          <a:ln w="12700">
            <a:solidFill>
              <a:srgbClr val="F1F5F9"/>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7973568" y="1737360"/>
            <a:ext cx="64008" cy="3236976"/>
          </a:xfrm>
          <a:prstGeom prst="rect">
            <a:avLst/>
          </a:prstGeom>
          <a:solidFill>
            <a:srgbClr val="334155"/>
          </a:solidFill>
          <a:ln w="12700">
            <a:solidFill>
              <a:srgbClr val="334155"/>
            </a:solidFill>
            <a:prstDash val="solid"/>
          </a:ln>
        </p:spPr>
      </p:sp>
      <p:sp>
        <p:nvSpPr>
          <p:cNvPr id="10" name="Text 8"/>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1E293B"/>
                </a:solidFill>
                <a:latin typeface="맑은 고딕" pitchFamily="34" charset="0"/>
                <a:ea typeface="맑은 고딕" pitchFamily="34" charset="-122"/>
                <a:cs typeface="맑은 고딕" pitchFamily="34" charset="-120"/>
              </a:rPr>
              <a:t>→ SQL 튜닝으로 이어짐</a:t>
            </a:r>
            <a:endParaRPr lang="en-US" sz="1400" dirty="0"/>
          </a:p>
        </p:txBody>
      </p:sp>
      <p:sp>
        <p:nvSpPr>
          <p:cNvPr id="11" name="Text 9"/>
          <p:cNvSpPr/>
          <p:nvPr/>
        </p:nvSpPr>
        <p:spPr>
          <a:xfrm>
            <a:off x="8293608" y="2395728"/>
            <a:ext cx="2825496" cy="2414016"/>
          </a:xfrm>
          <a:prstGeom prst="rect">
            <a:avLst/>
          </a:prstGeom>
          <a:noFill/>
          <a:ln/>
        </p:spPr>
        <p:txBody>
          <a:bodyPr wrap="square" lIns="0" tIns="0" rIns="0" bIns="0" rtlCol="0" anchor="t"/>
          <a:lstStyle/>
          <a:p>
            <a:pPr algn="l" indent="0" marL="0">
              <a:buNone/>
            </a:pPr>
            <a:r>
              <a:rPr lang="en-US" sz="1300" dirty="0">
                <a:solidFill>
                  <a:srgbClr val="1E293B"/>
                </a:solidFill>
                <a:latin typeface="맑은 고딕" pitchFamily="34" charset="0"/>
                <a:ea typeface="맑은 고딕" pitchFamily="34" charset="-122"/>
                <a:cs typeface="맑은 고딕" pitchFamily="34" charset="-120"/>
              </a:rPr>
              <a:t>full table scan은 바로 이 HWM까지 multi-block로 읽는다. 액세스 경로 선택(full scan vs rowid scan)과 튜닝 기법은 별도 SQL 튜닝 문서 에서 다룬다.</a:t>
            </a:r>
            <a:endParaRPr lang="en-US" sz="1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부록 A</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Wait Event 총정리 (62–68)</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처리 단계별로 어디서 터지는지</a:t>
            </a:r>
            <a:endParaRPr lang="en-US" sz="1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Wait Event 총정리 (62–68)</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80</a:t>
            </a:r>
            <a:endParaRPr lang="en-US" sz="9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3986784"/>
        </p:xfrm>
        <a:graphic>
          <a:graphicData uri="http://schemas.openxmlformats.org/drawingml/2006/table">
            <a:tbl>
              <a:tblPr/>
              <a:tblGrid>
                <a:gridCol w="3502152"/>
                <a:gridCol w="3502152"/>
                <a:gridCol w="3502152"/>
              </a:tblGrid>
              <a:tr h="398678">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Wait Event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단계 · 원인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일자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library cache: mutex X</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parse — 라이브러리 캐시 커서 보호 경합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row cache lock</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parse — 딕셔너리 변경(nocache 시퀀스 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SQ -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시퀀스 cache 묶음 채울 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latch: cache buffers chains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execute — 버퍼 헤더 체인 탐색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latch: cache buffers lru chain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execute — free buffer 확보(working set)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free buffer waits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40% 스캔에도 free 없음 → DBWR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read by other session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다른 세션이 같은 블록을 물리 I/O 적재 중(buffer pin)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db file sequential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single block 물리 I/O (rowid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db file scattered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multi block 물리 I/O (full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Wait Event 총정리 (62–68)</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81</a:t>
            </a:r>
            <a:endParaRPr lang="en-US" sz="9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3986784"/>
        </p:xfrm>
        <a:graphic>
          <a:graphicData uri="http://schemas.openxmlformats.org/drawingml/2006/table">
            <a:tbl>
              <a:tblPr/>
              <a:tblGrid>
                <a:gridCol w="3502152"/>
                <a:gridCol w="3502152"/>
                <a:gridCol w="3502152"/>
              </a:tblGrid>
              <a:tr h="398678">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Wait Event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단계 · 원인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일자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db file parallel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prefetch 수행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direct path read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버퍼 캐시 우회, PGA로 직접 읽기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US -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undo segment 할당 경합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TX - allocate ITL entry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ITL 슬롯 부족(initrans 작음 + pctfree 0). REQUEST=4(Share)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64·68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TX - row lock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같은 행을 다른 트랜잭션이 잠금 (unique/PK 충돌 포함)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64·66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TM -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테이블 lock 충돌 (일반 인덱스 생성 S(4) 중 DML 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ST -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DMT에서 extent 할당·해제 시 딕셔너리 경합 (LMT가 해결)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buffer busy waits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같은 블록(freelist 대상 블록·segment header)을 여러 세션이 동시에 원함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8678">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enq: HW - contention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대량 insert로 High Water Mark를 밀어 올릴 때 경합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Wait Event 총정리 (62–68)</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3</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82</a:t>
            </a:r>
            <a:endParaRPr lang="en-US" sz="9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450592"/>
        </p:xfrm>
        <a:graphic>
          <a:graphicData uri="http://schemas.openxmlformats.org/drawingml/2006/table">
            <a:tbl>
              <a:tblPr/>
              <a:tblGrid>
                <a:gridCol w="3502152"/>
                <a:gridCol w="3502152"/>
                <a:gridCol w="3502152"/>
              </a:tblGrid>
              <a:tr h="408432">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Wait Event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단계 · 원인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일자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latch: redo copy / allocation / writing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log buffer에 redo entry 복사·공간 확보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64·65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log file sync</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commit/rollback 후 LGWR write 완료까지 서버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log buffer space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redo log buffer 공간 부족 — free 확보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log file switch completion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로그 스위치 진행 중이라 기록 대기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log file parallel write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LGWR가 redo log file에 실제로 쓰는 시간 (느리면 I/O 의심)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맑은 고딕" pitchFamily="34" charset="0"/>
                          <a:ea typeface="맑은 고딕" pitchFamily="34" charset="-122"/>
                          <a:cs typeface="맑은 고딕" pitchFamily="34" charset="-120"/>
                        </a:rPr>
                        <a:t>65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부록 B</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핵심 용어집</a:t>
            </a:r>
            <a:endParaRPr lang="en-US" sz="4000" dirty="0"/>
          </a:p>
        </p:txBody>
      </p:sp>
      <p:sp>
        <p:nvSpPr>
          <p:cNvPr id="6" name="Text 4"/>
          <p:cNvSpPr/>
          <p:nvPr/>
        </p:nvSpPr>
        <p:spPr>
          <a:xfrm>
            <a:off x="841248" y="5074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한 줄 정의로 빠르게 확인</a:t>
            </a:r>
            <a:endParaRPr lang="en-US" sz="1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841248" y="2103120"/>
            <a:ext cx="2743200" cy="1554480"/>
          </a:xfrm>
          <a:prstGeom prst="rect">
            <a:avLst/>
          </a:prstGeom>
          <a:noFill/>
          <a:ln/>
        </p:spPr>
        <p:txBody>
          <a:bodyPr wrap="square" lIns="0" tIns="0" rIns="0" bIns="0" rtlCol="0" anchor="t"/>
          <a:lstStyle/>
          <a:p>
            <a:pPr algn="l" indent="0" marL="0">
              <a:buNone/>
            </a:pPr>
            <a:r>
              <a:rPr lang="en-US" sz="9000" b="1" dirty="0">
                <a:solidFill>
                  <a:srgbClr val="C74634"/>
                </a:solidFill>
                <a:latin typeface="맑은 고딕" pitchFamily="34" charset="0"/>
                <a:ea typeface="맑은 고딕" pitchFamily="34" charset="-122"/>
                <a:cs typeface="맑은 고딕" pitchFamily="34" charset="-120"/>
              </a:rPr>
              <a:t>부록 C</a:t>
            </a:r>
            <a:endParaRPr lang="en-US" sz="9000" dirty="0"/>
          </a:p>
        </p:txBody>
      </p:sp>
      <p:sp>
        <p:nvSpPr>
          <p:cNvPr id="4" name="Shape 2"/>
          <p:cNvSpPr/>
          <p:nvPr/>
        </p:nvSpPr>
        <p:spPr>
          <a:xfrm>
            <a:off x="859536" y="3913632"/>
            <a:ext cx="146304" cy="146304"/>
          </a:xfrm>
          <a:prstGeom prst="rect">
            <a:avLst/>
          </a:prstGeom>
          <a:solidFill>
            <a:srgbClr val="C74634"/>
          </a:solidFill>
          <a:ln w="12700">
            <a:solidFill>
              <a:srgbClr val="C74634"/>
            </a:solidFill>
            <a:prstDash val="solid"/>
          </a:ln>
        </p:spPr>
      </p:sp>
      <p:sp>
        <p:nvSpPr>
          <p:cNvPr id="5" name="Text 3"/>
          <p:cNvSpPr/>
          <p:nvPr/>
        </p:nvSpPr>
        <p:spPr>
          <a:xfrm>
            <a:off x="841248" y="4160520"/>
            <a:ext cx="10506456" cy="822960"/>
          </a:xfrm>
          <a:prstGeom prst="rect">
            <a:avLst/>
          </a:prstGeom>
          <a:noFill/>
          <a:ln/>
        </p:spPr>
        <p:txBody>
          <a:bodyPr wrap="square" lIns="0" tIns="0" rIns="0" bIns="0" rtlCol="0" anchor="t"/>
          <a:lstStyle/>
          <a:p>
            <a:pPr algn="l" indent="0" marL="0">
              <a:buNone/>
            </a:pPr>
            <a:r>
              <a:rPr lang="en-US" sz="4000" b="1" dirty="0">
                <a:solidFill>
                  <a:srgbClr val="FFFFFF"/>
                </a:solidFill>
                <a:latin typeface="맑은 고딕" pitchFamily="34" charset="0"/>
                <a:ea typeface="맑은 고딕" pitchFamily="34" charset="-122"/>
                <a:cs typeface="맑은 고딕" pitchFamily="34" charset="-120"/>
              </a:rPr>
              <a:t>핵심 쿼리 모음</a:t>
            </a:r>
            <a:endParaRPr lang="en-US" sz="4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핵심 쿼리 모음</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1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83</a:t>
            </a:r>
            <a:endParaRPr lang="en-US" sz="900" dirty="0"/>
          </a:p>
        </p:txBody>
      </p:sp>
      <p:sp>
        <p:nvSpPr>
          <p:cNvPr id="8" name="Shape 6"/>
          <p:cNvSpPr/>
          <p:nvPr/>
        </p:nvSpPr>
        <p:spPr>
          <a:xfrm>
            <a:off x="841248" y="1737360"/>
            <a:ext cx="10506456" cy="4105656"/>
          </a:xfrm>
          <a:prstGeom prst="roundRect">
            <a:avLst>
              <a:gd name="adj" fmla="val 1336"/>
            </a:avLst>
          </a:prstGeom>
          <a:solidFill>
            <a:srgbClr val="0F172A"/>
          </a:solidFill>
          <a:ln w="12700">
            <a:solidFill>
              <a:srgbClr val="0F172A"/>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3282696"/>
          </a:xfrm>
          <a:prstGeom prst="rect">
            <a:avLst/>
          </a:prstGeom>
          <a:noFill/>
          <a:ln/>
        </p:spPr>
        <p:txBody>
          <a:bodyPr wrap="square" lIns="0" tIns="0" rIns="0" bIns="0" rtlCol="0" anchor="t"/>
          <a:lstStyle/>
          <a:p>
            <a:pPr algn="l" indent="0" marL="0">
              <a:buNone/>
            </a:pPr>
            <a:r>
              <a:rPr lang="en-US" sz="1250" dirty="0">
                <a:solidFill>
                  <a:srgbClr val="64748B"/>
                </a:solidFill>
                <a:latin typeface="Consolas" pitchFamily="34" charset="0"/>
                <a:ea typeface="Consolas" pitchFamily="34" charset="-122"/>
                <a:cs typeface="Consolas" pitchFamily="34" charset="-120"/>
              </a:rPr>
              <a:t>-- latch / bucket 개수</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count(*) from v$latch_children where name='cache buffers chains';   -- 1024</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count(*) from v$latch_children where name='cache buffers lru chain'; -- 36</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히든 파라미터 조회 (ksppinm 값만 바꿔 재사용)</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a.ksppinm parameter, b.ksppstvl value from x$ksppi a, x$ksppcv b</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where a.indx=b.indx and a.ksppinm='_db_block_hash_latches';</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 _db_block_hash_buckets · _db_block_lru_latches · _db_aging_touch_time</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 _db_aging_hot_criteria · _db_block_max_scan_pct · _serial_direct_read</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 _shared_pool_reserved_pct · _shared_pool_reserved_min_alloc</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블록 클래스 / 버퍼 풀 / 실행계획</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class from v$waitstat;</a:t>
            </a:r>
            <a:endParaRPr lang="en-US" sz="12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핵심 쿼리 모음</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2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84</a:t>
            </a:r>
            <a:endParaRPr lang="en-US" sz="900" dirty="0"/>
          </a:p>
        </p:txBody>
      </p:sp>
      <p:sp>
        <p:nvSpPr>
          <p:cNvPr id="8" name="Shape 6"/>
          <p:cNvSpPr/>
          <p:nvPr/>
        </p:nvSpPr>
        <p:spPr>
          <a:xfrm>
            <a:off x="841248" y="1737360"/>
            <a:ext cx="10506456" cy="4105656"/>
          </a:xfrm>
          <a:prstGeom prst="roundRect">
            <a:avLst>
              <a:gd name="adj" fmla="val 1336"/>
            </a:avLst>
          </a:prstGeom>
          <a:solidFill>
            <a:srgbClr val="0F172A"/>
          </a:solidFill>
          <a:ln w="12700">
            <a:solidFill>
              <a:srgbClr val="0F172A"/>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3282696"/>
          </a:xfrm>
          <a:prstGeom prst="rect">
            <a:avLst/>
          </a:prstGeom>
          <a:noFill/>
          <a:ln/>
        </p:spPr>
        <p:txBody>
          <a:bodyPr wrap="square" lIns="0" tIns="0" rIns="0" bIns="0" rtlCol="0" anchor="t"/>
          <a:lstStyle/>
          <a:p>
            <a:pPr algn="l" indent="0" marL="0">
              <a:buNone/>
            </a:pPr>
            <a:r>
              <a:rPr lang="en-US" sz="1250" dirty="0">
                <a:solidFill>
                  <a:srgbClr val="E2E8F0"/>
                </a:solidFill>
                <a:latin typeface="Consolas" pitchFamily="34" charset="0"/>
                <a:ea typeface="Consolas" pitchFamily="34" charset="-122"/>
                <a:cs typeface="Consolas" pitchFamily="34" charset="-120"/>
              </a:rPr>
              <a:t>&gt; select name, block_size, buffers from v$buffer_pool;  -- DEFAULT 8192 37202</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explain plan for select /*+ index(e emp_idx) */ * from hr.emp e where id&gt;=0;</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 from table(dbms_xplan.display());</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 from table(dbms_xplan.display_cursor('&lt;sql_id&gt;'));</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세션 대기 / 진행 중 트랜잭션</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sid, event, total_waits, time_waited from v$session_event</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where sid in (select sid from v$session where username='HR');</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s.username, t.xidusn, t.ubafil, t.ubablk, t.used_ublk</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from v$session s, v$transaction t where s.saddr=t.ses_addr;</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테스트 초기화 / direct path read 끄기</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alter system flush shared_pool;</a:t>
            </a:r>
            <a:endParaRPr lang="en-US" sz="12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핵심 쿼리 모음</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3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85</a:t>
            </a:r>
            <a:endParaRPr lang="en-US" sz="900" dirty="0"/>
          </a:p>
        </p:txBody>
      </p:sp>
      <p:sp>
        <p:nvSpPr>
          <p:cNvPr id="8" name="Shape 6"/>
          <p:cNvSpPr/>
          <p:nvPr/>
        </p:nvSpPr>
        <p:spPr>
          <a:xfrm>
            <a:off x="841248" y="1737360"/>
            <a:ext cx="10506456" cy="4105656"/>
          </a:xfrm>
          <a:prstGeom prst="roundRect">
            <a:avLst>
              <a:gd name="adj" fmla="val 1336"/>
            </a:avLst>
          </a:prstGeom>
          <a:solidFill>
            <a:srgbClr val="0F172A"/>
          </a:solidFill>
          <a:ln w="12700">
            <a:solidFill>
              <a:srgbClr val="0F172A"/>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3282696"/>
          </a:xfrm>
          <a:prstGeom prst="rect">
            <a:avLst/>
          </a:prstGeom>
          <a:noFill/>
          <a:ln/>
        </p:spPr>
        <p:txBody>
          <a:bodyPr wrap="square" lIns="0" tIns="0" rIns="0" bIns="0" rtlCol="0" anchor="t"/>
          <a:lstStyle/>
          <a:p>
            <a:pPr algn="l" indent="0" marL="0">
              <a:buNone/>
            </a:pPr>
            <a:r>
              <a:rPr lang="en-US" sz="1250" dirty="0">
                <a:solidFill>
                  <a:srgbClr val="E2E8F0"/>
                </a:solidFill>
                <a:latin typeface="Consolas" pitchFamily="34" charset="0"/>
                <a:ea typeface="Consolas" pitchFamily="34" charset="-122"/>
                <a:cs typeface="Consolas" pitchFamily="34" charset="-120"/>
              </a:rPr>
              <a:t>&gt; alter system flush buffer_cache;</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alter session set events '10949 trace name context forever, level 1';</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redo 통계 / commit 관찰 (65)</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n.name, sum(s.value) from v$sesstat s, v$statname n</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where n.name in ('redo entries','redo size','redo synch writes','user commits','user rollbacks')</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and s.statistic#=n.statistic# and s.sid=(select sid from v$session where username='HR')</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group by n.name;</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event, total_waits, time_waited from v$session_event</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where sid=(select sid from v$session where username='HR') and event='log file sync';</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64748B"/>
                </a:solidFill>
                <a:latin typeface="Consolas" pitchFamily="34" charset="0"/>
                <a:ea typeface="Consolas" pitchFamily="34" charset="-122"/>
                <a:cs typeface="Consolas" pitchFamily="34" charset="-120"/>
              </a:rPr>
              <a:t>-- redo latch / private strand (65)</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name, gets from v$latch_children where name='redo copy';        -- _log_simultaneous_copies=4</a:t>
            </a:r>
            <a:endParaRPr lang="en-US" sz="12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1248" y="868680"/>
            <a:ext cx="128016" cy="128016"/>
          </a:xfrm>
          <a:prstGeom prst="rect">
            <a:avLst/>
          </a:prstGeom>
          <a:solidFill>
            <a:srgbClr val="C74634"/>
          </a:solidFill>
          <a:ln w="12700">
            <a:solidFill>
              <a:srgbClr val="C74634"/>
            </a:solidFill>
            <a:prstDash val="solid"/>
          </a:ln>
        </p:spPr>
      </p:sp>
      <p:sp>
        <p:nvSpPr>
          <p:cNvPr id="3" name="Text 1"/>
          <p:cNvSpPr/>
          <p:nvPr/>
        </p:nvSpPr>
        <p:spPr>
          <a:xfrm>
            <a:off x="1097280" y="658368"/>
            <a:ext cx="8412480" cy="640080"/>
          </a:xfrm>
          <a:prstGeom prst="rect">
            <a:avLst/>
          </a:prstGeom>
          <a:noFill/>
          <a:ln/>
        </p:spPr>
        <p:txBody>
          <a:bodyPr wrap="square" lIns="0" tIns="0" rIns="0" bIns="0" rtlCol="0" anchor="ctr"/>
          <a:lstStyle/>
          <a:p>
            <a:pPr algn="l" indent="0" marL="0">
              <a:buNone/>
            </a:pPr>
            <a:r>
              <a:rPr lang="en-US" sz="2600" b="1" dirty="0">
                <a:solidFill>
                  <a:srgbClr val="1E293B"/>
                </a:solidFill>
                <a:latin typeface="맑은 고딕" pitchFamily="34" charset="0"/>
                <a:ea typeface="맑은 고딕" pitchFamily="34" charset="-122"/>
                <a:cs typeface="맑은 고딕" pitchFamily="34" charset="-120"/>
              </a:rPr>
              <a:t>핵심 쿼리 모음</a:t>
            </a:r>
            <a:endParaRPr lang="en-US" sz="26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58368"/>
            <a:ext cx="1463040" cy="640080"/>
          </a:xfrm>
          <a:prstGeom prst="rect">
            <a:avLst/>
          </a:prstGeom>
          <a:noFill/>
          <a:ln/>
        </p:spPr>
        <p:txBody>
          <a:bodyPr wrap="square" lIns="0" tIns="0" rIns="0" bIns="0" rtlCol="0" anchor="ctr"/>
          <a:lstStyle/>
          <a:p>
            <a:pPr algn="r" indent="0" marL="0">
              <a:buNone/>
            </a:pPr>
            <a:r>
              <a:rPr lang="en-US" sz="1100" dirty="0">
                <a:solidFill>
                  <a:srgbClr val="94A3B8"/>
                </a:solidFill>
                <a:latin typeface="맑은 고딕" pitchFamily="34" charset="0"/>
                <a:ea typeface="맑은 고딕" pitchFamily="34" charset="-122"/>
                <a:cs typeface="맑은 고딕" pitchFamily="34" charset="-120"/>
              </a:rPr>
              <a:t>4 / 4</a:t>
            </a:r>
            <a:endParaRPr lang="en-US" sz="1100" dirty="0"/>
          </a:p>
        </p:txBody>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맑은 고딕" pitchFamily="34" charset="0"/>
                <a:ea typeface="맑은 고딕" pitchFamily="34" charset="-122"/>
                <a:cs typeface="맑은 고딕" pitchFamily="34" charset="-120"/>
              </a:rPr>
              <a:t>Oracle DBA · SQL 한 줄이 메모리에서 처리되는 모든 과정</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맑은 고딕" pitchFamily="34" charset="0"/>
                <a:ea typeface="맑은 고딕" pitchFamily="34" charset="-122"/>
                <a:cs typeface="맑은 고딕" pitchFamily="34" charset="-120"/>
              </a:rPr>
              <a:t>86</a:t>
            </a:r>
            <a:endParaRPr lang="en-US" sz="900" dirty="0"/>
          </a:p>
        </p:txBody>
      </p:sp>
      <p:sp>
        <p:nvSpPr>
          <p:cNvPr id="8" name="Shape 6"/>
          <p:cNvSpPr/>
          <p:nvPr/>
        </p:nvSpPr>
        <p:spPr>
          <a:xfrm>
            <a:off x="841248" y="1737360"/>
            <a:ext cx="10506456" cy="1545336"/>
          </a:xfrm>
          <a:prstGeom prst="roundRect">
            <a:avLst>
              <a:gd name="adj" fmla="val 3550"/>
            </a:avLst>
          </a:prstGeom>
          <a:solidFill>
            <a:srgbClr val="0F172A"/>
          </a:solidFill>
          <a:ln w="12700">
            <a:solidFill>
              <a:srgbClr val="0F172A"/>
            </a:solidFill>
            <a:prstDash val="solid"/>
          </a:ln>
          <a:effectLst>
            <a:outerShdw sx="100000" sy="100000" kx="0" ky="0" algn="bl" rotWithShape="0" blurRad="101600" dist="38100" dir="5400000">
              <a:srgbClr val="000000">
                <a:alpha val="10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722376"/>
          </a:xfrm>
          <a:prstGeom prst="rect">
            <a:avLst/>
          </a:prstGeom>
          <a:noFill/>
          <a:ln/>
        </p:spPr>
        <p:txBody>
          <a:bodyPr wrap="square" lIns="0" tIns="0" rIns="0" bIns="0" rtlCol="0" anchor="t"/>
          <a:lstStyle/>
          <a:p>
            <a:pPr algn="l" indent="0" marL="0">
              <a:buNone/>
            </a:pPr>
            <a:r>
              <a:rPr lang="en-US" sz="1250" dirty="0">
                <a:solidFill>
                  <a:srgbClr val="E2E8F0"/>
                </a:solidFill>
                <a:latin typeface="Consolas" pitchFamily="34" charset="0"/>
                <a:ea typeface="Consolas" pitchFamily="34" charset="-122"/>
                <a:cs typeface="Consolas" pitchFamily="34" charset="-120"/>
              </a:rPr>
              <a:t>&gt; select count(*) from v$latch_children where name='redo allocation';     -- 53</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name, gets from v$latch_parent where name='redo writing';         -- 1개</a:t>
            </a:r>
            <a:endParaRPr lang="en-US" sz="1250" dirty="0"/>
          </a:p>
          <a:p>
            <a:pPr algn="l" indent="0" marL="0">
              <a:buNone/>
            </a:pPr>
            <a:r>
              <a:rPr lang="en-US" sz="1250" dirty="0">
                <a:solidFill>
                  <a:srgbClr val="E2E8F0"/>
                </a:solidFill>
                <a:latin typeface="Consolas" pitchFamily="34" charset="0"/>
                <a:ea typeface="Consolas" pitchFamily="34" charset="-122"/>
                <a:cs typeface="Consolas" pitchFamily="34" charset="-120"/>
              </a:rPr>
              <a:t>&gt; select * from v$sgastat where name='private strands';                    -- _log_private_mul=0.5%</a:t>
            </a:r>
            <a:endParaRPr lang="en-US" sz="12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C74634"/>
          </a:solidFill>
          <a:ln w="12700">
            <a:solidFill>
              <a:srgbClr val="C74634"/>
            </a:solidFill>
            <a:prstDash val="solid"/>
          </a:ln>
        </p:spPr>
      </p:sp>
      <p:sp>
        <p:nvSpPr>
          <p:cNvPr id="3" name="Text 1"/>
          <p:cNvSpPr/>
          <p:nvPr/>
        </p:nvSpPr>
        <p:spPr>
          <a:xfrm>
            <a:off x="841248" y="0"/>
            <a:ext cx="3657600" cy="658368"/>
          </a:xfrm>
          <a:prstGeom prst="rect">
            <a:avLst/>
          </a:prstGeom>
          <a:noFill/>
          <a:ln/>
        </p:spPr>
        <p:txBody>
          <a:bodyPr wrap="square" lIns="0" tIns="0" rIns="0" bIns="0" rtlCol="0" anchor="ctr"/>
          <a:lstStyle/>
          <a:p>
            <a:pPr algn="l" indent="0" marL="0">
              <a:buNone/>
            </a:pPr>
            <a:r>
              <a:rPr lang="en-US" sz="2200" b="1" spc="300" kern="0" dirty="0">
                <a:solidFill>
                  <a:srgbClr val="FFFFFF"/>
                </a:solidFill>
                <a:latin typeface="맑은 고딕" pitchFamily="34" charset="0"/>
                <a:ea typeface="맑은 고딕" pitchFamily="34" charset="-122"/>
                <a:cs typeface="맑은 고딕" pitchFamily="34" charset="-120"/>
              </a:rPr>
              <a:t>ORACLE</a:t>
            </a:r>
            <a:endParaRPr lang="en-US" sz="2200" dirty="0"/>
          </a:p>
        </p:txBody>
      </p:sp>
      <p:sp>
        <p:nvSpPr>
          <p:cNvPr id="4" name="Text 2"/>
          <p:cNvSpPr/>
          <p:nvPr/>
        </p:nvSpPr>
        <p:spPr>
          <a:xfrm>
            <a:off x="841248" y="27432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3931920"/>
            <a:ext cx="10506456" cy="548640"/>
          </a:xfrm>
          <a:prstGeom prst="rect">
            <a:avLst/>
          </a:prstGeom>
          <a:noFill/>
          <a:ln/>
        </p:spPr>
        <p:txBody>
          <a:bodyPr wrap="square" lIns="0" tIns="0" rIns="0" bIns="0" rtlCol="0" anchor="t"/>
          <a:lstStyle/>
          <a:p>
            <a:pPr algn="l" indent="0" marL="0">
              <a:buNone/>
            </a:pPr>
            <a:r>
              <a:rPr lang="en-US" sz="1600" dirty="0">
                <a:solidFill>
                  <a:srgbClr val="94A3B8"/>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한 줄이 메모리에서 처리되는 모든 과정</dc:title>
  <dc:subject>PptxGenJS Presentation</dc:subject>
  <dc:creator>Oracle DBA Study</dc:creator>
  <cp:lastModifiedBy>Oracle DBA Study</cp:lastModifiedBy>
  <cp:revision>1</cp:revision>
  <dcterms:created xsi:type="dcterms:W3CDTF">2026-07-01T01:39:19Z</dcterms:created>
  <dcterms:modified xsi:type="dcterms:W3CDTF">2026-07-01T01:39:19Z</dcterms:modified>
</cp:coreProperties>
</file>
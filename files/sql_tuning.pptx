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slideMasters/slideMaster81.xml" ContentType="application/vnd.openxmlformats-officedocument.presentationml.slideMaster+xml"/>
  <Override PartName="/ppt/slides/slide81.xml" ContentType="application/vnd.openxmlformats-officedocument.presentationml.slide+xml"/>
  <Override PartName="/ppt/slideMasters/slideMaster82.xml" ContentType="application/vnd.openxmlformats-officedocument.presentationml.slideMaster+xml"/>
  <Override PartName="/ppt/slides/slide82.xml" ContentType="application/vnd.openxmlformats-officedocument.presentationml.slide+xml"/>
  <Override PartName="/ppt/slideMasters/slideMaster83.xml" ContentType="application/vnd.openxmlformats-officedocument.presentationml.slideMaster+xml"/>
  <Override PartName="/ppt/slides/slide83.xml" ContentType="application/vnd.openxmlformats-officedocument.presentationml.slide+xml"/>
  <Override PartName="/ppt/slideMasters/slideMaster84.xml" ContentType="application/vnd.openxmlformats-officedocument.presentationml.slideMaster+xml"/>
  <Override PartName="/ppt/slides/slide84.xml" ContentType="application/vnd.openxmlformats-officedocument.presentationml.slide+xml"/>
  <Override PartName="/ppt/slideMasters/slideMaster85.xml" ContentType="application/vnd.openxmlformats-officedocument.presentationml.slideMaster+xml"/>
  <Override PartName="/ppt/slides/slide85.xml" ContentType="application/vnd.openxmlformats-officedocument.presentationml.slide+xml"/>
  <Override PartName="/ppt/slideMasters/slideMaster86.xml" ContentType="application/vnd.openxmlformats-officedocument.presentationml.slideMaster+xml"/>
  <Override PartName="/ppt/slides/slide86.xml" ContentType="application/vnd.openxmlformats-officedocument.presentationml.slide+xml"/>
  <Override PartName="/ppt/slideMasters/slideMaster87.xml" ContentType="application/vnd.openxmlformats-officedocument.presentationml.slideMaster+xml"/>
  <Override PartName="/ppt/slides/slide87.xml" ContentType="application/vnd.openxmlformats-officedocument.presentationml.slide+xml"/>
  <Override PartName="/ppt/slideMasters/slideMaster88.xml" ContentType="application/vnd.openxmlformats-officedocument.presentationml.slideMaster+xml"/>
  <Override PartName="/ppt/slides/slide88.xml" ContentType="application/vnd.openxmlformats-officedocument.presentationml.slide+xml"/>
  <Override PartName="/ppt/slideMasters/slideMaster89.xml" ContentType="application/vnd.openxmlformats-officedocument.presentationml.slideMaster+xml"/>
  <Override PartName="/ppt/slides/slide89.xml" ContentType="application/vnd.openxmlformats-officedocument.presentationml.slide+xml"/>
  <Override PartName="/ppt/slideMasters/slideMaster90.xml" ContentType="application/vnd.openxmlformats-officedocument.presentationml.slideMaster+xml"/>
  <Override PartName="/ppt/slides/slide90.xml" ContentType="application/vnd.openxmlformats-officedocument.presentationml.slide+xml"/>
  <Override PartName="/ppt/slideMasters/slideMaster91.xml" ContentType="application/vnd.openxmlformats-officedocument.presentationml.slideMaster+xml"/>
  <Override PartName="/ppt/slides/slide91.xml" ContentType="application/vnd.openxmlformats-officedocument.presentationml.slide+xml"/>
  <Override PartName="/ppt/slideMasters/slideMaster92.xml" ContentType="application/vnd.openxmlformats-officedocument.presentationml.slideMaster+xml"/>
  <Override PartName="/ppt/slides/slide92.xml" ContentType="application/vnd.openxmlformats-officedocument.presentationml.slide+xml"/>
  <Override PartName="/ppt/slideMasters/slideMaster93.xml" ContentType="application/vnd.openxmlformats-officedocument.presentationml.slideMaster+xml"/>
  <Override PartName="/ppt/slides/slide93.xml" ContentType="application/vnd.openxmlformats-officedocument.presentationml.slide+xml"/>
  <Override PartName="/ppt/slideMasters/slideMaster94.xml" ContentType="application/vnd.openxmlformats-officedocument.presentationml.slideMaster+xml"/>
  <Override PartName="/ppt/slides/slide94.xml" ContentType="application/vnd.openxmlformats-officedocument.presentationml.slide+xml"/>
  <Override PartName="/ppt/slideMasters/slideMaster95.xml" ContentType="application/vnd.openxmlformats-officedocument.presentationml.slideMaster+xml"/>
  <Override PartName="/ppt/slides/slide95.xml" ContentType="application/vnd.openxmlformats-officedocument.presentationml.slide+xml"/>
  <Override PartName="/ppt/slideMasters/slideMaster96.xml" ContentType="application/vnd.openxmlformats-officedocument.presentationml.slideMaster+xml"/>
  <Override PartName="/ppt/slides/slide96.xml" ContentType="application/vnd.openxmlformats-officedocument.presentationml.slide+xml"/>
  <Override PartName="/ppt/slideMasters/slideMaster97.xml" ContentType="application/vnd.openxmlformats-officedocument.presentationml.slideMaster+xml"/>
  <Override PartName="/ppt/slides/slide97.xml" ContentType="application/vnd.openxmlformats-officedocument.presentationml.slide+xml"/>
  <Override PartName="/ppt/slideMasters/slideMaster98.xml" ContentType="application/vnd.openxmlformats-officedocument.presentationml.slideMaster+xml"/>
  <Override PartName="/ppt/slides/slide98.xml" ContentType="application/vnd.openxmlformats-officedocument.presentationml.slide+xml"/>
  <Override PartName="/ppt/slideMasters/slideMaster99.xml" ContentType="application/vnd.openxmlformats-officedocument.presentationml.slideMaster+xml"/>
  <Override PartName="/ppt/slides/slide99.xml" ContentType="application/vnd.openxmlformats-officedocument.presentationml.slide+xml"/>
  <Override PartName="/ppt/slideMasters/slideMaster100.xml" ContentType="application/vnd.openxmlformats-officedocument.presentationml.slideMaster+xml"/>
  <Override PartName="/ppt/slides/slide100.xml" ContentType="application/vnd.openxmlformats-officedocument.presentationml.slide+xml"/>
  <Override PartName="/ppt/slideMasters/slideMaster101.xml" ContentType="application/vnd.openxmlformats-officedocument.presentationml.slideMaster+xml"/>
  <Override PartName="/ppt/slides/slide101.xml" ContentType="application/vnd.openxmlformats-officedocument.presentationml.slide+xml"/>
  <Override PartName="/ppt/slideMasters/slideMaster102.xml" ContentType="application/vnd.openxmlformats-officedocument.presentationml.slideMaster+xml"/>
  <Override PartName="/ppt/slides/slide102.xml" ContentType="application/vnd.openxmlformats-officedocument.presentationml.slide+xml"/>
  <Override PartName="/ppt/slideMasters/slideMaster103.xml" ContentType="application/vnd.openxmlformats-officedocument.presentationml.slideMaster+xml"/>
  <Override PartName="/ppt/slides/slide103.xml" ContentType="application/vnd.openxmlformats-officedocument.presentationml.slide+xml"/>
  <Override PartName="/ppt/slideMasters/slideMaster104.xml" ContentType="application/vnd.openxmlformats-officedocument.presentationml.slideMaster+xml"/>
  <Override PartName="/ppt/slides/slide104.xml" ContentType="application/vnd.openxmlformats-officedocument.presentationml.slide+xml"/>
  <Override PartName="/ppt/slideMasters/slideMaster105.xml" ContentType="application/vnd.openxmlformats-officedocument.presentationml.slideMaster+xml"/>
  <Override PartName="/ppt/slides/slide105.xml" ContentType="application/vnd.openxmlformats-officedocument.presentationml.slide+xml"/>
  <Override PartName="/ppt/slideMasters/slideMaster106.xml" ContentType="application/vnd.openxmlformats-officedocument.presentationml.slideMaster+xml"/>
  <Override PartName="/ppt/slides/slide106.xml" ContentType="application/vnd.openxmlformats-officedocument.presentationml.slide+xml"/>
  <Override PartName="/ppt/slideMasters/slideMaster107.xml" ContentType="application/vnd.openxmlformats-officedocument.presentationml.slideMaster+xml"/>
  <Override PartName="/ppt/slides/slide107.xml" ContentType="application/vnd.openxmlformats-officedocument.presentationml.slide+xml"/>
  <Override PartName="/ppt/slideMasters/slideMaster108.xml" ContentType="application/vnd.openxmlformats-officedocument.presentationml.slideMaster+xml"/>
  <Override PartName="/ppt/slides/slide108.xml" ContentType="application/vnd.openxmlformats-officedocument.presentationml.slide+xml"/>
  <Override PartName="/ppt/slideMasters/slideMaster109.xml" ContentType="application/vnd.openxmlformats-officedocument.presentationml.slideMaster+xml"/>
  <Override PartName="/ppt/slides/slide109.xml" ContentType="application/vnd.openxmlformats-officedocument.presentationml.slide+xml"/>
  <Override PartName="/ppt/slideMasters/slideMaster110.xml" ContentType="application/vnd.openxmlformats-officedocument.presentationml.slideMaster+xml"/>
  <Override PartName="/ppt/slides/slide1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  <p:sldId id="343" r:id="rId89"/>
    <p:sldId id="344" r:id="rId90"/>
    <p:sldId id="345" r:id="rId91"/>
    <p:sldId id="346" r:id="rId92"/>
    <p:sldId id="347" r:id="rId93"/>
    <p:sldId id="348" r:id="rId94"/>
    <p:sldId id="349" r:id="rId95"/>
    <p:sldId id="350" r:id="rId96"/>
    <p:sldId id="351" r:id="rId97"/>
    <p:sldId id="352" r:id="rId98"/>
    <p:sldId id="353" r:id="rId99"/>
    <p:sldId id="354" r:id="rId100"/>
    <p:sldId id="355" r:id="rId101"/>
    <p:sldId id="356" r:id="rId102"/>
    <p:sldId id="357" r:id="rId103"/>
    <p:sldId id="358" r:id="rId104"/>
    <p:sldId id="359" r:id="rId105"/>
    <p:sldId id="360" r:id="rId106"/>
    <p:sldId id="361" r:id="rId107"/>
    <p:sldId id="362" r:id="rId108"/>
    <p:sldId id="363" r:id="rId109"/>
    <p:sldId id="364" r:id="rId110"/>
    <p:sldId id="365" r:id="rId111"/>
  </p:sldIdLst>
  <p:notesMasterIdLst>
    <p:notesMasterId r:id="rId1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slide" Target="slides/slide83.xml"/><Relationship Id="rId85" Type="http://schemas.openxmlformats.org/officeDocument/2006/relationships/slide" Target="slides/slide84.xml"/><Relationship Id="rId86" Type="http://schemas.openxmlformats.org/officeDocument/2006/relationships/slide" Target="slides/slide85.xml"/><Relationship Id="rId87" Type="http://schemas.openxmlformats.org/officeDocument/2006/relationships/slide" Target="slides/slide86.xml"/><Relationship Id="rId88" Type="http://schemas.openxmlformats.org/officeDocument/2006/relationships/slide" Target="slides/slide87.xml"/><Relationship Id="rId89" Type="http://schemas.openxmlformats.org/officeDocument/2006/relationships/slide" Target="slides/slide88.xml"/><Relationship Id="rId90" Type="http://schemas.openxmlformats.org/officeDocument/2006/relationships/slide" Target="slides/slide89.xml"/><Relationship Id="rId91" Type="http://schemas.openxmlformats.org/officeDocument/2006/relationships/slide" Target="slides/slide90.xml"/><Relationship Id="rId92" Type="http://schemas.openxmlformats.org/officeDocument/2006/relationships/slide" Target="slides/slide91.xml"/><Relationship Id="rId93" Type="http://schemas.openxmlformats.org/officeDocument/2006/relationships/slide" Target="slides/slide92.xml"/><Relationship Id="rId94" Type="http://schemas.openxmlformats.org/officeDocument/2006/relationships/slide" Target="slides/slide93.xml"/><Relationship Id="rId95" Type="http://schemas.openxmlformats.org/officeDocument/2006/relationships/slide" Target="slides/slide94.xml"/><Relationship Id="rId96" Type="http://schemas.openxmlformats.org/officeDocument/2006/relationships/slide" Target="slides/slide95.xml"/><Relationship Id="rId97" Type="http://schemas.openxmlformats.org/officeDocument/2006/relationships/slide" Target="slides/slide96.xml"/><Relationship Id="rId98" Type="http://schemas.openxmlformats.org/officeDocument/2006/relationships/slide" Target="slides/slide97.xml"/><Relationship Id="rId99" Type="http://schemas.openxmlformats.org/officeDocument/2006/relationships/slide" Target="slides/slide98.xml"/><Relationship Id="rId100" Type="http://schemas.openxmlformats.org/officeDocument/2006/relationships/slide" Target="slides/slide99.xml"/><Relationship Id="rId101" Type="http://schemas.openxmlformats.org/officeDocument/2006/relationships/slide" Target="slides/slide100.xml"/><Relationship Id="rId102" Type="http://schemas.openxmlformats.org/officeDocument/2006/relationships/slide" Target="slides/slide101.xml"/><Relationship Id="rId103" Type="http://schemas.openxmlformats.org/officeDocument/2006/relationships/slide" Target="slides/slide102.xml"/><Relationship Id="rId104" Type="http://schemas.openxmlformats.org/officeDocument/2006/relationships/slide" Target="slides/slide103.xml"/><Relationship Id="rId105" Type="http://schemas.openxmlformats.org/officeDocument/2006/relationships/slide" Target="slides/slide104.xml"/><Relationship Id="rId106" Type="http://schemas.openxmlformats.org/officeDocument/2006/relationships/slide" Target="slides/slide105.xml"/><Relationship Id="rId107" Type="http://schemas.openxmlformats.org/officeDocument/2006/relationships/slide" Target="slides/slide106.xml"/><Relationship Id="rId108" Type="http://schemas.openxmlformats.org/officeDocument/2006/relationships/slide" Target="slides/slide107.xml"/><Relationship Id="rId109" Type="http://schemas.openxmlformats.org/officeDocument/2006/relationships/slide" Target="slides/slide108.xml"/><Relationship Id="rId110" Type="http://schemas.openxmlformats.org/officeDocument/2006/relationships/slide" Target="slides/slide109.xml"/><Relationship Id="rId111" Type="http://schemas.openxmlformats.org/officeDocument/2006/relationships/slide" Target="slides/slide110.xml"/><Relationship Id="rId112" Type="http://schemas.openxmlformats.org/officeDocument/2006/relationships/notesMaster" Target="notesMasters/notesMaster1.xml"/><Relationship Id="rId113" Type="http://schemas.openxmlformats.org/officeDocument/2006/relationships/presProps" Target="presProps.xml"/><Relationship Id="rId114" Type="http://schemas.openxmlformats.org/officeDocument/2006/relationships/viewProps" Target="viewProps.xml"/><Relationship Id="rId115" Type="http://schemas.openxmlformats.org/officeDocument/2006/relationships/theme" Target="theme/theme1.xml"/><Relationship Id="rId1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_rels/notesSlide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1.xml"/>
		</Relationships>
</file>

<file path=ppt/notesSlides/_rels/notesSlide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2.xml"/>
		</Relationships>
</file>

<file path=ppt/notesSlides/_rels/notesSlide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3.xml"/>
		</Relationships>
</file>

<file path=ppt/notesSlides/_rels/notesSlide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4.xml"/>
		</Relationships>
</file>

<file path=ppt/notesSlides/_rels/notesSlide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5.xml"/>
		</Relationships>
</file>

<file path=ppt/notesSlides/_rels/notesSlide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6.xml"/>
		</Relationships>
</file>

<file path=ppt/notesSlides/_rels/notesSlide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7.xml"/>
		</Relationships>
</file>

<file path=ppt/notesSlides/_rels/notesSlide8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8.xml"/>
		</Relationships>
</file>

<file path=ppt/notesSlides/_rels/notesSlide8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9.xml"/>
		</Relationships>
</file>

<file path=ppt/notesSlides/_rels/notesSlide9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0.xml"/>
		</Relationships>
</file>

<file path=ppt/notesSlides/_rels/notesSlide9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1.xml"/>
		</Relationships>
</file>

<file path=ppt/notesSlides/_rels/notesSlide9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2.xml"/>
		</Relationships>
</file>

<file path=ppt/notesSlides/_rels/notesSlide9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3.xml"/>
		</Relationships>
</file>

<file path=ppt/notesSlides/_rels/notesSlide9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4.xml"/>
		</Relationships>
</file>

<file path=ppt/notesSlides/_rels/notesSlide9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5.xml"/>
		</Relationships>
</file>

<file path=ppt/notesSlides/_rels/notesSlide9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6.xml"/>
		</Relationships>
</file>

<file path=ppt/notesSlides/_rels/notesSlide9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7.xml"/>
		</Relationships>
</file>

<file path=ppt/notesSlides/_rels/notesSlide9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8.xml"/>
		</Relationships>
</file>

<file path=ppt/notesSlides/_rels/notesSlide9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9.xml"/>
		</Relationships>
</file>

<file path=ppt/notesSlides/_rels/notesSlide10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0.xml"/>
		</Relationships>
</file>

<file path=ppt/notesSlides/_rels/notesSlide10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1.xml"/>
		</Relationships>
</file>

<file path=ppt/notesSlides/_rels/notesSlide10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2.xml"/>
		</Relationships>
</file>

<file path=ppt/notesSlides/_rels/notesSlide10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3.xml"/>
		</Relationships>
</file>

<file path=ppt/notesSlides/_rels/notesSlide10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4.xml"/>
		</Relationships>
</file>

<file path=ppt/notesSlides/_rels/notesSlide10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5.xml"/>
		</Relationships>
</file>

<file path=ppt/notesSlides/_rels/notesSlide10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6.xml"/>
		</Relationships>
</file>

<file path=ppt/notesSlides/_rels/notesSlide10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7.xml"/>
		</Relationships>
</file>

<file path=ppt/notesSlides/_rels/notesSlide10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8.xml"/>
		</Relationships>
</file>

<file path=ppt/notesSlides/_rels/notesSlide10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9.xml"/>
		</Relationships>
</file>

<file path=ppt/notesSlides/_rels/notesSlide1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1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4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5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6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7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8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9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0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1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2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3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4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5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6.xml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7.xml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8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9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0.xml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1.xml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2.xml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3.xml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4.xml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5.xml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6.xml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7.xml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8.xml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9.xml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0.xml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1.xml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2.xml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3.xml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4.xml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5.xml"/></Relationships>
</file>

<file path=ppt/slides/_rels/slide1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6.xml"/></Relationships>
</file>

<file path=ppt/slides/_rels/slide1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7.xml"/></Relationships>
</file>

<file path=ppt/slides/_rels/slide1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8.xml"/></Relationships>
</file>

<file path=ppt/slides/_rels/slide1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9.xml"/></Relationships>
</file>

<file path=ppt/slides/_rels/slide1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C37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41248" y="603504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400" kern="0" dirty="0">
                <a:solidFill>
                  <a:srgbClr val="E89B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775704" y="603504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sql_tuning.html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841248" y="2395728"/>
            <a:ext cx="566928" cy="82296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591056" y="2286000"/>
            <a:ext cx="9692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spc="100" kern="0" dirty="0">
                <a:solidFill>
                  <a:srgbClr val="E89B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학습 정리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841248" y="2788920"/>
            <a:ext cx="106984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4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SQL Tuning</a:t>
            </a:r>
            <a:endParaRPr lang="en-US" sz="4800" dirty="0"/>
          </a:p>
        </p:txBody>
      </p:sp>
      <p:sp>
        <p:nvSpPr>
          <p:cNvPr id="7" name="Text 5"/>
          <p:cNvSpPr/>
          <p:nvPr/>
        </p:nvSpPr>
        <p:spPr>
          <a:xfrm>
            <a:off x="841248" y="59893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부트캠프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5486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발표 흐름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841248" y="1316736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ROADMAP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841248" y="1737360"/>
            <a:ext cx="822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01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1755648" y="1755648"/>
            <a:ext cx="4160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SQL Tuning이란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1755648" y="2148840"/>
            <a:ext cx="4160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시작은 SQL의 의미를 파악하는 것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41248" y="2651760"/>
            <a:ext cx="822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02</a:t>
            </a:r>
            <a:endParaRPr lang="en-US" sz="2600" dirty="0"/>
          </a:p>
        </p:txBody>
      </p:sp>
      <p:sp>
        <p:nvSpPr>
          <p:cNvPr id="12" name="Text 10"/>
          <p:cNvSpPr/>
          <p:nvPr/>
        </p:nvSpPr>
        <p:spPr>
          <a:xfrm>
            <a:off x="1755648" y="2670048"/>
            <a:ext cx="4160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실행계획 읽기 — 모든 튜닝의 기반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755648" y="3063240"/>
            <a:ext cx="4160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계획을 뽑고, 순서대로 읽고, 느린 지점을 찾는다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841248" y="3566160"/>
            <a:ext cx="822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</a:t>
            </a:r>
            <a:endParaRPr lang="en-US" sz="2600" dirty="0"/>
          </a:p>
        </p:txBody>
      </p:sp>
      <p:sp>
        <p:nvSpPr>
          <p:cNvPr id="15" name="Text 13"/>
          <p:cNvSpPr/>
          <p:nvPr/>
        </p:nvSpPr>
        <p:spPr>
          <a:xfrm>
            <a:off x="1755648" y="3584448"/>
            <a:ext cx="4160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데이터 액세스 경로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1755648" y="3977640"/>
            <a:ext cx="4160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무엇을 어떻게 읽을지 — 튜닝의 핵심 갈림길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841248" y="4480560"/>
            <a:ext cx="822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04</a:t>
            </a:r>
            <a:endParaRPr lang="en-US" sz="2600" dirty="0"/>
          </a:p>
        </p:txBody>
      </p:sp>
      <p:sp>
        <p:nvSpPr>
          <p:cNvPr id="18" name="Text 16"/>
          <p:cNvSpPr/>
          <p:nvPr/>
        </p:nvSpPr>
        <p:spPr>
          <a:xfrm>
            <a:off x="1755648" y="4498848"/>
            <a:ext cx="4160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Full Table Scan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1755648" y="4892040"/>
            <a:ext cx="4160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첫 블록부터 HWM까지, multi-block로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6272784" y="1737360"/>
            <a:ext cx="822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05</a:t>
            </a:r>
            <a:endParaRPr lang="en-US" sz="2600" dirty="0"/>
          </a:p>
        </p:txBody>
      </p:sp>
      <p:sp>
        <p:nvSpPr>
          <p:cNvPr id="21" name="Text 19"/>
          <p:cNvSpPr/>
          <p:nvPr/>
        </p:nvSpPr>
        <p:spPr>
          <a:xfrm>
            <a:off x="7187184" y="1755648"/>
            <a:ext cx="4160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rowid scan &amp; 인덱스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7187184" y="2148840"/>
            <a:ext cx="4160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소량을 콕 집는 길 — 그리고 인덱스를 못 타는 함정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6272784" y="2651760"/>
            <a:ext cx="822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06</a:t>
            </a:r>
            <a:endParaRPr lang="en-US" sz="2600" dirty="0"/>
          </a:p>
        </p:txBody>
      </p:sp>
      <p:sp>
        <p:nvSpPr>
          <p:cNvPr id="24" name="Text 22"/>
          <p:cNvSpPr/>
          <p:nvPr/>
        </p:nvSpPr>
        <p:spPr>
          <a:xfrm>
            <a:off x="7187184" y="2670048"/>
            <a:ext cx="4160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실행계획 도구 &amp; 통계 읽기 70일차</a:t>
            </a:r>
            <a:endParaRPr lang="en-US" sz="1700" dirty="0"/>
          </a:p>
        </p:txBody>
      </p:sp>
      <p:sp>
        <p:nvSpPr>
          <p:cNvPr id="25" name="Text 23"/>
          <p:cNvSpPr/>
          <p:nvPr/>
        </p:nvSpPr>
        <p:spPr>
          <a:xfrm>
            <a:off x="7187184" y="3063240"/>
            <a:ext cx="4160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무엇으로 뽑고, 결과의 숫자를 어떻게 읽나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6272784" y="3566160"/>
            <a:ext cx="822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07</a:t>
            </a:r>
            <a:endParaRPr lang="en-US" sz="2600" dirty="0"/>
          </a:p>
        </p:txBody>
      </p:sp>
      <p:sp>
        <p:nvSpPr>
          <p:cNvPr id="27" name="Text 25"/>
          <p:cNvSpPr/>
          <p:nvPr/>
        </p:nvSpPr>
        <p:spPr>
          <a:xfrm>
            <a:off x="7187184" y="3584448"/>
            <a:ext cx="4160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조인 — 방법은 건수로, 순서는 힌트로 72일차</a:t>
            </a:r>
            <a:endParaRPr lang="en-US" sz="1700" dirty="0"/>
          </a:p>
        </p:txBody>
      </p:sp>
      <p:sp>
        <p:nvSpPr>
          <p:cNvPr id="28" name="Text 26"/>
          <p:cNvSpPr/>
          <p:nvPr/>
        </p:nvSpPr>
        <p:spPr>
          <a:xfrm>
            <a:off x="7187184" y="3977640"/>
            <a:ext cx="4160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NL·Sort Merge·Hash, 그리고 반복 횟수를 Starts로 읽는다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6272784" y="4480560"/>
            <a:ext cx="822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▶</a:t>
            </a:r>
            <a:endParaRPr lang="en-US" sz="2600" dirty="0"/>
          </a:p>
        </p:txBody>
      </p:sp>
      <p:sp>
        <p:nvSpPr>
          <p:cNvPr id="30" name="Text 28"/>
          <p:cNvSpPr/>
          <p:nvPr/>
        </p:nvSpPr>
        <p:spPr>
          <a:xfrm>
            <a:off x="7187184" y="4498848"/>
            <a:ext cx="4160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앞으로 다룰 것 (로드맵)</a:t>
            </a:r>
            <a:endParaRPr lang="en-US" sz="1700" dirty="0"/>
          </a:p>
        </p:txBody>
      </p:sp>
      <p:sp>
        <p:nvSpPr>
          <p:cNvPr id="31" name="Text 29"/>
          <p:cNvSpPr/>
          <p:nvPr/>
        </p:nvSpPr>
        <p:spPr>
          <a:xfrm>
            <a:off x="7187184" y="4892040"/>
            <a:ext cx="4160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수업이 진행되며 채워 나갈 목차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2C37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95528" y="1371600"/>
            <a:ext cx="45720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0" b="1" dirty="0">
                <a:solidFill>
                  <a:srgbClr val="3341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01</a:t>
            </a:r>
            <a:endParaRPr lang="en-US" sz="13000" dirty="0"/>
          </a:p>
        </p:txBody>
      </p:sp>
      <p:sp>
        <p:nvSpPr>
          <p:cNvPr id="4" name="Shape 2"/>
          <p:cNvSpPr/>
          <p:nvPr/>
        </p:nvSpPr>
        <p:spPr>
          <a:xfrm>
            <a:off x="841248" y="4114800"/>
            <a:ext cx="566928" cy="82296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41248" y="4343400"/>
            <a:ext cx="1050645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SQL Tuning이란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841248" y="5230368"/>
            <a:ext cx="105064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시작은 SQL의 의미를 파악하는 것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SQL Tuning이란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01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841248" y="1737360"/>
            <a:ext cx="6675120" cy="2121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SQL Tuning 은 SQL문을 최적화하여 빠른 시간 안에 원하는 결과값을 얻기 위한 작업이다. 그 출발점은 도구나 힌트가 아니라 — SQL의 의미(작성 의도)를 제대로 파악하는 것 이다. "이 쿼리가 진짜 원하는 게 무엇인가, 얼마나 많은 데이터를 건드려야 하는가"를 알아야 올바른 처리 방법을 고를 수 있다.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7973568" y="1737360"/>
            <a:ext cx="3374136" cy="2962656"/>
          </a:xfrm>
          <a:prstGeom prst="roundRect">
            <a:avLst>
              <a:gd name="adj" fmla="val 3704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001000" y="1856232"/>
            <a:ext cx="73152" cy="2724912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93608" y="1938528"/>
            <a:ext cx="28254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전제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8293608" y="2395728"/>
            <a:ext cx="2825496" cy="2139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튜닝은 내부구조편의 지식 위에서 동작한다. 블록·HWM·버퍼 캐시·인덱스 구조를 알아야 "왜 이 실행계획이 느린가"가 보인다. 여기서는 그 지식을 활용 하는 쪽에 집중한다.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2C37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95528" y="1371600"/>
            <a:ext cx="45720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0" b="1" dirty="0">
                <a:solidFill>
                  <a:srgbClr val="3341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02</a:t>
            </a:r>
            <a:endParaRPr lang="en-US" sz="13000" dirty="0"/>
          </a:p>
        </p:txBody>
      </p:sp>
      <p:sp>
        <p:nvSpPr>
          <p:cNvPr id="4" name="Shape 2"/>
          <p:cNvSpPr/>
          <p:nvPr/>
        </p:nvSpPr>
        <p:spPr>
          <a:xfrm>
            <a:off x="841248" y="4114800"/>
            <a:ext cx="566928" cy="82296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41248" y="4343400"/>
            <a:ext cx="1050645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실행계획 읽기 — 모든 튜닝의 기반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841248" y="5230368"/>
            <a:ext cx="105064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계획을 뽑고, 순서대로 읽고, 느린 지점을 찾는다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2.1 실행계획 뽑는 3가지 방법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02</a:t>
            </a:r>
            <a:endParaRPr lang="en-US" sz="9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1737360"/>
          <a:ext cx="10506456" cy="1682496"/>
        </p:xfrm>
        <a:graphic>
          <a:graphicData uri="http://schemas.openxmlformats.org/drawingml/2006/table">
            <a:tbl>
              <a:tblPr/>
              <a:tblGrid>
                <a:gridCol w="3502152"/>
                <a:gridCol w="3502152"/>
                <a:gridCol w="3502152"/>
              </a:tblGrid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방법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명령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성격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autotrace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set autotrace traceonly explain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예상 계획만 (실행 안 함)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EXPLAIN PLAN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explain plan for …; → select * from table(dbms_xplan.display);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예상 계획 (실행 안 함)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display_cursor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/*+ gather_plan_statistics */ 실행 후 → dbms_xplan.display_cursor(format=&gt;'ALLSTATS LAST')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실제 실행 계획 + 실측치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841248" y="3602736"/>
            <a:ext cx="10506456" cy="2139696"/>
          </a:xfrm>
          <a:prstGeom prst="roundRect">
            <a:avLst>
              <a:gd name="adj" fmla="val 5128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868680" y="3721608"/>
            <a:ext cx="73152" cy="19019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1161288" y="3803904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예상 vs 실제 — 가장 중요한 구분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161288" y="4261104"/>
            <a:ext cx="9957816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explain plan · autotrace explain 은 옵티마이저의 예상(E-Rows) 만 보여준다. 반면 display_cursor 는 실제로 돌린 뒤 A-Rows(실제 행 수) 까지 보여준다. E-Rows와 A-Rows가 크게 차이 나면 옵티마이저가 데이터를 잘못 추정한 것 — 잘못된 계획의 가장 흔한 원인이다. 그래서 진짜 튜닝은 display_cursor로 한다.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2.2 읽는 순서 — 안쪽·위부터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841248" y="1975104"/>
            <a:ext cx="10506456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실행계획은 트리다. 들여쓰기가 가장 깊은(안쪽) 라인부터, 같은 깊이면 위에서 아래로 실행되고, 자식이 만든 결과를 부모에게 올린다.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841248" y="2962656"/>
            <a:ext cx="10506456" cy="2834640"/>
          </a:xfrm>
          <a:prstGeom prst="roundRect">
            <a:avLst>
              <a:gd name="adj" fmla="val 3871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3081528"/>
            <a:ext cx="73152" cy="2596896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3145536"/>
            <a:ext cx="995781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다이어그램  </a:t>
            </a:r>
            <a:pPr algn="l" indent="0" marL="0">
              <a:buNone/>
            </a:pPr>
            <a:r>
              <a:rPr lang="en-US" sz="13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가장 안쪽 ③ INDEX RANGE SCAN(①)부터 시작 → EMP 행(②) → 그 행마다 DEPT 인덱스(③)·DEPT 행(④) → NESTED LOOPS 조인(⑤) → 결과 반환(⑥).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161288" y="3675888"/>
            <a:ext cx="995781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실행계획 (들여쓰기 = 부모-자식) · 실행 순서 · 0 SELECT STATEMENT · 1 NESTED LOOPS · 2 TABLE ACCESS BY ROWID EMP · 3 INDEX RANGE SCAN EMP_IX · 4 TABLE ACCESS BY ROWID DEPT · 5 INDEX UNIQUE SCAN DEPT_PK · 6 · 5 · 2 · 1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2.3 핵심 컬럼 읽는 법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04</a:t>
            </a:r>
            <a:endParaRPr lang="en-US" sz="9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2468880"/>
          <a:ext cx="10506456" cy="2834640"/>
        </p:xfrm>
        <a:graphic>
          <a:graphicData uri="http://schemas.openxmlformats.org/drawingml/2006/table">
            <a:tbl>
              <a:tblPr/>
              <a:tblGrid>
                <a:gridCol w="5253228"/>
                <a:gridCol w="5253228"/>
              </a:tblGrid>
              <a:tr h="40494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컬럼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의미 · 볼 점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</a:tr>
              <a:tr h="40494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Id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단계 번호. * 가 붙으면 아래 Predicate Information 에 조건이 있다는 표시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494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Operation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무슨 작업인가 (FULL/INDEX/JOIN…). 들여쓰기로 부모-자식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494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Name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대상 객체(테이블·인덱스 이름)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494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Rows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옵티마이저가 예상 한 행 수(카디널리티). 실제와 괴리가 크면 위험 신호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494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Cost (%CPU)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옵티마이저의 상대적 비용 추정. 절대 시간이 아니라 비교용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494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Predicate (access/filter)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access =인덱스로 범위를 좁힘(좋음) / filter =읽은 뒤 걸러냄(많이 읽었을 수)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2.3 핵심 컬럼 읽는 법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05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3090672"/>
            <a:ext cx="10506456" cy="1591056"/>
          </a:xfrm>
          <a:prstGeom prst="roundRect">
            <a:avLst>
              <a:gd name="adj" fmla="val 6897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3209544"/>
            <a:ext cx="73152" cy="1353312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329184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access vs filter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749040"/>
            <a:ext cx="995781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조건이라도 access("ID"=100) 로 잡히면 인덱스로 바로 찾은 것이고, filter("ID"=100) 로 잡히면 일단 많이 읽고 나서 버린 것이다. filter로만 처리되는 핵심 조건이 보이면 인덱스 기회다.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2.4 자주 보는 Operation 사전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06</a:t>
            </a:r>
            <a:endParaRPr lang="en-US" sz="9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1737360"/>
          <a:ext cx="10506456" cy="3986784"/>
        </p:xfrm>
        <a:graphic>
          <a:graphicData uri="http://schemas.openxmlformats.org/drawingml/2006/table">
            <a:tbl>
              <a:tblPr/>
              <a:tblGrid>
                <a:gridCol w="5253228"/>
                <a:gridCol w="5253228"/>
              </a:tblGrid>
              <a:tr h="39867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Operation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한마디로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</a:tr>
              <a:tr h="39867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TABLE ACCESS FULL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테이블 전체 스캔(첫 블록~HWM, scattered read)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867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TABLE ACCESS BY INDEX ROWID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인덱스가 준 rowid로 그 행만 읽기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867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INDEX UNIQUE SCAN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유일 인덱스로 정확히 1행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867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INDEX RANGE SCAN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범위 조건으로 인덱스 일부 스캔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867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INDEX FULL / FAST FULL SCAN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인덱스 전체(정렬 활용 / multi-block)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867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INDEX SKIP SCAN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선두 컬럼을 건너뛰고 결합 인덱스 활용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867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NESTED LOOPS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한쪽 행마다 다른 쪽을 반복 조회(소량 조인)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867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HASH JOIN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해시 테이블을 만들어 대량 조인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867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SORT (ORDER BY/GROUP BY/UNIQUE)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정렬·중복 제거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2.4 자주 보는 Operation 사전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07</a:t>
            </a:r>
            <a:endParaRPr lang="en-US" sz="9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3429000"/>
          <a:ext cx="10506456" cy="914400"/>
        </p:xfrm>
        <a:graphic>
          <a:graphicData uri="http://schemas.openxmlformats.org/drawingml/2006/table">
            <a:tbl>
              <a:tblPr/>
              <a:tblGrid>
                <a:gridCol w="5253228"/>
                <a:gridCol w="5253228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Operation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한마디로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FILTER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조건·서브쿼리로 걸러내기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2.5 예제로 읽어보기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4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08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3483864"/>
            <a:ext cx="10506456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2.2의 계획을 실제로 찍으면 이렇게 나온다. display_cursor로 E-Rows(예상)와 A-Rows(실제) 를 같이 보는 게 핵심이다.</a:t>
            </a:r>
            <a:endParaRPr lang="en-US" sz="16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2.5 예제로 읽어보기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4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09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1737360"/>
            <a:ext cx="10506456" cy="4105656"/>
          </a:xfrm>
          <a:prstGeom prst="roundRect">
            <a:avLst>
              <a:gd name="adj" fmla="val 1336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1161288" y="1993392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389888" y="1993392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618488" y="1993392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161288" y="2395728"/>
            <a:ext cx="9957816" cy="3282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SYS@ora19c&gt; select /*+ gather_plan_statistics */ e.last_name, d.department_name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from hr.employees e join hr.departments d using(department_id)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where e.department_id = 50;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SYS@ora19c&gt; select * from table(dbms_xplan.display_cursor(format=&gt;'ALLSTATS LAST'));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----------------------------------------------------------------------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Id | Operation                     | Name        | E-Rows | A-Rows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----------------------------------------------------------------------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 0 | SELECT STATEMENT              |             |        |     45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 1 |  NESTED LOOPS                 |             |     45 |     45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|* 2 |   TABLE ACCESS BY INDEX ROWID | EMPLOYEES   |     45 |     45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|* 3 |    INDEX RANGE SCAN           | EMP_DEPT_IX |     45 |     45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 4 |   TABLE ACCESS BY INDEX ROWID | DEPARTMENTS |      1 |      1 |</a:t>
            </a:r>
            <a:endParaRPr lang="en-US" sz="12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2.5 예제로 읽어보기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/ 4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1737360"/>
            <a:ext cx="10506456" cy="2057400"/>
          </a:xfrm>
          <a:prstGeom prst="roundRect">
            <a:avLst>
              <a:gd name="adj" fmla="val 2667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1161288" y="1993392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389888" y="1993392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618488" y="1993392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161288" y="2395728"/>
            <a:ext cx="995781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|* 5 |    INDEX UNIQUE SCAN          | DEPT_ID_PK  |      1 |      1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----------------------------------------------------------------------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Predicate Information: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3 - access("E"."DEPARTMENT_ID"=50)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5 - access("E"."DEPARTMENT_ID"="D"."DEPARTMENT_ID")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841248" y="3977640"/>
            <a:ext cx="10506456" cy="1865376"/>
          </a:xfrm>
          <a:prstGeom prst="roundRect">
            <a:avLst>
              <a:gd name="adj" fmla="val 5882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68680" y="4096512"/>
            <a:ext cx="73152" cy="162763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161288" y="4178808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무엇을 의심하나 (체크 순서)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161288" y="4636008"/>
            <a:ext cx="9957816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큰 테이블에 TABLE ACCESS FULL 인데 소량만 찾나? → 인덱스 기회. ② 핵심 조건이 filter 로만 처리되나? → 인덱스 기회. ③ E-Rows ≪ A-Rows 로 추정이 크게 빗나갔나? → 통계 갱신·카디널리티 문제. ④ 소량인데 HASH JOIN, 대량인데 NESTED LOOPS? → 조인 방식 의심.</a:t>
            </a:r>
            <a:endParaRPr lang="en-US" sz="13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2.5 예제로 읽어보기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/ 4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3090672"/>
            <a:ext cx="10506456" cy="1591056"/>
          </a:xfrm>
          <a:prstGeom prst="roundRect">
            <a:avLst>
              <a:gd name="adj" fmla="val 6897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3209544"/>
            <a:ext cx="73152" cy="1353312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329184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홈랩에서 바로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749040"/>
            <a:ext cx="995781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ora19c에서 set autotrace on 또는 위 gather_plan_statistics + display_cursor 로 직접 찍어보세요. 자료를 읽는 것보다 내 쿼리의 계획을 눈으로 보는 게 훨씬 빨리 늡니다.</a:t>
            </a:r>
            <a:endParaRPr lang="en-US" sz="13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2.6 혼자 읽는 5단계 루틴 73일차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2002536"/>
            <a:ext cx="10506456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어떤 플랜이 와도 이 순서로만 본다. 외울 것은 순서 하나 — 깊은 줄부터 → Starts → A-Rows → 견적 → Predicate . 플랜은 조직도다: 들여쓰기가 깊을수록 말단이고, 말단이 먼저 일해서 결과를 상사에게 올린다.</a:t>
            </a:r>
            <a:endParaRPr lang="en-US" sz="16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3319272"/>
          <a:ext cx="10506456" cy="2450592"/>
        </p:xfrm>
        <a:graphic>
          <a:graphicData uri="http://schemas.openxmlformats.org/drawingml/2006/table">
            <a:tbl>
              <a:tblPr/>
              <a:tblGrid>
                <a:gridCol w="3502152"/>
                <a:gridCol w="3502152"/>
                <a:gridCol w="3502152"/>
              </a:tblGrid>
              <a:tr h="4084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단계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보는 것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질문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</a:tr>
              <a:tr h="4084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① 실행 순서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들여쓰기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가장 깊은 줄부터, 같은 깊이면 위→아래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84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② Starts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반복 횟수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어디서 반복이 터졌나? NL 안쪽에서만 커진다 — 크면 바깥(driving) 선택을 의심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84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③ A-Rows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행의 여정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실행 순서대로 읽으면 어디서 불어나고 어디서 잘리나가 보인다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84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④ E-Rows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견적 확인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E-Rows는 1회 실행 기준 — Starts 있는 줄은 E×Starts로 A-Rows와 비교. 10배↑ 벌어지면 통계 의심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84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⑤ Predicate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access/filter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그 테이블에 처음 들어가는 조건 이 filter면 인덱스 기회. "진입 후 확인" filter는 정상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2.6 혼자 읽는 5단계 루틴 73일차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1737360"/>
            <a:ext cx="10506456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연습 — 실측 플랜에 실행 순서를 매기면 (73일차 AD_VP all-NL, 아래 §7.6):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841248" y="2724912"/>
            <a:ext cx="10506456" cy="3081528"/>
          </a:xfrm>
          <a:prstGeom prst="roundRect">
            <a:avLst>
              <a:gd name="adj" fmla="val 1780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1161288" y="2980944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389888" y="2980944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618488" y="2980944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161288" y="3383280"/>
            <a:ext cx="9957816" cy="2258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1 |  NESTED LOOPS                            | Buffers 12 | ⑨ 최종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2 |   NESTED LOOPS                           |         10 | ⑦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3 |    NESTED LOOPS                          |          8 | ⑤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4 |     EMP  BY INDEX ROWID    Starts 1      |          4 | ② 행 꺼냄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|*5 |      EMP_JOB_IDX RANGE     Starts 1      |          2 | ① 시작 — 가장 깊다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6 |     DEPT BY INDEX ROWID    Starts 2      |          4 | ④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|*7 |      DEPT_IDX UNIQUE       Starts 2      |          2 | ③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|*8 |    LOC_IDX UNIQUE          Starts 2      |          2 | ⑥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|*9 |   LOC  BY INDEX ROWID      Starts 2      |          2 | ⑧ city 확인(정상 filter)</a:t>
            </a:r>
            <a:endParaRPr lang="en-US" sz="12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2.6 혼자 읽는 5단계 루틴 73일차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953512"/>
            <a:ext cx="10506456" cy="1865376"/>
          </a:xfrm>
          <a:prstGeom prst="roundRect">
            <a:avLst>
              <a:gd name="adj" fmla="val 5882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3072384"/>
            <a:ext cx="73152" cy="1627632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315468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판정은 맨 윗줄 Buffers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611880"/>
            <a:ext cx="9957816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Buffers는 누적(자식 포함)이라 맨 윗줄이 총점이다. 다섯 걸음이 끝나면 계획끼리 총점으로 비교한다. Id 9처럼 조인키로 이미 행을 집은 뒤(access는 Id 8) 그 행에서 조건만 확인하는 filter는 정상 이니 겁먹지 말 것 — 나쁜 filter는 "그 테이블에 처음 들어가는 조건"이 filter일 때다.</a:t>
            </a:r>
            <a:endParaRPr lang="en-US" sz="13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2C37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95528" y="1371600"/>
            <a:ext cx="45720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0" b="1" dirty="0">
                <a:solidFill>
                  <a:srgbClr val="3341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</a:t>
            </a:r>
            <a:endParaRPr lang="en-US" sz="13000" dirty="0"/>
          </a:p>
        </p:txBody>
      </p:sp>
      <p:sp>
        <p:nvSpPr>
          <p:cNvPr id="4" name="Shape 2"/>
          <p:cNvSpPr/>
          <p:nvPr/>
        </p:nvSpPr>
        <p:spPr>
          <a:xfrm>
            <a:off x="841248" y="4114800"/>
            <a:ext cx="566928" cy="82296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41248" y="4343400"/>
            <a:ext cx="1050645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데이터 액세스 경로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841248" y="5230368"/>
            <a:ext cx="105064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무엇을 어떻게 읽을지 — 튜닝의 핵심 갈림길</a:t>
            </a:r>
            <a:endParaRPr lang="en-US" sz="16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데이터 액세스 경로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2551176"/>
            <a:ext cx="10506456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옵티마이저가 데이터를 가져오는 방법은 크게 둘이다. 어느 쪽이 빠른지는 "얼마나 많은 행을 읽느냐" 에 달렸다.</a:t>
            </a:r>
            <a:endParaRPr lang="en-US" sz="16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3538728"/>
          <a:ext cx="10506456" cy="1682496"/>
        </p:xfrm>
        <a:graphic>
          <a:graphicData uri="http://schemas.openxmlformats.org/drawingml/2006/table">
            <a:tbl>
              <a:tblPr/>
              <a:tblGrid>
                <a:gridCol w="3502152"/>
                <a:gridCol w="3502152"/>
                <a:gridCol w="3502152"/>
              </a:tblGrid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경로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설명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유리한 경우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full table scan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세그먼트 첫 블록부터 HWM까지 통째로 읽음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많은 데이터 검색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rowid scan · by user rowid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사용자가 rowid를 직접 지정해 한 행을 콕 집음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rowid를 이미 알 때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rowid scan · by index rowid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인덱스를 타고 rowid를 얻어 해당 블록의 행을 읽음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소량 검색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데이터 액세스 경로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16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953512"/>
            <a:ext cx="10506456" cy="1865376"/>
          </a:xfrm>
          <a:prstGeom prst="roundRect">
            <a:avLst>
              <a:gd name="adj" fmla="val 5882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3072384"/>
            <a:ext cx="73152" cy="162763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315468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직관 · full scan vs index의 분기점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611880"/>
            <a:ext cx="9957816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전체의 작은 일부만 찾을 땐 인덱스(by index rowid)가 빠르다. 하지만 전체의 상당 비율을 읽어야 한다면, 인덱스를 타며 블록을 하나씩 random하게 읽는 것보다 full scan으로 multi-block I/O 로 쓸어 담는 게 오히려 빠르다. "인덱스가 항상 빠르다"는 흔한 오해다 — 읽어야 할 양이 기준이다.</a:t>
            </a:r>
            <a:endParaRPr lang="en-US" sz="13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2C37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95528" y="1371600"/>
            <a:ext cx="45720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0" b="1" dirty="0">
                <a:solidFill>
                  <a:srgbClr val="3341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04</a:t>
            </a:r>
            <a:endParaRPr lang="en-US" sz="13000" dirty="0"/>
          </a:p>
        </p:txBody>
      </p:sp>
      <p:sp>
        <p:nvSpPr>
          <p:cNvPr id="4" name="Shape 2"/>
          <p:cNvSpPr/>
          <p:nvPr/>
        </p:nvSpPr>
        <p:spPr>
          <a:xfrm>
            <a:off x="841248" y="4114800"/>
            <a:ext cx="566928" cy="82296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41248" y="4343400"/>
            <a:ext cx="1050645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Full Table Scan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841248" y="5230368"/>
            <a:ext cx="105064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첫 블록부터 HWM까지, multi-block로</a:t>
            </a:r>
            <a:endParaRPr lang="en-US" sz="16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Full Table Scan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4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17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1737360"/>
            <a:ext cx="10506456" cy="1792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full table scan은 세그먼트의 첫 블록부터 HWM (High Water Mark, 사용 블록과 미사용 블록의 경계)까지 읽는다. 핵심은 한 번의 I/O call에 db_file_multiblock_read_count (이 환경 =78)만큼의 블록을 묶어 읽는 Multi Block I/O 라는 점. 그래서 db file scattered read 대기가 발생한다.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841248" y="3712464"/>
            <a:ext cx="10506456" cy="2048256"/>
          </a:xfrm>
          <a:prstGeom prst="roundRect">
            <a:avLst>
              <a:gd name="adj" fmla="val 5357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868680" y="3831336"/>
            <a:ext cx="73152" cy="181051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61288" y="3895344"/>
            <a:ext cx="995781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다이어그램  </a:t>
            </a:r>
            <a:pPr algn="l" indent="0" marL="0">
              <a:buNone/>
            </a:pPr>
            <a:r>
              <a:rPr lang="en-US" sz="13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HWM 너머 미사용 블록은 읽지 않는다. 그래서 delete로 비워도 HWM이 안 내려가면 full scan은 여전히 느리다(→ truncate가 HWM 리셋).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1161288" y="4425696"/>
            <a:ext cx="9957816" cy="1179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Segment (블록들) · HWM · multiblock I/O (78블록씩) · 미사용 · block 1 → HWM 까지 multi-block로 순차 읽기 → db file scattered read</a:t>
            </a:r>
            <a:endParaRPr lang="en-US" sz="12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Full Table Scan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4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18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3319272"/>
            <a:ext cx="10506456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인덱스가 없으면 조건을 줘도 full scan이 된다. hr.employees 를 복사한 hr.emp (인덱스 없음)에 PK 같은 조건을 줘도 옵티마이저가 다른 길이 없어 TABLE ACCESS FULL 을 택한다.</a:t>
            </a:r>
            <a:endParaRPr lang="en-US" sz="16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Full Table Scan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/ 4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19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089404"/>
            <a:ext cx="10506456" cy="3593592"/>
          </a:xfrm>
          <a:prstGeom prst="roundRect">
            <a:avLst>
              <a:gd name="adj" fmla="val 1527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1161288" y="2345436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389888" y="2345436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618488" y="2345436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161288" y="2747772"/>
            <a:ext cx="9957816" cy="2770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SYS@ora19c&gt; create table hr.emp tablespace users as select * from hr.employees;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SYS@ora19c&gt; set autot traceonly exp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SYS@ora19c&gt; select * from hr.emp where employee_id = 100;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--------------------------------------------------------------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Id  | Operation         | Name | Rows | Bytes | Cost (%CPU)|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--------------------------------------------------------------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  0 | SELECT STATEMENT  |      |    1 |    69 |     3   (0)|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|*  1 |  TABLE ACCESS FULL| EMP  |    1 |    69 |     3   (0)|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--------------------------------------------------------------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1 - filter("EMPLOYEE_ID"=100)</a:t>
            </a:r>
            <a:endParaRPr lang="en-US" sz="12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Full Table Scan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/ 4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953512"/>
            <a:ext cx="10506456" cy="1865376"/>
          </a:xfrm>
          <a:prstGeom prst="roundRect">
            <a:avLst>
              <a:gd name="adj" fmla="val 5882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3072384"/>
            <a:ext cx="73152" cy="1627632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315468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튜닝 포인트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611880"/>
            <a:ext cx="9957816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 한 행( employee_id=100 )을 찾는데 테이블 전체를 HWM까지 읽고 있다. 여기에 employee_id 인덱스를 만들면 by index rowid 로 한 행만 집어 비용이 급감한다. "한 행을 위해 full scan"이 바로 튜닝 대상의 전형이다.</a:t>
            </a:r>
            <a:endParaRPr lang="en-US" sz="13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2C37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95528" y="1371600"/>
            <a:ext cx="45720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0" b="1" dirty="0">
                <a:solidFill>
                  <a:srgbClr val="3341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05</a:t>
            </a:r>
            <a:endParaRPr lang="en-US" sz="13000" dirty="0"/>
          </a:p>
        </p:txBody>
      </p:sp>
      <p:sp>
        <p:nvSpPr>
          <p:cNvPr id="4" name="Shape 2"/>
          <p:cNvSpPr/>
          <p:nvPr/>
        </p:nvSpPr>
        <p:spPr>
          <a:xfrm>
            <a:off x="841248" y="4114800"/>
            <a:ext cx="566928" cy="82296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41248" y="4343400"/>
            <a:ext cx="1050645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rowid scan &amp; 인덱스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841248" y="5230368"/>
            <a:ext cx="105064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소량을 콕 집는 길 — 그리고 인덱스를 못 타는 함정</a:t>
            </a:r>
            <a:endParaRPr lang="en-US" sz="16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5.1 rowid scan — 주소로 한 행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21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2249424"/>
            <a:ext cx="10506456" cy="1792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rowid 는 행의 물리 주소다. rowid를 직접 주면 옵티마이저는 인덱스도 안 거치고 그 블록으로 직행한다 — TABLE ACCESS BY USER ROWID (Cost 1). 인덱스를 경유해 얻은 rowid로 읽으면 TABLE ACCESS BY INDEX ROWID 다. 둘 다 single block I/O 라 db file sequential read 가 발생한다.</a:t>
            </a:r>
            <a:endParaRPr lang="en-US" sz="1600" dirty="0"/>
          </a:p>
        </p:txBody>
      </p:sp>
      <p:graphicFrame>
        <p:nvGraphicFramePr>
          <p:cNvPr id="2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4224528"/>
          <a:ext cx="10506456" cy="1298448"/>
        </p:xfrm>
        <a:graphic>
          <a:graphicData uri="http://schemas.openxmlformats.org/drawingml/2006/table">
            <a:tbl>
              <a:tblPr/>
              <a:tblGrid>
                <a:gridCol w="5253228"/>
                <a:gridCol w="5253228"/>
              </a:tblGrid>
              <a:tr h="4328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형식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구성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</a:tr>
              <a:tr h="4328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extended (v8, 18자)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데이터오브젝트(6) + 파일#(3) + 블록#(6) + 행#(3) · 예 AAAS2nAAHAAAAD0AAD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28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restricted (v7)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블록#(8) . 행#(4) . 파일#(4) · 예 000000F4.0003.0007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5.1 rowid scan — 주소로 한 행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22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3319272"/>
            <a:ext cx="10506456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dbms_rowid.rowid_object/relative_fno/block_number/row_number 로 rowid를 분해해 "이 행이 몇 번 파일·블록·행에 있나"를 볼 수 있다.</a:t>
            </a:r>
            <a:endParaRPr lang="en-US" sz="16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5.2 인덱스 스캔의 종류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23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2340864"/>
            <a:ext cx="10506456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인덱스는 root → branch → leaf 트리다. range scan은 leaf에서 시작 값을 찾고, 옆 leaf로 이어가며 "하나 더 있나?" 를 확인하는 one-plus-one 방식으로 끝을 판단한다.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841248" y="3657600"/>
            <a:ext cx="10506456" cy="1773936"/>
          </a:xfrm>
          <a:prstGeom prst="roundRect">
            <a:avLst>
              <a:gd name="adj" fmla="val 6186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868680" y="3776472"/>
            <a:ext cx="73152" cy="153619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61288" y="3840480"/>
            <a:ext cx="995781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다이어그램  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1161288" y="4370832"/>
            <a:ext cx="9957816" cy="9052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root · branch · leaf · leaf ★ · leaf → · 테이블 블록(rowid) · leaf의 rowid로 테이블 행 읽기 · one-plus-one: 옆 leaf에 더 있나 확인</a:t>
            </a:r>
            <a:endParaRPr lang="en-US" sz="12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5.2 인덱스 스캔의 종류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24</a:t>
            </a:r>
            <a:endParaRPr lang="en-US" sz="900" dirty="0"/>
          </a:p>
        </p:txBody>
      </p:sp>
      <p:graphicFrame>
        <p:nvGraphicFramePr>
          <p:cNvPr id="3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2660904"/>
          <a:ext cx="10506456" cy="2450592"/>
        </p:xfrm>
        <a:graphic>
          <a:graphicData uri="http://schemas.openxmlformats.org/drawingml/2006/table">
            <a:tbl>
              <a:tblPr/>
              <a:tblGrid>
                <a:gridCol w="5253228"/>
                <a:gridCol w="5253228"/>
              </a:tblGrid>
              <a:tr h="4084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스캔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언제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</a:tr>
              <a:tr h="4084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INDEX RANGE SCAN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범위·비유일. 같은 값이 더 있나 leaf를 이어 확인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84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INDEX UNIQUE SCAN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유일 인덱스 + = 일 때만. 범위( &lt;= )면 RANGE로 떨어진다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84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INLIST ITERATOR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in (a,b,c) — 값 수만큼 인덱스 탐색 반복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84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INDEX FULL SCAN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인덱스만으로 충당될 때(예: 인덱스 컬럼만 SELECT)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84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AND-EQUAL (index merge)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두 단일 인덱스의 rowid 결과를 교집합( and_equal 힌트)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5.3 ★ 인덱스를 "안 타는" 경우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25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2523744"/>
            <a:ext cx="105064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인덱스가 있어도 옵티마이저가 버리는 패턴들. 면접·시험 단골이다.</a:t>
            </a:r>
            <a:endParaRPr lang="en-US" sz="1600" dirty="0"/>
          </a:p>
        </p:txBody>
      </p:sp>
      <p:graphicFrame>
        <p:nvGraphicFramePr>
          <p:cNvPr id="3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3182112"/>
          <a:ext cx="10506456" cy="2066544"/>
        </p:xfrm>
        <a:graphic>
          <a:graphicData uri="http://schemas.openxmlformats.org/drawingml/2006/table">
            <a:tbl>
              <a:tblPr/>
              <a:tblGrid>
                <a:gridCol w="3502152"/>
                <a:gridCol w="3502152"/>
                <a:gridCol w="3502152"/>
              </a:tblGrid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조건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계획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이유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to_number(employee_id)=100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TABLE ACCESS FULL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컬럼에 함수 를 씌우면 인덱스 값과 달라져 못 탄다 → 함수 기반 인덱스 또는 컬럼 가공 회피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employee_id is null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FULL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NULL은 일반 B-tree 인덱스에 저장되지 않는다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is not null + 인덱스 컬럼만 SELECT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INDEX FULL SCAN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인덱스만으로 충당되면 탄다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결합 인덱스 없이 last='King' and first='Steven'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access(last) + filter(first)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인덱스는 last_name만, first_name은 테이블에서 거른다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5.3 ★ 인덱스를 "안 타는" 경우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26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3090672"/>
            <a:ext cx="10506456" cy="1591056"/>
          </a:xfrm>
          <a:prstGeom prst="roundRect">
            <a:avLst>
              <a:gd name="adj" fmla="val 6897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3209544"/>
            <a:ext cx="73152" cy="135331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329184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원칙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749040"/>
            <a:ext cx="995781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인덱스 컬럼을 가공(함수·연산·형변환)하면 그 순간 인덱스는 죽는다. 가공이 필요하면 컬럼이 아니라 상수 쪽 을 바꾸거나, 함수 기반 인덱스를 따로 만든다. 그리고 filter 로만 처리되는 핵심 조건이 보이면 인덱스(또는 결합 인덱스) 기회다.</a:t>
            </a:r>
            <a:endParaRPr lang="en-US" sz="13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5.4 결합(조합) 인덱스 — 선두 컬럼이 전부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27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2295144"/>
            <a:ext cx="10506456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자주 함께 쓰는 컬럼은 하나의 결합 인덱스로 묶는다. (last_name, first_name) 를 만들면 두 조건이 한 번의 access 로 처리된다(앞의 filter 문제 해소). 단 선두 컬럼 선택이 성패를 가른다.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841248" y="3611880"/>
            <a:ext cx="10506456" cy="1865376"/>
          </a:xfrm>
          <a:prstGeom prst="roundRect">
            <a:avLst>
              <a:gd name="adj" fmla="val 5882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868680" y="3730752"/>
            <a:ext cx="73152" cy="1627632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61288" y="3813048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선두 컬럼이 중요한가 — 전화번호부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161288" y="4270248"/>
            <a:ext cx="9957816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결합 인덱스 (last_name, first_name) 는 전화번호부처럼 성(last)으로 먼저 정렬하고, 같은 성 안에서만 이름(first)으로 정렬 돼 있다. 그래서 성을 알면 한 구간으로 좁혀지지만, 성을 모르고 이름만 알면 그 이름이 책 전체에 흩어져 있어 정렬이 무용지물이다.</a:t>
            </a:r>
            <a:endParaRPr lang="en-US" sz="13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5.4 결합(조합) 인덱스 — 선두 컬럼이 전부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28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276856"/>
            <a:ext cx="10506456" cy="2560320"/>
          </a:xfrm>
          <a:prstGeom prst="roundRect">
            <a:avLst>
              <a:gd name="adj" fmla="val 4286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395728"/>
            <a:ext cx="73152" cy="2322576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2459736"/>
            <a:ext cx="995781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다이어그램  </a:t>
            </a:r>
            <a:pPr algn="l" indent="0" marL="0">
              <a:buNone/>
            </a:pPr>
            <a:r>
              <a:rPr lang="en-US" sz="13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인덱스라도 선두(last)를 주면 한 구간으로 좁혀 빠르고, 후행(first)만 주면 흩어져 있어 효율이 사라진다. 이게 선두 컬럼이 성패를 가르는 이유다.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161288" y="2990088"/>
            <a:ext cx="9957816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인덱스 정렬 순서 (last → first) · King · Adam · King · Steven · Lee · John · Lee · Steven · Park · Mina · Park · Steven · ✓ last='King' · → 한 구간에 모임 (RANGE SCAN) · ✗ first='Steven'만 · → King·Lee·Park에 흩어짐 · → 선두가 없으면 못 좁힌다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841248" y="5020056"/>
            <a:ext cx="105064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그래서 선두 컬럼은 이런 컬럼을 골라야 한다:</a:t>
            </a:r>
            <a:endParaRPr lang="en-US" sz="16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5.4 결합(조합) 인덱스 — 선두 컬럼이 전부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29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816352"/>
            <a:ext cx="10506456" cy="2139696"/>
          </a:xfrm>
          <a:prstGeom prst="roundRect">
            <a:avLst>
              <a:gd name="adj" fmla="val 5128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935224"/>
            <a:ext cx="73152" cy="1901952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301752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direct path read 보너스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474720"/>
            <a:ext cx="9957816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full scan을 parallel로 돌리면 버퍼 캐시를 우회해 PGA로 직접 읽는다(direct path read). 이때 대상 테이블의 dirty buffer를 먼저 데이터파일에 내려쓰는 partial checkpoint 가 일어나며 enq: TC - contention 이 보일 수 있다 — 어제 배운 DBWR·checkpoint가 여기서 다시 등장한다.</a:t>
            </a:r>
            <a:endParaRPr lang="en-US" sz="13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5.5 인덱스 스캔 종류 총정리 70일차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6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1737360"/>
            <a:ext cx="105064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인덱스라도 SQL 모양에 따라 스캔 방식이 갈린다. 실측으로 본 종류들을 정리한다.</a:t>
            </a:r>
            <a:endParaRPr lang="en-US" sz="1600" dirty="0"/>
          </a:p>
        </p:txBody>
      </p:sp>
      <p:graphicFrame>
        <p:nvGraphicFramePr>
          <p:cNvPr id="3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2395728"/>
          <a:ext cx="10506456" cy="3602736"/>
        </p:xfrm>
        <a:graphic>
          <a:graphicData uri="http://schemas.openxmlformats.org/drawingml/2006/table">
            <a:tbl>
              <a:tblPr/>
              <a:tblGrid>
                <a:gridCol w="5253228"/>
                <a:gridCol w="5253228"/>
              </a:tblGrid>
              <a:tr h="4003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스캔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동작 · 언제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</a:tr>
              <a:tr h="4003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INDEX RANGE SCAN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leaf에서 시작값 찾고 옆으로 이어 읽기. 비유일·범위 조건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03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INDEX UNIQUE SCAN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유일 인덱스 + = → 정확히 1행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03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INDEX SKIP SCAN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결합 인덱스에서 선두 컬럼 조건이 없을 때 , 선두값 종류마다 인덱스를 건너뛰며 탐색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03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INDEX FULL SCAN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root→leaf 수직 진입 후 leaf를 순서대로 끝까지 . 정렬된 결과라 ORDER BY 를 흡수(sort 생략)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03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INDEX FAST FULL SCAN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leaf 블록을 multiblock 으로 싹 읽기. 더 빠르지만 정렬 안 됨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03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INDEX FULL SCAN DESCENDING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뒤에서 앞으로 → ORDER BY … DESC 흡수 ( index_desc 힌트)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03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INDEX FULL SCAN (MIN/MAX)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MIN() / MAX() 는 인덱스 한쪽 끝만 보면 끝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03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INLIST ITERATOR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IN (a,b,c) — 값 수만큼 RANGE SCAN 반복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5.5 인덱스 스캔 종류 총정리 70일차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6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31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3319272"/>
            <a:ext cx="10506456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"이 SQL을 쓰면 → 이 plan이 나온다" 로 다시 보면 (EMP_NAME_IDX = (last_name, first_name) 결합, EMP_IDX = employee_id 유일 기준):</a:t>
            </a:r>
            <a:endParaRPr lang="en-US" sz="16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5.5 인덱스 스캔 종류 총정리 70일차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/ 6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32</a:t>
            </a:r>
            <a:endParaRPr lang="en-US" sz="900" dirty="0"/>
          </a:p>
        </p:txBody>
      </p:sp>
      <p:graphicFrame>
        <p:nvGraphicFramePr>
          <p:cNvPr id="4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1737360"/>
          <a:ext cx="10506456" cy="3986784"/>
        </p:xfrm>
        <a:graphic>
          <a:graphicData uri="http://schemas.openxmlformats.org/drawingml/2006/table">
            <a:tbl>
              <a:tblPr/>
              <a:tblGrid>
                <a:gridCol w="3502152"/>
                <a:gridCol w="3502152"/>
                <a:gridCol w="3502152"/>
              </a:tblGrid>
              <a:tr h="39867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SQL (조건/정렬)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나오는 plan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이유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</a:tr>
              <a:tr h="39867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where last_name='King'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INDEX RANGE SCAN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선두 컬럼을 = 로 짚음 → 정석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867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where first_name='Steven'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INDEX SKIP SCAN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선두(last_name)가 없고 후행만 → 선두값마다 건너뛰며 탐색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867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where employee_id=100 (유일)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INDEX UNIQUE SCAN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유일 인덱스 + =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867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select last_name, first_name from emp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INDEX FULL SCAN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읽을 컬럼이 전부 인덱스에 있음 → 테이블 안 감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867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… order by employee_id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INDEX FULL SCAN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인덱스가 이미 정렬돼 있어 sort 생략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867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… order by employee_id desc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INDEX FULL SCAN DESCENDING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인덱스를 뒤에서 앞으로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867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select min(employee_id)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INDEX FULL SCAN (MIN/MAX)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한쪽 끝 한 블록만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867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select min(x), max(x) 함께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일반 INDEX FULL SCAN ⚠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한 스캔으로 양 끝을 못 집음 → 전체 읽음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867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where gender in ('f','m')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INLIST ITERATOR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값마다 RANGE SCAN 반복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5.5 인덱스 스캔 종류 총정리 70일차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/ 6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33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816352"/>
            <a:ext cx="10506456" cy="2139696"/>
          </a:xfrm>
          <a:prstGeom prst="roundRect">
            <a:avLst>
              <a:gd name="adj" fmla="val 5128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935224"/>
            <a:ext cx="73152" cy="19019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301752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SKIP SCAN이 유리한 조건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474720"/>
            <a:ext cx="9957816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결합 인덱스 (gender, sal) 에서 where sal between … 처럼 선두(gender) 조건이 없을 때, 옵티마이저는 선두 컬럼의 고유값이 적고(예: gender = m/f 둘) 후행 컬럼의 고유값이 많을 때 SKIP SCAN을 택한다. 선두값(m, f)마다 서브 인덱스를 훑는 셈이라, 선두 고유값이 많으면 오히려 비효율이라 안 쓴다. 강제하려면 index_ss 힌트.</a:t>
            </a:r>
            <a:endParaRPr lang="en-US" sz="13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5.5 인덱스 스캔 종류 총정리 70일차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 / 6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34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734056"/>
            <a:ext cx="10506456" cy="2304288"/>
          </a:xfrm>
          <a:prstGeom prst="roundRect">
            <a:avLst>
              <a:gd name="adj" fmla="val 4762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852928"/>
            <a:ext cx="73152" cy="2066544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2916936"/>
            <a:ext cx="995781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다이어그램  </a:t>
            </a:r>
            <a:pPr algn="l" indent="0" marL="0">
              <a:buNone/>
            </a:pPr>
            <a:r>
              <a:rPr lang="en-US" sz="13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SKIP SCAN: 선두값(f, m)이 둘뿐이라, 사실상 "gender별 RANGE SCAN"을 2번 묶은 것. 선두 고유값이 적을수록 쪼개는 횟수가 적어 유리하다.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161288" y="3447288"/>
            <a:ext cx="9957816" cy="1435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(gender, sal) 인덱스 · where sal between 10 and 20 · 선두값(gender) 종류만큼 쪼개서 · gender='f' 구간 · → sal 10~20 RANGE SCAN · 서브 스캔 ① · gender='m' 구간 · 서브 스캔 ②</a:t>
            </a:r>
            <a:endParaRPr lang="en-US" sz="12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5.5 인덱스 스캔 종류 총정리 70일차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 / 6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35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816352"/>
            <a:ext cx="10506456" cy="2139696"/>
          </a:xfrm>
          <a:prstGeom prst="roundRect">
            <a:avLst>
              <a:gd name="adj" fmla="val 5128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935224"/>
            <a:ext cx="73152" cy="1901952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301752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MIN/MAX 함정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474720"/>
            <a:ext cx="9957816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min(c) 나 max(c) 단독은 INDEX FULL SCAN (MIN/MAX) 로 양 끝만 본다. 하지만 select min(c), max(c) 처럼 같이 쓰면 한 번의 스캔으로 양 끝을 못 집어 일반 INDEX FULL SCAN 으로 전체를 읽는다. min … union all … max 로 쪼개면 각각 (MIN/MAX)가 적용돼 빨라진다.</a:t>
            </a:r>
            <a:endParaRPr lang="en-US" sz="13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5.6 접근 경로 실전 — 같은 쿼리, 네 경로 72일차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36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2029968"/>
            <a:ext cx="1050645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where department_id=80 and salary=10000 을 힌트만 바꿔 네 번 돌리면 경로마다 Buffers 가 갈린다. 여기서 얻는 교훈 하나 — 옵티마이저 기본이 늘 최선은 아니다. 무엇이 최선인지는 추정이 아니라 실측 Buffers로 고른다.</a:t>
            </a:r>
            <a:endParaRPr lang="en-US" sz="1600" dirty="0"/>
          </a:p>
        </p:txBody>
      </p:sp>
      <p:graphicFrame>
        <p:nvGraphicFramePr>
          <p:cNvPr id="4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3675888"/>
          <a:ext cx="10506456" cy="2066544"/>
        </p:xfrm>
        <a:graphic>
          <a:graphicData uri="http://schemas.openxmlformats.org/drawingml/2006/table">
            <a:tbl>
              <a:tblPr/>
              <a:tblGrid>
                <a:gridCol w="3502152"/>
                <a:gridCol w="3502152"/>
                <a:gridCol w="3502152"/>
              </a:tblGrid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경로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힌트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Buffers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① 기본 (옵티마이저 선택)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EMP_SAL_IDX 단일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② dept 인덱스 강제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index(e emp_dept_idx)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③ and_equal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and_equal(e emp_dept_idx emp_sal_idx)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 (최악)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④ index_combine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index_combine(e emp_dept_idx emp_sal_idx)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5.6 접근 경로 실전 — 같은 쿼리, 네 경로 72일차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37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1737360"/>
            <a:ext cx="105064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③ and_equal이 10이나 되나 — 실제 플랜을 펴 보면 숫자가 그대로 답한다.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841248" y="2395728"/>
            <a:ext cx="10506456" cy="3337560"/>
          </a:xfrm>
          <a:prstGeom prst="roundRect">
            <a:avLst>
              <a:gd name="adj" fmla="val 1644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1161288" y="2651760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389888" y="2651760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618488" y="2651760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161288" y="3054096"/>
            <a:ext cx="9957816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HR&gt; select /*+ gather_plan_statistics and_equal(e emp_dept_idx emp_sal_idx) */ *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from hr.emp e where department_id = 80 and salary = 10000;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------------------------------------------------------------------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Id | Operation                        | Name         | Buffers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------------------------------------------------------------------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|* 1 |  TABLE ACCESS BY INDEX ROWID EMP |              |    10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 2 |   AND-EQUAL                      |              |     8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|* 3 |    INDEX RANGE SCAN              | EMP_SAL_IDX  |     5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|* 4 |    INDEX RANGE SCAN              | EMP_DEPT_IDX |     3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------------------------------------------------------------------</a:t>
            </a:r>
            <a:endParaRPr lang="en-US" sz="125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5.6 접근 경로 실전 — 같은 쿼리, 네 경로 72일차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38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679192"/>
            <a:ext cx="10506456" cy="2414016"/>
          </a:xfrm>
          <a:prstGeom prst="roundRect">
            <a:avLst>
              <a:gd name="adj" fmla="val 4545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798064"/>
            <a:ext cx="73152" cy="217627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288036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인덱스를 각각 훑어 합친다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337560"/>
            <a:ext cx="9957816" cy="1591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and_equal은 EMP_SAL_IDX를 스캔해 5 , EMP_DEPT_IDX를 스캔해 3 , 이 둘이 준 rowid를 AND-EQUAL 로 교집합( 8 )한 뒤 테이블 접근까지 더해 10 이다. 인덱스 하나만 타면 4~5인데, 둘을 각각 훑어 합치니 오히려 더 많다. 같은 교집합을 index_combine(비트맵 변환)은 4 로 더 싸게 처리한다. 실측 없이 힌트를 믿으면 이렇게 손해 다 — §2.5의 "무엇을 의심하나" 체크를 여기서 그대로 쓴다.</a:t>
            </a:r>
            <a:endParaRPr lang="en-US" sz="13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5.7 비트맵 인덱스 — DW용, 그리고 row lock 함정 72일차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6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39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1737360"/>
            <a:ext cx="10506456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B*tree와 bitmap은 정반대 상황 용이다. 헷갈리면 "값 종류(선택도)가 어떤가"로 가른다.</a:t>
            </a:r>
            <a:endParaRPr lang="en-US" sz="1600" dirty="0"/>
          </a:p>
        </p:txBody>
      </p:sp>
      <p:graphicFrame>
        <p:nvGraphicFramePr>
          <p:cNvPr id="4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2724912"/>
          <a:ext cx="10506456" cy="2066544"/>
        </p:xfrm>
        <a:graphic>
          <a:graphicData uri="http://schemas.openxmlformats.org/drawingml/2006/table">
            <a:tbl>
              <a:tblPr/>
              <a:tblGrid>
                <a:gridCol w="3502152"/>
                <a:gridCol w="3502152"/>
                <a:gridCol w="3502152"/>
              </a:tblGrid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기준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B*tree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bitmap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맞는 컬럼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유일·고선택도 (예: employee_id)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중복 많은 저선택도 (예: gender)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DML 비용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낮음 (행 단위 잠금)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높음 (여러 행을 함께 잠금)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연산자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OR에 비효율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AND·OR 모두 효율 (index_combine)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용도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OLTP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DW · DSS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Text 8"/>
          <p:cNvSpPr/>
          <p:nvPr/>
        </p:nvSpPr>
        <p:spPr>
          <a:xfrm>
            <a:off x="841248" y="4974336"/>
            <a:ext cx="10506456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비트맵이 뭐길래 — 값 하나마다 "그 값을 가진 행은 1, 아니면 0"인 비트벡터 를 만든다. 값 종류가 적을수록(저선택도) 벡터가 몇 개 안 되고 압축이 잘 돼 작다.</a:t>
            </a:r>
            <a:endParaRPr lang="en-US" sz="16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5.7 비트맵 인덱스 — DW용, 그리고 row lock 함정 72일차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6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724912"/>
            <a:ext cx="10506456" cy="2322576"/>
          </a:xfrm>
          <a:prstGeom prst="roundRect">
            <a:avLst>
              <a:gd name="adj" fmla="val 4724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843784"/>
            <a:ext cx="73152" cy="208483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2907792"/>
            <a:ext cx="995781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다이어그램  </a:t>
            </a:r>
            <a:pPr algn="l" indent="0" marL="0">
              <a:buNone/>
            </a:pPr>
            <a:r>
              <a:rPr lang="en-US" sz="13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값(m/f)마다 행 전체를 훑는 비트벡터가 하나씩. AND/OR은 이 벡터들을 비트로 겹치면 끝이라 대량·저선택도에 빠르다. 대신 한 값이 여러 행(r1·r3·r4)을 한 덩어리로 묶는 게 OLTP 잠금 함정의 씨앗이다.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161288" y="3438144"/>
            <a:ext cx="9957816" cy="1453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gender 5행 — 값마다 비트벡터 하나 (1 = 그 값을 가진 행, 0 = 아님) · r1 · r2 · r3 · r4 · r5 · 'm' · 1 · 0 · 'f' · 'm'의 1들(r1·r3·r4)이 한 조각 — 이 조각을 잠그면 셋 다 대기</a:t>
            </a:r>
            <a:endParaRPr lang="en-US" sz="120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5.7 비트맵 인덱스 — DW용, 그리고 row lock 함정 72일차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/ 6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41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542032"/>
            <a:ext cx="10506456" cy="2688336"/>
          </a:xfrm>
          <a:prstGeom prst="roundRect">
            <a:avLst>
              <a:gd name="adj" fmla="val 4082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660904"/>
            <a:ext cx="73152" cy="245059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274320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AND/OR이 왜 싼가 — index_combine의 정체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200400"/>
            <a:ext cx="9957816" cy="1865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조건을 겹칠 때 bitmap은 두 비트벡터를 bitwise AND/OR 만 하면 된다( gender='m' AND dept=10 → 두 벡터에서 나란히 1인 자리만 남긴다). §5.6에서 index_combine이 and_equal(10)보다 싼 4 였던 이유가 이것 — 옵티마이저가 B*tree의 rowid를 비트맵으로 변환(BITMAP CONVERSION FROM ROWIDS) 해 비트 연산으로 교집합하기 때문이다. rowid를 하나씩 맞춰보는 AND-EQUAL보다 비트 겹치기가 싸다. 확인 권장</a:t>
            </a:r>
            <a:endParaRPr lang="en-US" sz="130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5.7 비트맵 인덱스 — DW용, 그리고 row lock 함정 72일차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/ 6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42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2162556"/>
            <a:ext cx="1050645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그런데 bitmap을 OLTP에 쓰면 — 한 값이 여러 행을 함께 잠근다. bitmap은 키 하나( gender='m' )가 그 값을 가진 여러 행을 한 조각(비트맵 세그먼트)으로 덮는다. 그래서 서로 다른 행 을 넣어도 gender가 같으면 같은 조각을 두고 잠금이 부딪친다.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841248" y="3808476"/>
            <a:ext cx="10506456" cy="1801368"/>
          </a:xfrm>
          <a:prstGeom prst="roundRect">
            <a:avLst>
              <a:gd name="adj" fmla="val 3046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1161288" y="4064508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389888" y="4064508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618488" y="4064508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161288" y="4466844"/>
            <a:ext cx="9957816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세션1: insert ... values(1,'m','y')    세션2: insert ... values(3,'m','y')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SQL&gt; select sid, blocking_session, event from v$session where event like '%TX%';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SID   BLOCKING_SESSION   EVENT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286   255                enq: TX - row lock contention</a:t>
            </a:r>
            <a:endParaRPr lang="en-US" sz="125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5.7 비트맵 인덱스 — DW용, 그리고 row lock 함정 72일차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 / 6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43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679192"/>
            <a:ext cx="10506456" cy="2414016"/>
          </a:xfrm>
          <a:prstGeom prst="roundRect">
            <a:avLst>
              <a:gd name="adj" fmla="val 4545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798064"/>
            <a:ext cx="73152" cy="2176272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288036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다른 행인데 왜 막혔나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337560"/>
            <a:ext cx="9957816" cy="1591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286은 (3,'m','y') , 255는 (1,'m','y') . 행은 다르지만 gender='m' 이 같아 같은 bitmap 조각 을 두고 286이 255에 막혔다. B*tree라면 다른 행이라 안 부딪쳤을 경합이다. 그래서 bitmap은 동시 DML이 잦은 OLTP엔 독 이고, 변경이 드문 DW·DSS에서 enq: TX - row lock contention 걱정 없이 AND/OR을 싸게 처리하는 용도다.</a:t>
            </a:r>
            <a:endParaRPr lang="en-US" sz="130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5.7 비트맵 인덱스 — DW용, 그리고 row lock 함정 72일차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 / 6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44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404872"/>
            <a:ext cx="10506456" cy="2962656"/>
          </a:xfrm>
          <a:prstGeom prst="roundRect">
            <a:avLst>
              <a:gd name="adj" fmla="val 3704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523744"/>
            <a:ext cx="73152" cy="272491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260604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'다른 행'인데 막히나 — 조각 단위 잠금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063240"/>
            <a:ext cx="9957816" cy="2139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bitmap은 공간을 아끼려 연속된 여러 행의 비트를 한 조각(bitmap piece)으로 압축 해 둔다. 그래서 그 안의 비트 하나 만 바꾸려 해도(=한 행이 그 값을 갖게 insert/update되면) 조각을 통째로 풀었다 다시 압축해야 하고, 그동안 같은 조각이 덮는 다른 행들까지 함께 잠긴다 . B*tree는 행마다 인덱스 엔트리가 따로라 딱 한 행만 잠그지만, bitmap은 한 값의 여러 행이 한 조각이라 "다른 행인데 같은 값"이면 부딪친다 (위 286↔255). 동시 입력·수정이 몰릴수록 enq: TX - row lock contention 이 쌓인다. 확인 권장</a:t>
            </a:r>
            <a:endParaRPr lang="en-US" sz="130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2C37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95528" y="1371600"/>
            <a:ext cx="45720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0" b="1" dirty="0">
                <a:solidFill>
                  <a:srgbClr val="3341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06</a:t>
            </a:r>
            <a:endParaRPr lang="en-US" sz="13000" dirty="0"/>
          </a:p>
        </p:txBody>
      </p:sp>
      <p:sp>
        <p:nvSpPr>
          <p:cNvPr id="4" name="Shape 2"/>
          <p:cNvSpPr/>
          <p:nvPr/>
        </p:nvSpPr>
        <p:spPr>
          <a:xfrm>
            <a:off x="841248" y="4114800"/>
            <a:ext cx="566928" cy="82296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41248" y="4343400"/>
            <a:ext cx="1050645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실행계획 도구 &amp; 통계 읽기 70일차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841248" y="5230368"/>
            <a:ext cx="105064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무엇으로 뽑고, 결과의 숫자를 어떻게 읽나</a:t>
            </a:r>
            <a:endParaRPr lang="en-US" sz="160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6.1 도구 심화 — autotrace 모드 &amp; display 포맷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45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2157984"/>
            <a:ext cx="10506456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도구 3종( autotrace · EXPLAIN PLAN · display_cursor )과 "예상 vs 실제(E-Rows/A-Rows)"는 §2.1 실행계획 읽기 에서 다뤘다. 여기서는 70일차에 더 자세히 본 모드·포맷 옵션 만 짚는다.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841248" y="3474720"/>
            <a:ext cx="10506456" cy="2139696"/>
          </a:xfrm>
          <a:prstGeom prst="roundRect">
            <a:avLst>
              <a:gd name="adj" fmla="val 5128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868680" y="3593592"/>
            <a:ext cx="73152" cy="19019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61288" y="3675888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autotrace 모드 (set autot …)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161288" y="4133088"/>
            <a:ext cx="9957816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on (계획+결과+통계) · on exp (결과+계획) · on stat (결과+통계) · traceonly (결과 숨김, 계획+통계) · trace exp (계획만) · trace stat (통계만) · off . "결과를 볼까 / 계획만 / 통계만"의 조합이다. (autotrace는 PLUSTRACE role이 있어야 통계까지 나온다.)</a:t>
            </a:r>
            <a:endParaRPr lang="en-US" sz="1300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6.1 도구 심화 — autotrace 모드 &amp; display 포맷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46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816352"/>
            <a:ext cx="10506456" cy="2139696"/>
          </a:xfrm>
          <a:prstGeom prst="roundRect">
            <a:avLst>
              <a:gd name="adj" fmla="val 5128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935224"/>
            <a:ext cx="73152" cy="1901952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301752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display 포맷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474720"/>
            <a:ext cx="9957816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dbms_xplan.display(...,'basic'|'typical'|'outline'|'advanced') . basic 은 Id·Operation·Name만, typical (기본)은 Rows·Cost·Predicate까지, outline 은 옵티마이저가 쓴 힌트 묶음(계획 고정용), advanced 는 Column Projection까지 전부 보여준다.</a:t>
            </a:r>
            <a:endParaRPr lang="en-US" sz="1300" dirty="0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6.2 Statistics 숫자 읽기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47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1737360"/>
            <a:ext cx="10506456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먼저 — 실행계획 표 자체의 컬럼 ( display_cursor … allstats last )이 숫자의 1차 출처다.</a:t>
            </a:r>
            <a:endParaRPr lang="en-US" sz="1600" dirty="0"/>
          </a:p>
        </p:txBody>
      </p:sp>
      <p:graphicFrame>
        <p:nvGraphicFramePr>
          <p:cNvPr id="5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2724912"/>
          <a:ext cx="10506456" cy="2450592"/>
        </p:xfrm>
        <a:graphic>
          <a:graphicData uri="http://schemas.openxmlformats.org/drawingml/2006/table">
            <a:tbl>
              <a:tblPr/>
              <a:tblGrid>
                <a:gridCol w="5253228"/>
                <a:gridCol w="5253228"/>
              </a:tblGrid>
              <a:tr h="4084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컬럼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의미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</a:tr>
              <a:tr h="4084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Starts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그 operation을 몇 번 반복 했나 (NL 안쪽이면 바깥 행 수만큼)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84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E-Rows / A-Rows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예상 행수 / 실제 반환 행수. 둘이 벌어지면 통계 의심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84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A-Time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실제 수행 시간(누적)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84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Buffers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그 operation의 논리 I/O 블록 수(누적). 물리 포함. 튜닝 1차 지표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84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Reads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물리 I/O 블록 수(누적) — 디스크에서 실제로 읽음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Text 8"/>
          <p:cNvSpPr/>
          <p:nvPr/>
        </p:nvSpPr>
        <p:spPr>
          <a:xfrm>
            <a:off x="841248" y="5358384"/>
            <a:ext cx="105064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그리고 autotrace의 Statistics 블록:</a:t>
            </a:r>
            <a:endParaRPr lang="en-US" sz="1600" dirty="0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6.2 Statistics 숫자 읽기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48</a:t>
            </a:r>
            <a:endParaRPr lang="en-US" sz="900" dirty="0"/>
          </a:p>
        </p:txBody>
      </p:sp>
      <p:graphicFrame>
        <p:nvGraphicFramePr>
          <p:cNvPr id="5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2468880"/>
          <a:ext cx="10506456" cy="2834640"/>
        </p:xfrm>
        <a:graphic>
          <a:graphicData uri="http://schemas.openxmlformats.org/drawingml/2006/table">
            <a:tbl>
              <a:tblPr/>
              <a:tblGrid>
                <a:gridCol w="5253228"/>
                <a:gridCol w="5253228"/>
              </a:tblGrid>
              <a:tr h="40494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항목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의미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</a:tr>
              <a:tr h="40494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consistent gets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SELECT의 논리 I/O (읽기 일관성 모드 블록 읽기). 튜닝의 핵심 지표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494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db block gets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DML의 current 모드 블록 읽기(논리 I/O)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494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physical reads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물리 I/O — 디스크에서 실제로 읽은 블록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494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recursive calls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오라클 내부 SQL 수. hard parse 시 증가 (딕셔너리 조회 등)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494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redo size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DML이 만든 redo 바이트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494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sorts (memory/disk)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PGA에서 끝난 정렬 / temp로 흘러넘친 정렬. disk가 0이 아니면 PGA 부족 신호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6.2 Statistics 숫자 읽기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49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1929384"/>
            <a:ext cx="10506456" cy="1591056"/>
          </a:xfrm>
          <a:prstGeom prst="roundRect">
            <a:avLst>
              <a:gd name="adj" fmla="val 6897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048256"/>
            <a:ext cx="73152" cy="1353312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2130552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출처는 같은 것을 다르게 부른다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2587752"/>
            <a:ext cx="995781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실행계획 표의 Buffers ≈ Statistics의 consistent gets (+db block gets), Reads ≈ physical reads . 표는 operation별 로, Statistics는 문장 전체 로 본다는 차이.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841248" y="3703320"/>
            <a:ext cx="10506456" cy="2139696"/>
          </a:xfrm>
          <a:prstGeom prst="roundRect">
            <a:avLst>
              <a:gd name="adj" fmla="val 5128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68680" y="3822192"/>
            <a:ext cx="73152" cy="19019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61288" y="3904488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튜닝은 보통 consistent gets를 본다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161288" y="4361688"/>
            <a:ext cx="9957816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실행 시간은 캐시 상태·부하에 따라 출렁이지만 논리 I/O(consistent gets)는 그 SQL이 한 일의 양 이라 안정적이다. 같은 결과를 더 적은 consistent gets로 내도록 바꾸는 게 튜닝의 본질. latch: cache buffers chains 경합도 결국 과도한 논리 I/O가 원인이라 같은 처방으로 줄어든다.</a:t>
            </a:r>
            <a:endParaRPr lang="en-US" sz="1300" dirty="0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6.3 버퍼 피닝 (Buffer Pinning)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7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761488"/>
            <a:ext cx="10506456" cy="1591056"/>
          </a:xfrm>
          <a:prstGeom prst="roundRect">
            <a:avLst>
              <a:gd name="adj" fmla="val 6897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880360"/>
            <a:ext cx="73152" cy="1353312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2962656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줄 비유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419856"/>
            <a:ext cx="995781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책 45권을 꺼내는데, 여러 권이 같은 책장 에 꽂혀 있다. 책장 하나를 꺼낼 때마다 제자리에 도로 꽂지 않고 옆에 둔 채(=핀) 계속 빼면, 책장까지 걸어가는 횟수가 확 준다. 여기서 "책장까지 걸어가기"가 블록 읽기(논리 I/O) 다.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841248" y="4535424"/>
            <a:ext cx="105064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기법이 왜 필요한지 를 문제 → 원인 → 해결 순으로 보자.</a:t>
            </a:r>
            <a:endParaRPr lang="en-US" sz="1600" dirty="0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6.3 버퍼 피닝 (Buffer Pinning)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7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51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532888"/>
            <a:ext cx="10506456" cy="2048256"/>
          </a:xfrm>
          <a:prstGeom prst="roundRect">
            <a:avLst>
              <a:gd name="adj" fmla="val 5357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651760"/>
            <a:ext cx="73152" cy="181051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2715768"/>
            <a:ext cx="995781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다이어그램  </a:t>
            </a:r>
            <a:pPr algn="l" indent="0" marL="0">
              <a:buNone/>
            </a:pPr>
            <a:r>
              <a:rPr lang="en-US" sz="13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큰 흐름: 많이 읽어야 하는 문제 → 행들이 몇 블록에 몰려 있다는 관찰 → 그 블록을 핀으로 재사용해 읽기를 줄임.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161288" y="3246120"/>
            <a:ext cx="9957816" cy="1179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문제 · 45행을 행마다 읽으면 · ≈ 46번 블록 읽기 · ② 알고보니 · 그 45행은 사실 · 5개 블록에 몰려 있다 · ③ 그래서 핀 · 읽은 블록을 붙들어 · 재사용 → 9번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841248" y="4764024"/>
            <a:ext cx="105064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문제 — 인덱스 읽기는 사실 '작은 NL 루프'</a:t>
            </a:r>
            <a:endParaRPr lang="en-US" sz="1600" dirty="0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6.3 버퍼 피닝 (Buffer Pinning)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/ 7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52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1737360"/>
            <a:ext cx="10506456" cy="2414016"/>
          </a:xfrm>
          <a:prstGeom prst="roundRect">
            <a:avLst>
              <a:gd name="adj" fmla="val 4545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1856232"/>
            <a:ext cx="73152" cy="217627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1938528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Id 2 ↔ Id 1 의 반복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2395728"/>
            <a:ext cx="9957816" cy="1591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실행계획의 두 줄이 이렇게 주고받는다. Id 2 (INDEX RANGE SCAN) : 인덱스 leaf에서 조건에 맞는 rowid 하나 를 찾아 Id 1에 넘긴다. Id 1 (TABLE ACCESS BY INDEX ROWID) : 그 rowid의 테이블 블록을 읽어 결과 한 행을 만든다. 다시 Id 2가 다음 rowid → Id 1이 또 읽고 … 행 수(45)만큼 반복. 순진하게 보면 행마다 테이블 블록을 한 번씩 읽으니 45번 + 인덱스 ≈ 46번이다.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841248" y="4334256"/>
            <a:ext cx="1050645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알고보니 + ③ 그래서 핀 — 블록 단위로 보면</a:t>
            </a:r>
            <a:endParaRPr lang="en-US" sz="16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그런데 같은 부서원(department_id=50) 행들은 테이블에서 몇 개의 블록에 몰려 있다. Id 1이 한 번 읽은 블록을 바로 풀지 않고 핀으로 붙들어 두면 , 다음 rowid가 같은 블록을 가리킬 때 다시 안 읽고 재사용한다.</a:t>
            </a:r>
            <a:endParaRPr lang="en-US" sz="1600" dirty="0"/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6.3 버퍼 피닝 (Buffer Pinning)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/ 7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53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276856"/>
            <a:ext cx="10506456" cy="2560320"/>
          </a:xfrm>
          <a:prstGeom prst="roundRect">
            <a:avLst>
              <a:gd name="adj" fmla="val 4286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395728"/>
            <a:ext cx="73152" cy="2322576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2459736"/>
            <a:ext cx="995781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다이어그램  </a:t>
            </a:r>
            <a:pPr algn="l" indent="0" marL="0">
              <a:buNone/>
            </a:pPr>
            <a:r>
              <a:rPr lang="en-US" sz="13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핵심은 "45행이 5블록에 몰려 있다"는 것. 블록을 핀으로 잡아두면 같은 블록의 행들은 읽기 1번으로 끝나, 45번이 5번으로 줄어든다.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161288" y="2990088"/>
            <a:ext cx="9957816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45개 행의 rowid가 가리키는 테이블 블록은 사실 몇 개뿐 — 같은 블록은 1번만 읽는다 · 블록 #1 · ≈ 9행 · 1회만 읽음 · 블록 #2 · 블록 #3 · 블록 #4 · 블록 #5 · 한 블록 안의 여러 행은 핀으로 붙들어 둔 채 연속으로 꺼낸다 (다시 안 읽음) · 인덱스 접근 4 + 테이블 블록 5 = Buffers 9 · 핀이 없으면 45행을 따로 읽어 ≈ 46번 — 그게 9로 접힌 것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841248" y="5020056"/>
            <a:ext cx="105064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실측 (department_id=50, 45행)</a:t>
            </a:r>
            <a:endParaRPr lang="en-US" sz="1600" dirty="0"/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6.3 버퍼 피닝 (Buffer Pinning)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 / 7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54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473452"/>
            <a:ext cx="10506456" cy="2825496"/>
          </a:xfrm>
          <a:prstGeom prst="roundRect">
            <a:avLst>
              <a:gd name="adj" fmla="val 1942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1161288" y="2729484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389888" y="2729484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618488" y="2729484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161288" y="3131820"/>
            <a:ext cx="9957816" cy="2002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HR@ora19c&gt; select /*+ gather_plan_statistics */ * from hr.emp where department_id = 50;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-----------------------------------------------------------------------------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Id | Operation                          | Name         | A-Rows | Buffers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-----------------------------------------------------------------------------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 0 | SELECT STATEMENT                   |              |     45 |       9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 1 |  TABLE ACCESS BY INDEX ROWID BATCHED| EMP          |     45 |       9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|* 2 |   INDEX RANGE SCAN                 | EMP_DEPT_IDX |     45 |       4 |  ← 핀으로 절약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-----------------------------------------------------------------------------</a:t>
            </a:r>
            <a:endParaRPr lang="en-US" sz="1250" dirty="0"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6.3 버퍼 피닝 (Buffer Pinning)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 / 7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55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130552"/>
            <a:ext cx="10506456" cy="3511296"/>
          </a:xfrm>
          <a:prstGeom prst="roundRect">
            <a:avLst>
              <a:gd name="adj" fmla="val 3125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249424"/>
            <a:ext cx="73152" cy="32735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233172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핀이 정확히 뭔가 — 무엇을·왜·언제 푸나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2788920"/>
            <a:ext cx="9957816" cy="2688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 — 핀(buffer pin)은 그 블록의 관리 카드( buffer header )에 꽂는 "지금 사용 중" 표시다. 데이터 본문이 아니라 블록마다 붙은 머리표에 기록된다. 왜 절약되나 — 핀이 살아 있으면 그 블록은 메모리에 그대로 있어, 다음에 같은 블록을 쓸 때 cache buffers chains latch를 잡고 해시 체인을 뒤지는 과정을 통째로 건너뛴다. 즉 "주소로 다시 찾아가는" 게 아니라 "이미 손에 쥔" 것이다. 논리 I/O(Buffers)와 latch 점유가 함께 준다. 언제 풀리나 — 다른 블록으로 넘어갈 때 , 또는 그 operation/fetch 단위가 끝날 때 푼다. 그래서 같은 블록이 연속 으로 와야 효과가 있고, 중간에 다른 블록이 끼면 풀려서 절약이 사라진다(= clustering이 나쁘면 효과 없음).</a:t>
            </a:r>
            <a:endParaRPr lang="en-US" sz="1300" dirty="0"/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6.3 버퍼 피닝 (Buffer Pinning)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 / 7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56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542032"/>
            <a:ext cx="10506456" cy="2688336"/>
          </a:xfrm>
          <a:prstGeom prst="roundRect">
            <a:avLst>
              <a:gd name="adj" fmla="val 4082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660904"/>
            <a:ext cx="73152" cy="245059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274320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효과를 키우는 두 가지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200400"/>
            <a:ext cx="9957816" cy="1865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BATCHED — rowid를 모아 블록별로 묶어 접근( TABLE ACCESS BY INDEX ROWID BATCHED ). 같은 블록을 한 번에 처리해 피닝 효과를 키운다. clustering factor — 같은 키의 행들이 테이블에서 가까이 모여 있을수록 (클러스터링 팩터가 좋을수록) 연속 rowid가 같은 블록에 떨어져 피닝 효과가 커진다. 흩어져 있으면 매 행이 다른 블록이라 절약이 사라진다. 39일차 Execute에서 본 buffer pin 이 여기서 튜닝 효과(논리 I/O 절감) 로 다시 등장한 셈이다.</a:t>
            </a:r>
            <a:endParaRPr lang="en-US" sz="1300" dirty="0"/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6.4 클러스터링 팩터 — 같은 테이블에서 24배 차이 71일차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57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1965960"/>
            <a:ext cx="10506456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버퍼 피닝이 잘 먹히려면 같은 키의 행들이 테이블에서 가까운 블록에 모여 있어야 한다. 그 "모인 정도"를 수치로 나타낸 게 clustering factor 다.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841248" y="2953512"/>
            <a:ext cx="10506456" cy="1865376"/>
          </a:xfrm>
          <a:prstGeom prst="roundRect">
            <a:avLst>
              <a:gd name="adj" fmla="val 5882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868680" y="3072384"/>
            <a:ext cx="73152" cy="162763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61288" y="315468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어떻게 계산되나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161288" y="3611880"/>
            <a:ext cx="9957816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인덱스 leaf를 처음부터 끝까지 훑으면서, rowid가 가리키는 테이블 블록 번호가 직전과 바뀔 때마다 +1 . 그래서 — 값이 테이블 블록 수 에 가까움 → 좋음 (행들이 블록별로 뭉쳐 있어 블록이 잘 안 바뀜) 값이 테이블 행 수 에 가까움 → 나쁨 (행마다 블록이 바뀜 = 흩어짐)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841248" y="5001768"/>
            <a:ext cx="10506456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실측 — 같은 데이터, 같은 결과(71,332행)인데 인덱스만 다름 (테이블을 object_id 순으로 정렬해 생성):</a:t>
            </a:r>
            <a:endParaRPr lang="en-US" sz="1600" dirty="0"/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6.4 클러스터링 팩터 — 같은 테이블에서 24배 차이 71일차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58</a:t>
            </a:r>
            <a:endParaRPr lang="en-US" sz="900" dirty="0"/>
          </a:p>
        </p:txBody>
      </p:sp>
      <p:graphicFrame>
        <p:nvGraphicFramePr>
          <p:cNvPr id="6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1938528"/>
          <a:ext cx="10506456" cy="1298448"/>
        </p:xfrm>
        <a:graphic>
          <a:graphicData uri="http://schemas.openxmlformats.org/drawingml/2006/table">
            <a:tbl>
              <a:tblPr/>
              <a:tblGrid>
                <a:gridCol w="2626614"/>
                <a:gridCol w="2626614"/>
                <a:gridCol w="2626614"/>
                <a:gridCol w="2626614"/>
              </a:tblGrid>
              <a:tr h="4328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인덱스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컬럼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clustering factor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같은 쿼리 Buffers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</a:tr>
              <a:tr h="4328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C_TAB_IDX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object_id (정렬된 순서 ✓)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1,389 (블록수 1,421에 근접)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1,548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28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C_TAB_NAME_IDX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object_name (흩어짐 ✗)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36,060 (행수 71,332 쪽)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36,516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Shape 7"/>
          <p:cNvSpPr/>
          <p:nvPr/>
        </p:nvSpPr>
        <p:spPr>
          <a:xfrm>
            <a:off x="841248" y="3419856"/>
            <a:ext cx="10506456" cy="2414016"/>
          </a:xfrm>
          <a:prstGeom prst="roundRect">
            <a:avLst>
              <a:gd name="adj" fmla="val 4545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868680" y="3538728"/>
            <a:ext cx="73152" cy="2176272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161288" y="3621024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 24배 차이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1161288" y="4078224"/>
            <a:ext cx="9957816" cy="1591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똑같은 71,332행을 세는데, 좋은 인덱스는 1,548 번, 나쁜 인덱스는 36,516 번 블록을 읽는다. 나쁜 쪽은 행마다 다른 블록이라 핀이 매번 풀려 재사용이 안 된다. 한 순서로만 정렬 가능 이라는 함정도 그대로다 — object_id로 정렬해 만들었으니 object_id 인덱스만 좋고, object_name 인덱스는 나쁘다. 그래서 가장 자주·많이 범위 조회하는 컬럼 하나 를 기준으로 정렬해 둔다(CTAS ... ORDER BY, dbms_redefinition 등).</a:t>
            </a:r>
            <a:endParaRPr lang="en-US" sz="1300" dirty="0"/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6.4 클러스터링 팩터 — 같은 테이블에서 24배 차이 71일차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59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3090672"/>
            <a:ext cx="10506456" cy="1591056"/>
          </a:xfrm>
          <a:prstGeom prst="roundRect">
            <a:avLst>
              <a:gd name="adj" fmla="val 6897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3209544"/>
            <a:ext cx="73152" cy="135331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329184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latch와 연결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749040"/>
            <a:ext cx="995781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clustering이 좋으면 같은 블록 연속 → 핀 재사용 → cache buffers chains latch 를 잡는 횟수가 줄어든다. 즉 clustering factor가 좋다 = 논리 I/O(Buffers)도, latch 점유도 함께 준다.</a:t>
            </a:r>
            <a:endParaRPr lang="en-US" sz="1300" dirty="0"/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6.5 SQL TRACE &amp; tkprof 71일차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1737360"/>
            <a:ext cx="10506456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display_cursor가 "한 SQL의 실행계획+실측"이라면, SQL TRACE 는 한 세션이 돌린 SQL들의 수행 통계를 파일로 남긴다. 그 파일을 사람이 읽기 좋게 포맷하는 도구가 tkprof 다.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841248" y="3054096"/>
            <a:ext cx="10506456" cy="1801368"/>
          </a:xfrm>
          <a:prstGeom prst="roundRect">
            <a:avLst>
              <a:gd name="adj" fmla="val 3046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1161288" y="3310128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389888" y="3310128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618488" y="3310128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161288" y="3712464"/>
            <a:ext cx="9957816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HR&gt; alter session set sql_trace = true;        -- 추적 켜기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HR&gt; select * from hr.emp where employee_id = 100;  -- 추적할 SQL 실행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HR&gt; alter session set sql_trace = false;       -- 끄기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tkprof ora19c_ora_xxxx.trc out.txt sys=no    -- 포맷 (sys=no: 내부 SQL 제외)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841248" y="5038344"/>
            <a:ext cx="10506456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tkprof 결과는 SQL마다 Parse · Execute · Fetch 세 줄로 통계를 보여준다.</a:t>
            </a:r>
            <a:endParaRPr lang="en-US" sz="1600" dirty="0"/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6.5 SQL TRACE &amp; tkprof 71일차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61</a:t>
            </a:r>
            <a:endParaRPr lang="en-US" sz="900" dirty="0"/>
          </a:p>
        </p:txBody>
      </p:sp>
      <p:graphicFrame>
        <p:nvGraphicFramePr>
          <p:cNvPr id="7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1737360"/>
          <a:ext cx="10506456" cy="1682496"/>
        </p:xfrm>
        <a:graphic>
          <a:graphicData uri="http://schemas.openxmlformats.org/drawingml/2006/table">
            <a:tbl>
              <a:tblPr/>
              <a:tblGrid>
                <a:gridCol w="5253228"/>
                <a:gridCol w="5253228"/>
              </a:tblGrid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call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무슨 통계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Parse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파싱·실행계획 생성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Execute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커서 실행 단계 — DML은 여기를 본다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Fetch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행을 실제로 가져옴 — SELECT는 여기를 본다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3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3602736"/>
          <a:ext cx="10506456" cy="2066544"/>
        </p:xfrm>
        <a:graphic>
          <a:graphicData uri="http://schemas.openxmlformats.org/drawingml/2006/table">
            <a:tbl>
              <a:tblPr/>
              <a:tblGrid>
                <a:gridCol w="5253228"/>
                <a:gridCol w="5253228"/>
              </a:tblGrid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열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의미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disk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물리 블록 수 (= 디스크 읽기, pr)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query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일관성 읽기용 논리 블록 = consistent gets — SELECT면 이걸 본다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current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current 모드 논리 블록 = db block gets — DML이면 이걸 본다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rows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처리한 행 수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6.5 SQL TRACE &amp; tkprof 71일차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62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816352"/>
            <a:ext cx="10506456" cy="2139696"/>
          </a:xfrm>
          <a:prstGeom prst="roundRect">
            <a:avLst>
              <a:gd name="adj" fmla="val 5128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935224"/>
            <a:ext cx="73152" cy="19019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301752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줄로 외우기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474720"/>
            <a:ext cx="9957816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SELECT → Fetch 줄의 query(consistent gets)·disk 를 본다. DML → Execute 줄의 current(db block gets)·disk 를 본다. (Row Source Operation 줄의 cr =논리 블록, pr =물리 블록, pw =쓰기도 같은 뜻.) display_cursor의 Buffers/Reads와 같은 것을 파일 관점에서 보는 셈이다.</a:t>
            </a:r>
            <a:endParaRPr lang="en-US" sz="1300" dirty="0"/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6.6 10046 이벤트 — bind 값과 wait까지 72일차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6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63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1737360"/>
            <a:ext cx="10506456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sql_trace=true (§6.5)는 "무슨 SQL이 얼마나 걸렸나"까지다. 한 걸음 더 — 어떤 값(bind)으로 돌렸고, 무엇을 기다렸나(wait) — 까지 보려면 10046 이벤트 를 건다. 느린 원인이 읽기량이 아니라 기다림 일 때 필수다.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841248" y="3054096"/>
            <a:ext cx="10506456" cy="2825496"/>
          </a:xfrm>
          <a:prstGeom prst="roundRect">
            <a:avLst>
              <a:gd name="adj" fmla="val 1942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1161288" y="3310128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389888" y="3310128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618488" y="3310128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161288" y="3712464"/>
            <a:ext cx="9957816" cy="2002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HR&gt; alter session set events '10046 trace name context forever, level 12';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HR&gt; exec :b_id := 50;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HR&gt; select * from hr.emp where department_id = :b_id;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HR&gt; alter session set events '10046 trace name context off';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추적파일에 찍히는 것: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BINDS #..:  :b_id = 50                         -- 무슨 값으로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WAIT #..:  db file sequential read ...         -- 무엇을 기다렸나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WAIT #..:  db file scattered read ...</a:t>
            </a:r>
            <a:endParaRPr lang="en-US" sz="1250" dirty="0"/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6.6 10046 이벤트 — bind 값과 wait까지 72일차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6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64</a:t>
            </a:r>
            <a:endParaRPr lang="en-US" sz="900" dirty="0"/>
          </a:p>
        </p:txBody>
      </p:sp>
      <p:graphicFrame>
        <p:nvGraphicFramePr>
          <p:cNvPr id="7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2852928"/>
          <a:ext cx="10506456" cy="2066544"/>
        </p:xfrm>
        <a:graphic>
          <a:graphicData uri="http://schemas.openxmlformats.org/drawingml/2006/table">
            <a:tbl>
              <a:tblPr/>
              <a:tblGrid>
                <a:gridCol w="5253228"/>
                <a:gridCol w="5253228"/>
              </a:tblGrid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level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추가로 찍히는 것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기본 — SQL·실행통계 ( sql_trace=true 와 동급)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+ BINDS (바인드 변수 값)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+ WAITS (대기 이벤트)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12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 + 8 — bind·wait 둘 다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6.6 10046 이벤트 — bind 값과 wait까지 72일차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/ 6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65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350008"/>
            <a:ext cx="10506456" cy="2414016"/>
          </a:xfrm>
          <a:prstGeom prst="roundRect">
            <a:avLst>
              <a:gd name="adj" fmla="val 4545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468880"/>
            <a:ext cx="73152" cy="217627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2551176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레벨은 더한다 — 12 = 4 + 8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008376"/>
            <a:ext cx="9957816" cy="1591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1(기본) · 4(+bind) · 8(+wait)이고, 둘 다 원하면 더해서 12 다(비트마스크라 값을 합친다). tkprof로는 "얼마나 걸렸나"까지지만, level 12를 걸면 무슨 값으로 돌렸고(bind)·무엇을 기다렸나(wait) 가 추적파일에 그대로 남는다. 대기가 db file sequential read 면 인덱스 단일 블록 읽기, db file scattered read 면 full scan multi-block 읽기다 — 어제 본 대기이벤트가 여기서 원인 진단으로 이어진다.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841248" y="4946904"/>
            <a:ext cx="105064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켠 다음 — 그 추적파일은 어디 있나? 파일명에 꼬리표를 달고 경로를 물어본다.</a:t>
            </a:r>
            <a:endParaRPr lang="en-US" sz="1600" dirty="0"/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6.6 10046 이벤트 — bind 값과 wait까지 72일차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/ 6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66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3113532"/>
            <a:ext cx="10506456" cy="1545336"/>
          </a:xfrm>
          <a:prstGeom prst="roundRect">
            <a:avLst>
              <a:gd name="adj" fmla="val 3550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1161288" y="3369564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389888" y="3369564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618488" y="3369564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161288" y="3771900"/>
            <a:ext cx="9957816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HR&gt; alter session set tracefile_identifier = 'my10046';   -- 파일명 꼬리표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HR&gt; select value from v$diag_info where name = 'Default Trace File';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.../diag/rdbms/ora19c/ora19c/trace/ora19c_ora_1234_my10046.trc</a:t>
            </a:r>
            <a:endParaRPr lang="en-US" sz="1250" dirty="0"/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6.6 10046 이벤트 — bind 값과 wait까지 72일차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 / 6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67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542032"/>
            <a:ext cx="10506456" cy="2688336"/>
          </a:xfrm>
          <a:prstGeom prst="roundRect">
            <a:avLst>
              <a:gd name="adj" fmla="val 4082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660904"/>
            <a:ext cx="73152" cy="2450592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274320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tkprof로 이어진다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200400"/>
            <a:ext cx="9957816" cy="1865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sql_trace=true (§6.5)가 사실 10046의 얕은 버전이다. 그래서 level 12로 뽑은 이 .trc 도 tkprof x.trc out.txt sys=no 로 포맷하면 통계 표 아래에 대기 이벤트 요약 (Elapsed times include waiting on …)이 붙어 "어디서 기다렸나"가 정리된다. 즉 10046 level 12 = tkprof 통계 + bind 값 + wait 상세. 현대식으로는 dbms_monitor.session_trace_enable(waits=&gt;true, binds=&gt;true) 가 같은 level 12다. 확인 권장</a:t>
            </a:r>
            <a:endParaRPr lang="en-US" sz="1300" dirty="0"/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6.6 10046 이벤트 — bind 값과 wait까지 72일차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 / 6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68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679192"/>
            <a:ext cx="10506456" cy="2414016"/>
          </a:xfrm>
          <a:prstGeom prst="roundRect">
            <a:avLst>
              <a:gd name="adj" fmla="val 4545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798064"/>
            <a:ext cx="73152" cy="217627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288036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bind 값을 왜 봐야 하나 — bind peeking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337560"/>
            <a:ext cx="9957816" cy="1591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옵티마이저는 하드파싱 때 바인드 변수의 실제 값을 엿보고(peeking) 계획을 정한다. 그래서 :b_id = 50 일 땐 빠른 계획이, 값이 편중된 다른 입력에선 같은 SQL·같은 커서인데 느릴 수 있다. tkprof는 "느렸다"까지만 알려주고, 어떤 값에서 느렸는지 는 level 12의 BINDS가 있어야 재현·진단된다. 확인 권장 — peeking 세부는 수업 노트 밖 표준 지식이니 홈랩에서 직접 확인해 보세요.</a:t>
            </a:r>
            <a:endParaRPr lang="en-US" sz="1300" dirty="0"/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6.7 버퍼 캐시 히트율(BCHR) — 높다고 좋은 게 아니다 72일차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4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69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2747772"/>
            <a:ext cx="10506456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BCHR (Buffer Cache Hit Ratio)은 논리 읽기 중 디스크로 안 간 비율 이다.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841248" y="3735324"/>
            <a:ext cx="10506456" cy="1289304"/>
          </a:xfrm>
          <a:prstGeom prst="roundRect">
            <a:avLst>
              <a:gd name="adj" fmla="val 4255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1161288" y="3991356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389888" y="3991356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618488" y="3991356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161288" y="4393692"/>
            <a:ext cx="9957816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BCHR = ( 1 - disk / (query + current) ) * 100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query + current = 논리 읽기(블록),   disk = 물리 읽기(블록)</a:t>
            </a:r>
            <a:endParaRPr lang="en-US" sz="1250" dirty="0"/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6.7 버퍼 캐시 히트율(BCHR) — 높다고 좋은 게 아니다 72일차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4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350008"/>
            <a:ext cx="10506456" cy="2414016"/>
          </a:xfrm>
          <a:prstGeom prst="roundRect">
            <a:avLst>
              <a:gd name="adj" fmla="val 4545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468880"/>
            <a:ext cx="73152" cy="217627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2551176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히트율이 높은데 느리다면 — 지표를 잘못 본 것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008376"/>
            <a:ext cx="9957816" cy="1591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"BCHR은 높을수록 좋다"고 배우지만, 나쁜 실행계획이 오히려 BCHR을 100%에 가깝게 만든다. 실행계획이 나빠 논리 읽기(query)가 폭증하면 분모가 커져 disk/(query+current) 가 0에 수렴 — 디스크는 안 가고 캐시에서만 잔뜩 읽어서 히트율은 오히려 올라간다. 그래서 봐야 할 것은 히트율(비율)이 아니라 논리 I/O(Buffers·consistent gets)의 절대량 이다. §6.2의 "튜닝은 보통 consistent gets를 본다"와 같은 결론이다.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841248" y="4946904"/>
            <a:ext cx="105064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숫자로 보면 함정이 분명하다 — 같은 결과를 내는 두 계획 (이해용 예시 수치):</a:t>
            </a:r>
            <a:endParaRPr lang="en-US" sz="1600" dirty="0"/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6.7 버퍼 캐시 히트율(BCHR) — 높다고 좋은 게 아니다 72일차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/ 4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71</a:t>
            </a:r>
            <a:endParaRPr lang="en-US" sz="900" dirty="0"/>
          </a:p>
        </p:txBody>
      </p:sp>
      <p:graphicFrame>
        <p:nvGraphicFramePr>
          <p:cNvPr id="8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1737360"/>
          <a:ext cx="10506456" cy="2066544"/>
        </p:xfrm>
        <a:graphic>
          <a:graphicData uri="http://schemas.openxmlformats.org/drawingml/2006/table">
            <a:tbl>
              <a:tblPr/>
              <a:tblGrid>
                <a:gridCol w="3502152"/>
                <a:gridCol w="3502152"/>
                <a:gridCol w="3502152"/>
              </a:tblGrid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지표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나쁜 계획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좋은 계획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query (논리 읽기)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100,000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200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disk (물리 읽기)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50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BCHR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99.95%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90.9%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실제 한 일(논리 I/O)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✗ 500배 많음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✓ 적음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Shape 7"/>
          <p:cNvSpPr/>
          <p:nvPr/>
        </p:nvSpPr>
        <p:spPr>
          <a:xfrm>
            <a:off x="841248" y="3986784"/>
            <a:ext cx="10506456" cy="1865376"/>
          </a:xfrm>
          <a:prstGeom prst="roundRect">
            <a:avLst>
              <a:gd name="adj" fmla="val 5882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868680" y="4105656"/>
            <a:ext cx="73152" cy="1627632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161288" y="4187952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히트율이 높은 쪽이 오히려 500배 느리다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1161288" y="4645152"/>
            <a:ext cx="9957816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나쁜 계획은 캐시에서 10만 블록을 헛읽고 디스크(50)는 거의 안 가니 1-50/100000 ≈ 99.95% . 좋은 계획은 200블록만 읽고 끝나지만 디스크 비중이 커 1-20/220 ≈ 90.9% . 비율(BCHR)이 아니라 논리 I/O 절대량(query) 을 봐야 진짜 빠른 쪽을 고른다.</a:t>
            </a:r>
            <a:endParaRPr lang="en-US" sz="1300" dirty="0"/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6.7 버퍼 캐시 히트율(BCHR) — 높다고 좋은 게 아니다 72일차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/ 4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72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542032"/>
            <a:ext cx="10506456" cy="2688336"/>
          </a:xfrm>
          <a:prstGeom prst="roundRect">
            <a:avLst>
              <a:gd name="adj" fmla="val 4082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660904"/>
            <a:ext cx="73152" cy="245059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274320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BCHR은 어디서 나오나 · 대신 무엇을 보나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200400"/>
            <a:ext cx="9957816" cy="1865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시스템 전체 BCHR은 v$sysstat 의 consistent gets · db block gets · physical reads 로 계산된다 — 인스턴스 누적이라 SQL 하나의 문제를 더 뭉뚱그린다. 그래서 진단은 BCHR을 지나쳐 아래로 내려가 본다: ① SQL별 Buffers·consistent gets(§6.2) , ② A-Time·대기(10046, §6.6) , ③ E-Rows↔A-Rows 괴리(§2.5) . 확인 권장 — BCHR 무용론은 널리 알려진 표준 논지이니 세부는 직접 확인 권장.</a:t>
            </a:r>
            <a:endParaRPr lang="en-US" sz="1300" dirty="0"/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bg>
      <p:bgPr>
        <a:solidFill>
          <a:srgbClr val="2C37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95528" y="1371600"/>
            <a:ext cx="45720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0" b="1" dirty="0">
                <a:solidFill>
                  <a:srgbClr val="3341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07</a:t>
            </a:r>
            <a:endParaRPr lang="en-US" sz="13000" dirty="0"/>
          </a:p>
        </p:txBody>
      </p:sp>
      <p:sp>
        <p:nvSpPr>
          <p:cNvPr id="4" name="Shape 2"/>
          <p:cNvSpPr/>
          <p:nvPr/>
        </p:nvSpPr>
        <p:spPr>
          <a:xfrm>
            <a:off x="841248" y="4114800"/>
            <a:ext cx="566928" cy="82296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41248" y="4343400"/>
            <a:ext cx="1050645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조인 — 방법은 건수로, 순서는 힌트로 72일차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841248" y="5230368"/>
            <a:ext cx="105064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NL·Sort Merge·Hash, 그리고 반복 횟수를 Starts로 읽는다</a:t>
            </a:r>
            <a:endParaRPr lang="en-US" sz="1600" dirty="0"/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조인 — 방법은 건수로, 순서는 힌트로 72일차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73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2359152"/>
            <a:ext cx="10506456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조인에는 두 축 이 있고 둘은 별개다 — 방법 (어떻게 붙이나)과 순서 (누가 먼저 도나). 방법은 대체로 건수 가, 순서는 힌트 가 정한다.</a:t>
            </a:r>
            <a:endParaRPr lang="en-US" sz="1600" dirty="0"/>
          </a:p>
        </p:txBody>
      </p:sp>
      <p:graphicFrame>
        <p:nvGraphicFramePr>
          <p:cNvPr id="8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3346704"/>
          <a:ext cx="10506456" cy="2066544"/>
        </p:xfrm>
        <a:graphic>
          <a:graphicData uri="http://schemas.openxmlformats.org/drawingml/2006/table">
            <a:tbl>
              <a:tblPr/>
              <a:tblGrid>
                <a:gridCol w="3502152"/>
                <a:gridCol w="3502152"/>
                <a:gridCol w="3502152"/>
              </a:tblGrid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구분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언제 유리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힌트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NESTED LOOPS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조인 결과가 소량 · 안쪽에 인덱스가 있을 때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use_nl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SORT MERGE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대량 · 양쪽을 정렬해 병합 (부등호 조인에도)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use_merge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HASH JOIN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대량 · 한쪽으로 해시 테이블을 만들 때 ( = 조인)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use_hash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조인 순서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from 순서대로 / 지정 순서로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ordered / leading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3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조인 — 방법은 건수로, 순서는 힌트로 72일차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74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3090672"/>
            <a:ext cx="10506456" cy="1591056"/>
          </a:xfrm>
          <a:prstGeom prst="roundRect">
            <a:avLst>
              <a:gd name="adj" fmla="val 6897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3209544"/>
            <a:ext cx="73152" cy="1353312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329184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방법과 순서는 다른 축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749040"/>
            <a:ext cx="995781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바깥이 1행이면 순서를 바꿔도 Buffers는 같다. 하지만 바깥이 여러 행 이면 누가 먼저(driving) 도느냐로 안쪽 반복 횟수가 확 달라진다. 그 반복을 실행계획의 Starts 로 본다(§6.2).</a:t>
            </a:r>
            <a:endParaRPr lang="en-US" sz="1300" dirty="0"/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4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7.1 NL은 바깥 각 행마다 안쪽을 반복한다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75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2203704"/>
            <a:ext cx="10506456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Nested Loop은 바깥(driving) 테이블의 각 행마다 안쪽을 인덱스로 조회 해 붙인다. 그래서 바깥이 작을수록 안쪽 반복이 적어 싸다. 반복 횟수는 실행계획의 Starts 에 그대로 찍힌다.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841248" y="3520440"/>
            <a:ext cx="10506456" cy="2048256"/>
          </a:xfrm>
          <a:prstGeom prst="roundRect">
            <a:avLst>
              <a:gd name="adj" fmla="val 5357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868680" y="3639312"/>
            <a:ext cx="73152" cy="181051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61288" y="3703320"/>
            <a:ext cx="995781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다이어그램  </a:t>
            </a:r>
            <a:pPr algn="l" indent="0" marL="0">
              <a:buNone/>
            </a:pPr>
            <a:r>
              <a:rPr lang="en-US" sz="13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NL의 비용은 바깥 행 수에 달렸다. 안쪽이 몇 번 돌았는지는 실행계획 Starts 에 그대로 나온다.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1161288" y="4233672"/>
            <a:ext cx="9957816" cy="1179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바깥 (driving) · 조건이 먼저 거른 쪽 · 각 행마다 → · 안쪽 (inner) · 바깥 행의 키로 인덱스 조회 · Starts = 바깥 행 수 · 반복 (loop) · 바깥이 작을수록 안쪽 반복이 적다 → NL이 싸다</a:t>
            </a:r>
            <a:endParaRPr lang="en-US" sz="1200" dirty="0"/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5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7.1 NL은 바깥 각 행마다 안쪽을 반복한다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76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542032"/>
            <a:ext cx="10506456" cy="2688336"/>
          </a:xfrm>
          <a:prstGeom prst="roundRect">
            <a:avLst>
              <a:gd name="adj" fmla="val 4082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660904"/>
            <a:ext cx="73152" cy="245059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274320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driving과 driven — 왜 그렇게 부르나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200400"/>
            <a:ext cx="9957816" cy="1865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이중 for문으로 보면 이름이 그대로 풀린다. for each row in OUTER { probe INNER } — driving(=outer, 선행) : 바깥 루프. 자기 행 수만큼 안쪽을 돌려 반복을 민다 . 그 횟수가 곧 Starts 다. 그래서 옵티마이저는 적게 걸러진 작은 쪽 을 driving으로 두려 한다. driven(=inner, 후행) : 안쪽 루프. 스스로 횟수를 못 정하고 driving이 주는 만큼 끌려서 조회당한다 (수동태). 매 outer 행의 조인키로 lookup된다.</a:t>
            </a:r>
            <a:endParaRPr lang="en-US" sz="1300" dirty="0"/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6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7.1 NL은 바깥 각 행마다 안쪽을 반복한다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77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1929384"/>
            <a:ext cx="10506456" cy="2139696"/>
          </a:xfrm>
          <a:prstGeom prst="roundRect">
            <a:avLst>
              <a:gd name="adj" fmla="val 5128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048256"/>
            <a:ext cx="73152" cy="1901952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2130552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그래서 driven엔 인덱스가 필수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2587752"/>
            <a:ext cx="9957816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driven은 outer 행마다 반복해 뒤져지므로, 조인 컬럼에 인덱스가 없으면 Starts번 × full scan 으로 터진다. NL 튜닝의 정석은 ① driving은 작은(많이 걸러진) 쪽, ② driven의 조인 컬럼엔 인덱스 . 아래 두 플랜에서 driven이 늘 인덱스(UNIQUE/RANGE SCAN)로 접근되는 이유다.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841248" y="4251960"/>
            <a:ext cx="10506456" cy="1591056"/>
          </a:xfrm>
          <a:prstGeom prst="roundRect">
            <a:avLst>
              <a:gd name="adj" fmla="val 6897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68680" y="4370832"/>
            <a:ext cx="73152" cy="1353312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61288" y="4453128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헷갈리지 말 것 — outer 테이블 ≠ outer 조인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161288" y="4910328"/>
            <a:ext cx="995781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여기서 outer 테이블 은 NL 바깥 루프(=driving)를 말한다. 짝 없는 행을 NULL로 살리는 outer join(외부 조인 · LEFT/RIGHT) 과는 이름만 같고 다른 개념이다.</a:t>
            </a:r>
            <a:endParaRPr lang="en-US" sz="1300" dirty="0"/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7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7.2 실측 ① 바깥이 1행 — employee_id=100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4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78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3483864"/>
            <a:ext cx="10506456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employee_id=100 이면 바깥 EMPLOYEES가 딱 1행이라, 안쪽 DEPARTMENTS도 한 번만 조회한다. 모든 Starts가 1이다.</a:t>
            </a:r>
            <a:endParaRPr lang="en-US" sz="1600" dirty="0"/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8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7.2 실측 ① 바깥이 1행 — employee_id=100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4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79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1737360"/>
            <a:ext cx="10506456" cy="4105656"/>
          </a:xfrm>
          <a:prstGeom prst="roundRect">
            <a:avLst>
              <a:gd name="adj" fmla="val 1336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1161288" y="1993392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389888" y="1993392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618488" y="1993392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161288" y="2395728"/>
            <a:ext cx="9957816" cy="3282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HR&gt; select /*+ gather_plan_statistics */ e.last_name, d.department_name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from hr.employees e join hr.departments d using(department_id)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where e.employee_id = 100;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--------------------------------------------------------------------------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Id | Operation                                | Buffers | Starts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--------------------------------------------------------------------------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 1 |  NESTED LOOPS                            |    4    |    1  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 2 |   TABLE ACCESS BY INDEX ROWID EMPLOYEES  |    2    |    1   |  ← outer/driving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|* 3 |    INDEX UNIQUE SCAN EMP_EMP_ID_PK       |         |    1  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 4 |   TABLE ACCESS BY INDEX ROWID DEPARTMENTS|    2    |    1   |  ← inner/driven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|* 5 |    INDEX UNIQUE SCAN DEPT_ID_PK          |         |    1  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--------------------------------------------------------------------------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Predicate Information (identified by operation id):</a:t>
            </a:r>
            <a:endParaRPr lang="en-US" sz="1250" dirty="0"/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9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7.2 실측 ① 바깥이 1행 — employee_id=100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/ 4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747772"/>
            <a:ext cx="10506456" cy="1289304"/>
          </a:xfrm>
          <a:prstGeom prst="roundRect">
            <a:avLst>
              <a:gd name="adj" fmla="val 4255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1161288" y="3003804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389888" y="3003804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618488" y="3003804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161288" y="3406140"/>
            <a:ext cx="9957816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3 - access("E"."EMPLOYEE_ID"=100)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5 - access("E"."DEPARTMENT_ID"="D"."DEPARTMENT_ID")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841248" y="4219956"/>
            <a:ext cx="10506456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실행 순서는 안쪽·위부터라 3 → 2 → 5 → 4 → 1 , Buffers 4로 끝난다. 바깥이 1행이라 여기까진 단순하다.</a:t>
            </a:r>
            <a:endParaRPr lang="en-US" sz="1600" dirty="0"/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0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7.2 실측 ① 바깥이 1행 — employee_id=100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/ 4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81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1737360"/>
            <a:ext cx="10506456" cy="4608576"/>
          </a:xfrm>
          <a:prstGeom prst="roundRect">
            <a:avLst>
              <a:gd name="adj" fmla="val 2381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1856232"/>
            <a:ext cx="73152" cy="437083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1938528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Id 옆의 * 와 Predicate Information — 무엇을 알려주나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2395728"/>
            <a:ext cx="9957816" cy="3785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* 는 "이 단계에 조건(predicate)이 걸려 있으니 아래를 보라"는 포인터 다. 별표 있는 Id( *3 · *5 )만 아래 Predicate Information 에 조건이 나오고, 없는 Id(0·1·2·4)는 순수 작업(조인·테이블 접근)일 뿐이다. 아래에서 읽는 것은 어느 단계가 어떤 조건을 , 그리고 access(인덱스로 좁힘) 인지 filter(읽고 버림) 인지 다(§2.3). Id 3 access(EMPLOYEE_ID=100) — WHERE 조건을 인덱스 유니크 스캔으로 바로 집었다 (filter 아님 = 낭비 없음). Id 5 access(E.DEPARTMENT_ID = D.DEPARTMENT_ID) — 이건 조인 조건 이다. driven(DEPARTMENTS)을 outer 행의 department_id 로 인덱스 lookup 했다는 증거 — 앞의 " driven엔 인덱스 "가 여기서 access로 확인된다. 만약 여기가 filter 였다면 조인키 인덱스가 없어 매 반복마다 훑었다는 뜻(터짐 신호). 실전에선 핵심 조건이 filter 로만 잡히거나 filter(TO_NUMBER("X")=100) 처럼 함수가 씌워져 나오면, 인덱스를 못 타는 원인이 여기서 그대로 드러난다.</a:t>
            </a:r>
            <a:endParaRPr lang="en-US" sz="1300" dirty="0"/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1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7.3 실측 ② 바깥이 여러 행 — location_id=1400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82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1943100"/>
            <a:ext cx="10506456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바깥은 고정이 아니다 — 쿼리 조건이 먼저 거르는 쪽이 driving이 된다. location_id=1400 은 부서를 먼저 1행(60번)으로 걸러 이번엔 DEPARTMENTS가 바깥 이 되고, 그 부서에 사원이 5명이라 EMPLOYEES가 안쪽으로 5번 돈다.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841248" y="3259836"/>
            <a:ext cx="10506456" cy="2569464"/>
          </a:xfrm>
          <a:prstGeom prst="roundRect">
            <a:avLst>
              <a:gd name="adj" fmla="val 2135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1161288" y="3515868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389888" y="3515868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618488" y="3515868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161288" y="3918204"/>
            <a:ext cx="9957816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location 1400 → 부서 60 (1행) → 그 부서 사원 5명 → 바깥 5행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Id | Operation                           | Buffers | Starts | A-Rows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-----------------------------------------------------------------------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 3 |   DEPARTMENTS (BY INDEX ROWID)       |    2    |    1   |    1   |  ← 바깥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 5 |   INDEX RANGE SCAN EMP_DEPARTMENT_IX |    2    |    1   |    5  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 6 |  EMPLOYEES  (BY INDEX ROWID)         |    2    |    5   |    5   |  ← 안쪽·Starts=5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-----------------------------------------------------------------------</a:t>
            </a:r>
            <a:endParaRPr lang="en-US" sz="1250" dirty="0"/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2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7.3 실측 ② 바깥이 여러 행 — location_id=1400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83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679192"/>
            <a:ext cx="10506456" cy="2414016"/>
          </a:xfrm>
          <a:prstGeom prst="roundRect">
            <a:avLst>
              <a:gd name="adj" fmla="val 4545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798064"/>
            <a:ext cx="73152" cy="217627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288036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Starts=5가 곧 다섯 번 반복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337560"/>
            <a:ext cx="9957816" cy="1591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Id 6(사원 행 읽기)의 Starts=5 는 안쪽을 다섯 번 실행했다는 뜻이다. 그래서 실행 순서가 ①처럼 3→2→5→4→1에서 끝나지 않고 3 → 2 → 5 → 4 → 5 → 4 … → 1 로 안쪽을 5번 반복하며 길어진다. ①(emp_id=100)에선 사원이 바깥이었는데 여기선 뒤집혔다 — 먼저 걸러지는 쪽이 driving이고, 그 건수가 안쪽 반복(Starts)을 정한다. 실행 순서가 헷갈리면 순서를 세지 말고 Starts부터 봐라 — 안쪽이 몇 번 돌았는지가 거기 다 있다.</a:t>
            </a:r>
            <a:endParaRPr lang="en-US" sz="1300" dirty="0"/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3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7.4 인덱스가 조인 방법을 바꾼다 — PK를 하나씩 만들며 73일차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4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84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2235708"/>
            <a:ext cx="10506456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emp·dept·loc를 인덱스 없이 새로 만들고(CTAS), 같은 쿼리( employee_id=100 3테이블 조인)를 PK를 하나씩 만들어 가며 4번 돌렸다.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841248" y="3223260"/>
            <a:ext cx="10506456" cy="2313432"/>
          </a:xfrm>
          <a:prstGeom prst="roundRect">
            <a:avLst>
              <a:gd name="adj" fmla="val 2372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1161288" y="3479292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389888" y="3479292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618488" y="3479292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161288" y="3881628"/>
            <a:ext cx="9957816" cy="1490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인덱스 0개일 때 — NL을 힌트로 시켜도 이렇게 짠다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 1 |  HASH JOIN            |      | Buffers 8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 2 |   MERGE JOIN CARTESIAN|      |         5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 3 |    TABLE ACCESS FULL  | EMP  |         3 |  filter(EMPLOYEE_ID=100)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 5 |     TABLE ACCESS FULL | LOC  |         2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 6 |   TABLE ACCESS FULL   | DEPT |         3 |</a:t>
            </a:r>
            <a:endParaRPr lang="en-US" sz="1250" dirty="0"/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4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7.4 인덱스가 조인 방법을 바꾼다 — PK를 하나씩 만들며 73일차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4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85</a:t>
            </a:r>
            <a:endParaRPr lang="en-US" sz="900" dirty="0"/>
          </a:p>
        </p:txBody>
      </p:sp>
      <p:graphicFrame>
        <p:nvGraphicFramePr>
          <p:cNvPr id="9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2852928"/>
          <a:ext cx="10506456" cy="2066544"/>
        </p:xfrm>
        <a:graphic>
          <a:graphicData uri="http://schemas.openxmlformats.org/drawingml/2006/table">
            <a:tbl>
              <a:tblPr/>
              <a:tblGrid>
                <a:gridCol w="3502152"/>
                <a:gridCol w="3502152"/>
                <a:gridCol w="3502152"/>
              </a:tblGrid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단계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플랜 모양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Buffers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인덱스 없음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MERGE JOIN CARTESIAN + HASH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+ EMP_IDX(PK)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EMP만 인덱스 — DEPT·LOC은 full·hash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+ DEPT_IDX(PK)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NL·NL — LOC만 full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+ LOC_IDX(PK)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NL 3단, 전부 UNIQUE SCAN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5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7.4 인덱스가 조인 방법을 바꾼다 — PK를 하나씩 만들며 73일차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/ 4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86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816352"/>
            <a:ext cx="10506456" cy="2139696"/>
          </a:xfrm>
          <a:prstGeom prst="roundRect">
            <a:avLst>
              <a:gd name="adj" fmla="val 5128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935224"/>
            <a:ext cx="73152" cy="19019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301752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옵티마이저는 "있는 도구"로만 짠다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474720"/>
            <a:ext cx="9957816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인덱스가 없으면 NL 안쪽을 매번 full로 돌아야 하니, 옵티마이저는 hash·cartesian이 낫다고 판단한다(emp가 1행으로 걸러지니 1행×loc 23행 조합도 싸다고 본 것). 인덱스가 생길 때마다 선택지가 열려 플랜 모양이 바뀐다. 이 실험은 바깥이 1행이라 Buffers 차이는 작지만(8→6), 모양의 변화가 포인트다.</a:t>
            </a:r>
            <a:endParaRPr lang="en-US" sz="1300" dirty="0"/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6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7.4 인덱스가 조인 방법을 바꾼다 — PK를 하나씩 만들며 73일차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/ 4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87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816352"/>
            <a:ext cx="10506456" cy="2139696"/>
          </a:xfrm>
          <a:prstGeom prst="roundRect">
            <a:avLst>
              <a:gd name="adj" fmla="val 5128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935224"/>
            <a:ext cx="73152" cy="1901952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301752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"힌트를 줬는데 무시됐다?"의 진상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474720"/>
            <a:ext cx="9957816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leading(e,d,l) use_nl(d) nse_nl(l) — 세 힌트 중 무엇이 적용됐는지 플랜으로 따져보자. leading과 use_nl(d)은 전부 먹혔다 (순서 e→d→l 유지, d는 NL로 — 단 인덱스가 없어 안쪽 full). 무시된 건 nse_nl(l) 하나 — use_nl의 오타 다. 잘못된 힌트는 에러 없이 조용히 무시된다. 힌트가 안 먹은 것 같으면 오타부터 확인하라.</a:t>
            </a:r>
            <a:endParaRPr lang="en-US" sz="1300" dirty="0"/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7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7.5 순서·진입 인덱스가 Buffers를 가른다 — Seattle 실험 73일차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88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2359152"/>
            <a:ext cx="10506456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쿼리( l.city='Seattle' , 3테이블)를 네 방식으로 돌렸다. 결과는 모두 같은 18행.</a:t>
            </a:r>
            <a:endParaRPr lang="en-US" sz="1600" dirty="0"/>
          </a:p>
        </p:txBody>
      </p:sp>
      <p:graphicFrame>
        <p:nvGraphicFramePr>
          <p:cNvPr id="9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3346704"/>
          <a:ext cx="10506456" cy="2066544"/>
        </p:xfrm>
        <a:graphic>
          <a:graphicData uri="http://schemas.openxmlformats.org/drawingml/2006/table">
            <a:tbl>
              <a:tblPr/>
              <a:tblGrid>
                <a:gridCol w="3502152"/>
                <a:gridCol w="3502152"/>
                <a:gridCol w="3502152"/>
              </a:tblGrid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방식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무슨 일이 났나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Buffers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leading(e,d,l) 강제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필터 반대편에서 출발 — EMP 107행이 명단, DEPT Starts 107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227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leading(l,d,e)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방향은 맞지만 진입 인덱스 없음 — 매 반복이 full(filter 3줄)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72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l→d→e + 진입 인덱스 3개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filter 3줄이 전부 access 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18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옵티마이저 기본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MERGE+HASH 혼합, 작은 테이블 full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8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7.5 순서·진입 인덱스가 Buffers를 가른다 — Seattle 실험 73일차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89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473452"/>
            <a:ext cx="10506456" cy="2825496"/>
          </a:xfrm>
          <a:prstGeom prst="roundRect">
            <a:avLst>
              <a:gd name="adj" fmla="val 1942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1161288" y="2729484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389888" y="2729484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618488" y="2729484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161288" y="3131820"/>
            <a:ext cx="9957816" cy="2002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진입 인덱스 3개 = 각 테이블에 "들어가는 문"을 낸 것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SYS&gt; create index hr.loc_city_idx  on hr.loc(city);           -- 필터 진입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SYS&gt; create index hr.dept_loc_idx  on hr.dept(location_id);   -- d 조인 진입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SYS&gt; create index hr.emp_dept_idx  on hr.emp(department_id);  -- e 조인 진입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실측(Buffers 18): Predicate 5·7·8 전부 access — Starts 21(부서)·18(사원)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5 - access("L"."CITY"='Seattle')          ← filter였던 것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7 - access("D"."LOCATION_ID"=...)         ← filter였던 것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8 - access("E"."DEPARTMENT_ID"=...)       ← filter였던 것</a:t>
            </a:r>
            <a:endParaRPr lang="en-US" sz="1250" dirty="0"/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9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7.5 순서·진입 인덱스가 Buffers를 가른다 — Seattle 실험 73일차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953512"/>
            <a:ext cx="10506456" cy="1865376"/>
          </a:xfrm>
          <a:prstGeom prst="roundRect">
            <a:avLst>
              <a:gd name="adj" fmla="val 5882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3072384"/>
            <a:ext cx="73152" cy="162763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315468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그런데 최저는 여전히 옵티마이저(9)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611880"/>
            <a:ext cx="9957816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순서도 맞추고 인덱스도 다 줬는데 18 — 기본 계획 9를 못 이겼다. 테이블이 몇 블록짜리로 작으면 full+hash로 한 번에 쓸어담는 쪽이 반복 접근보다 싸다. "풀 스캔 = 나쁨"이 아니다 — 판정은 항상 Buffers 총점 이고, 이 실습의 목적은 힌트로 계획을 제어하고 숫자로 판정하는 훈련이다.</a:t>
            </a:r>
            <a:endParaRPr lang="en-US" sz="1300" dirty="0"/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0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7.6 필터가 양끝이면 — 더 세게 걸러지는 쪽에서 출발 73일차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91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2071116"/>
            <a:ext cx="10506456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조건을 하나 더: e.job_id='AD_VP' . 이제 필터가 양끝 에 있다 — city(loc 1행) vs job_id(emp 2행). 조인 체인 e—d—l 은 어느 끝에서 출발하든 진입 인덱스만 있으면 NL이 성립한다.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841248" y="3387852"/>
            <a:ext cx="10506456" cy="2313432"/>
          </a:xfrm>
          <a:prstGeom prst="roundRect">
            <a:avLst>
              <a:gd name="adj" fmla="val 2372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1161288" y="3643884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389888" y="3643884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618488" y="3643884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161288" y="4046220"/>
            <a:ext cx="9957816" cy="1490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SYS&gt; create index hr.emp_job_idx on hr.emp(job_id);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leading(e,d,l) all-NL 실측: 바깥 = AD_VP 2행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|* 5 |  EMP_JOB_IDX RANGE SCAN  | Starts 1 | A-Rows 2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|* 7 |  DEPT_IDX UNIQUE         | Starts 2 |         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|* 8 |  LOC_IDX  UNIQUE         | Starts 2 |         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총 Buffers: all-NL 12  vs  옵티마이저(hash + EMP full 1회) 8</a:t>
            </a:r>
            <a:endParaRPr lang="en-US" sz="1250" dirty="0"/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1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7.6 필터가 양끝이면 — 더 세게 걸러지는 쪽에서 출발 73일차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92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953512"/>
            <a:ext cx="10506456" cy="1865376"/>
          </a:xfrm>
          <a:prstGeom prst="roundRect">
            <a:avLst>
              <a:gd name="adj" fmla="val 5882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3072384"/>
            <a:ext cx="73152" cy="1627632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315468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목표 달성, 판정은 hash 승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611880"/>
            <a:ext cx="9957816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풀 스캔 0·전부 NL·Starts 2로 변환은 성공. 그래도 총점은 hash 8이 더 싸다 — EMP가 5블록짜리라 한 번 쓸기가 워낙 싸서다. NL의 강점은 바깥이 몇 행 안 될 때 첫 행을 바로 내는 것 이고, 어느 쪽이 이기는지는 실측이 정한다.</a:t>
            </a:r>
            <a:endParaRPr lang="en-US" sz="1300" dirty="0"/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2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7.7 driving을 잘못 잡으면 — 반복 승수의 실측 73일차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93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2194560"/>
            <a:ext cx="10506456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필터 없는 emp(107행) ⋈ dept(27행) (결과 106행)에서 바깥만 바꿔 비교했다. (교과서 모양을 보려고 optimizer_features_enable('10.1.0') + no_nlj_prefetch 로 최신 최적화를 껐다.)</a:t>
            </a:r>
            <a:endParaRPr lang="en-US" sz="1600" dirty="0"/>
          </a:p>
        </p:txBody>
      </p:sp>
      <p:graphicFrame>
        <p:nvGraphicFramePr>
          <p:cNvPr id="10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3511296"/>
          <a:ext cx="10506456" cy="2066544"/>
        </p:xfrm>
        <a:graphic>
          <a:graphicData uri="http://schemas.openxmlformats.org/drawingml/2006/table">
            <a:tbl>
              <a:tblPr/>
              <a:tblGrid>
                <a:gridCol w="3502152"/>
                <a:gridCol w="3502152"/>
                <a:gridCol w="3502152"/>
              </a:tblGrid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실험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안쪽 반복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Buffers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EMP(107) 바깥 → DEPT 안쪽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DEPT를 107번 (unique scan)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126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DEPT(27) 바깥 → EMP 안쪽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EMP를 27번 (range scan)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35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EMP 바깥 + full(d) 강제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DEPT full×107 = 222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232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DEPT 바깥 + full(e) 강제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EMP full×27 = 88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95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3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7.7 driving을 잘못 잡으면 — 반복 승수의 실측 73일차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94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679192"/>
            <a:ext cx="10506456" cy="2414016"/>
          </a:xfrm>
          <a:prstGeom prst="roundRect">
            <a:avLst>
              <a:gd name="adj" fmla="val 4545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798064"/>
            <a:ext cx="73152" cy="217627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288036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전화 돌리기 — NL 비용의 구조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337560"/>
            <a:ext cx="9957816" cy="1591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NL 총비용 ≈ 바깥 1회 읽기 + (바깥 행 수 × 안쪽 1회 비용) . 바깥은 한 번뿐이라 10이든 7이든 큰 차이가 없고, 진짜 비용은 반복 승수(바깥 행 수) 다. 주목 — ①의 안쪽은 UNIQUE SCAN(가장 좋은 스캔)인데도 107번 곱해지니 116, ②는 RANGE SCAN인데 27번이라 28. probe 한 번의 질보다 probe 횟수가 지배한다. 안쪽 인덱스까지 빼앗으면(full 강제) 매 반복이 full이 되어 232 — NL 최악 = 큰 바깥 × 안쪽 인덱스 부재 다.</a:t>
            </a:r>
            <a:endParaRPr lang="en-US" sz="1300" dirty="0"/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4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7.7 driving을 잘못 잡으면 — 반복 승수의 실측 73일차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95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816352"/>
            <a:ext cx="10506456" cy="2139696"/>
          </a:xfrm>
          <a:prstGeom prst="roundRect">
            <a:avLst>
              <a:gd name="adj" fmla="val 5128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935224"/>
            <a:ext cx="73152" cy="1901952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301752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driving 선택 원칙(완성)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474720"/>
            <a:ext cx="9957816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driving = 바깥 행 수를 최소로 만드는 쪽 . 필터가 있으면 가장 세게 걸러지는 쪽(Seattle 1행·AD_VP 2행), 없으면 그냥 작은 테이블(27&lt;107). 그리고 E-Rows는 1회 기준 이라 Starts 있는 줄은 E×Starts로 A-Rows와 비교한다(② Id 4: 10×27=270이 아니라 Id 3 기준 4×27=108≈106 ✓).</a:t>
            </a:r>
            <a:endParaRPr lang="en-US" sz="1300" dirty="0"/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5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7.8 같은 NL, 세 가지 그림 — table prefetch와 batch i/o 73일차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96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2386584"/>
            <a:ext cx="10506456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요즘 버전의 NL 플랜은 I/O 최적화 때문에 모양이 다르게 그려진다 . optimizer_features_enable('버전') 으로 옵티마이저를 버전별로 고정해 같은 쿼리를 비교했다(유효 버전은 v$parameter_valid_values 에서 조회).</a:t>
            </a:r>
            <a:endParaRPr lang="en-US" sz="1600" dirty="0"/>
          </a:p>
        </p:txBody>
      </p:sp>
      <p:graphicFrame>
        <p:nvGraphicFramePr>
          <p:cNvPr id="10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3703320"/>
          <a:ext cx="10506456" cy="1682496"/>
        </p:xfrm>
        <a:graphic>
          <a:graphicData uri="http://schemas.openxmlformats.org/drawingml/2006/table">
            <a:tbl>
              <a:tblPr/>
              <a:tblGrid>
                <a:gridCol w="3502152"/>
                <a:gridCol w="3502152"/>
                <a:gridCol w="3502152"/>
              </a:tblGrid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모양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알아보는 법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힌트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classic (10.1)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NL 아래에 인덱스·테이블이 나란히 — 교과서 모양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no_nlj_prefetch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table prefetch (10.2)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inner 테이블 접근이 NL 위쪽 에 표시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nlj_prefetch / no_nlj_prefetch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batch i/o (11g~)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NL이 두 겹 + 테이블 접근에 BATCHED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nlj_batching / no_nlj_batching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6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7.8 같은 NL, 세 가지 그림 — table prefetch와 batch i/o 73일차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97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267712"/>
            <a:ext cx="10506456" cy="3236976"/>
          </a:xfrm>
          <a:prstGeom prst="roundRect">
            <a:avLst>
              <a:gd name="adj" fmla="val 3390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386584"/>
            <a:ext cx="73152" cy="299923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246888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둘 다 목적은 디스크 I/O 절감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2926080"/>
            <a:ext cx="9957816" cy="2414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table prefetch — 디스크 I/O call은 비싸니, 곧이어 읽을 가능성 높은 블록들을 한 번의 I/O call로 미리 버퍼 캐시에 적재한다(여러 single block 동시 수행, db file sequential read ). inner 쪽 non-unique 인덱스 range scan 에서 발생하고, inner 행들의 clustering factor가 나쁠 때 효과적이다. batch i/o — inner 인덱스와 조인해 중간 결과집합을 만든 뒤 , inner 테이블 접근을 일괄(fetch call 단위) 처리해 디스크 I/O를 줄인다(prefetch에 이어 추가 도입). 주의 — prefetch 모양이 그려져 있다고 항상 작동하는 건 아니다 . 기능이 활성화됐다는 표시일 뿐이다.</a:t>
            </a:r>
            <a:endParaRPr lang="en-US" sz="1300" dirty="0"/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7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7.8 같은 NL, 세 가지 그림 — table prefetch와 batch i/o 73일차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98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3090672"/>
            <a:ext cx="10506456" cy="1591056"/>
          </a:xfrm>
          <a:prstGeom prst="roundRect">
            <a:avLst>
              <a:gd name="adj" fmla="val 6897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3209544"/>
            <a:ext cx="73152" cy="1353312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329184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optimizer_features_enable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749040"/>
            <a:ext cx="995781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옵티마이저 동작을 특정 버전으로 고정하는 힌트/파라미터. 실무에선 업그레이드 회귀 비교, 학습에선 이번처럼 버전별 플랜 모양 비교 에 쓴다. §7.7 실험에서 교과서 모양(10.1)을 만든 것도 이것.</a:t>
            </a:r>
            <a:endParaRPr lang="en-US" sz="1300" dirty="0"/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8">
    <p:bg>
      <p:bgPr>
        <a:solidFill>
          <a:srgbClr val="2C37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95528" y="1371600"/>
            <a:ext cx="45720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0" b="1" dirty="0">
                <a:solidFill>
                  <a:srgbClr val="3341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▶</a:t>
            </a:r>
            <a:endParaRPr lang="en-US" sz="13000" dirty="0"/>
          </a:p>
        </p:txBody>
      </p:sp>
      <p:sp>
        <p:nvSpPr>
          <p:cNvPr id="4" name="Shape 2"/>
          <p:cNvSpPr/>
          <p:nvPr/>
        </p:nvSpPr>
        <p:spPr>
          <a:xfrm>
            <a:off x="841248" y="4114800"/>
            <a:ext cx="566928" cy="82296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41248" y="4343400"/>
            <a:ext cx="1050645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앞으로 다룰 것 (로드맵)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841248" y="5230368"/>
            <a:ext cx="105064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수업이 진행되며 채워 나갈 목차</a:t>
            </a:r>
            <a:endParaRPr lang="en-US" sz="1600" dirty="0"/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9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앞으로 다룰 것 (로드맵)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99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841248" y="3090672"/>
            <a:ext cx="10506456" cy="1591056"/>
          </a:xfrm>
          <a:prstGeom prst="roundRect">
            <a:avLst>
              <a:gd name="adj" fmla="val 6897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868680" y="3209544"/>
            <a:ext cx="73152" cy="135331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61288" y="329184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메모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161288" y="3749040"/>
            <a:ext cx="995781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구조 지식(HWM·scattered read·버퍼 캐시·블록)은 내부구조편 가이드 에, 그걸 활용하는 기법은 이 문서에 쌓는다. 새 수업이 오면 위 로드맵을 하나씩 완료로 바꿔 간다.</a:t>
            </a:r>
            <a:endParaRPr lang="en-US" sz="1300" dirty="0"/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0">
    <p:bg>
      <p:bgPr>
        <a:solidFill>
          <a:srgbClr val="2C37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41248" y="603504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400" kern="0" dirty="0">
                <a:solidFill>
                  <a:srgbClr val="E89B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41248" y="2697480"/>
            <a:ext cx="566928" cy="82296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41248" y="2971800"/>
            <a:ext cx="1050645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감사합니다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841248" y="4114800"/>
            <a:ext cx="105064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질문이 있으면 편하게 말씀해 주세요.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110</Slides>
  <Notes>110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110</vt:i4>
      </vt:variant>
    </vt:vector>
  </HeadingPairs>
  <TitlesOfParts>
    <vt:vector size="1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  <vt:lpstr>Slide 84</vt:lpstr>
      <vt:lpstr>Slide 85</vt:lpstr>
      <vt:lpstr>Slide 86</vt:lpstr>
      <vt:lpstr>Slide 87</vt:lpstr>
      <vt:lpstr>Slide 88</vt:lpstr>
      <vt:lpstr>Slide 89</vt:lpstr>
      <vt:lpstr>Slide 90</vt:lpstr>
      <vt:lpstr>Slide 91</vt:lpstr>
      <vt:lpstr>Slide 92</vt:lpstr>
      <vt:lpstr>Slide 93</vt:lpstr>
      <vt:lpstr>Slide 94</vt:lpstr>
      <vt:lpstr>Slide 95</vt:lpstr>
      <vt:lpstr>Slide 96</vt:lpstr>
      <vt:lpstr>Slide 97</vt:lpstr>
      <vt:lpstr>Slide 98</vt:lpstr>
      <vt:lpstr>Slide 99</vt:lpstr>
      <vt:lpstr>Slide 100</vt:lpstr>
      <vt:lpstr>Slide 101</vt:lpstr>
      <vt:lpstr>Slide 102</vt:lpstr>
      <vt:lpstr>Slide 103</vt:lpstr>
      <vt:lpstr>Slide 104</vt:lpstr>
      <vt:lpstr>Slide 105</vt:lpstr>
      <vt:lpstr>Slide 106</vt:lpstr>
      <vt:lpstr>Slide 107</vt:lpstr>
      <vt:lpstr>Slide 108</vt:lpstr>
      <vt:lpstr>Slide 109</vt:lpstr>
      <vt:lpstr>Slide 110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SQL Tuning</dc:title>
  <dc:subject>PptxGenJS Presentation</dc:subject>
  <dc:creator>Oracle DBA Study</dc:creator>
  <cp:lastModifiedBy>Oracle DBA Study</cp:lastModifiedBy>
  <cp:revision>1</cp:revision>
  <dcterms:created xsi:type="dcterms:W3CDTF">2026-07-02T08:27:31Z</dcterms:created>
  <dcterms:modified xsi:type="dcterms:W3CDTF">2026-07-02T08:27:31Z</dcterms:modified>
</cp:coreProperties>
</file>
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오늘은 두 덩어리입니다. 앞부분은 어제 열어둔 병렬 조인을 완결해요. pq_distribute의 네 조합을 무엇이 파티션돼 있느냐로 정리하고, 읽기만이 아니라 쓰기까지 병렬화하는 parallel DML, 그리고 버퍼 캐시를 우회하는 direct path I/O까지. 이걸로 병렬 파트가 마무리됩니다. 뒷부분은 완전히 새로운 주제예요. PGA, 그러니까 프로세스 전용 작업 메모리로 내려갑니다. 정렬이나 해시 같은 작업이 실제로 어디서 일어나는지, 그 공간이 부족하면 어떻게 디스크로 흘러 느려지는지. 정렬의 세 등급 optimal, onepass, multipass가 오늘의 핵심 개념이에요. 그리고 왜 요즘 오라클은 group by를 정렬이 아니라 해시로 하는지까지. 관통하는 원리는 하나입니다 — 데이터를 옮기는 비용을 줄이는 것. 병렬에선 재분배를 없애고, I/O에선 캐시를 우회하고, 정렬에선 메모리에 다 담는 것. 결석하셨지만 필기가 아주 상세해서 실측 숫자와 히든 파라미터까지 다 살렸습니다.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어제 full과 partial을 봤는데, 오늘 네 조합으로 완결합니다. pq_distribute의 두 인자가 outer와 inner를 각각 어떻게 재분배할지 정해요. 첫째, 둘 다 조인 키로 파티션돼 있으면 none, none — 재분배가 아예 없습니다. 같은 파티션끼리 조인하면 되니까요. 플랜엔 PX PARTITION LIST ALL. 둘째, inner만 넌파티션이면 none, partition — inner를 outer의 파티션 기준으로 재분배합니다. PX SEND PARTITION KEY에 HASH JOIN BUFFERED. 셋째가 오늘 새로 나온 건데, outer만 넌파티션이면 partition, none이에요. outer를 inner 기준으로 재분배하면서, PART JOIN FILTER CREATE로 블룸 필터를 만듭니다. 이 필터가 조인 상대에 실제로 있는 값만 걸러서, emp_part 스캔할 때 조인될 파티션만 읽게 해줘요. 넷째, 둘 다 넌파티션이면 동적 파티셔닝을 합니다. 둘 다 대용량이면 hash, hash로 조인 키를 해시해서 양쪽을 나누고, 한쪽이 아주 작으면 broadcast, none으로 작은 걸 큰 테이블 쪽 모든 프로세스에 복제해요. 여기서 꼭 확인할 게, 작은 테이블이 broadcast됐는지입니다. 힌트를 잘못 써서 큰 테이블이 broadcast되면 통신량이 폭발하거든요. v$pq_tqstat의 num_rows로 어느 쪽이 복제됐는지 봐야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두 가지를 묶어서 봅니다. 먼저 parallel DML. 병렬 insert select를 해도 기본은 쓰기, 그러니까 load가 serial입니다. 플랜 Id 1의 IN-OUT이 공백으로 찍혀요 — 공백이 바로 serial이라는 표시입니다. 쓰기까지 병렬화하려면 alter session enable parallel dml을 명시적으로 켜야 해요. 그런데 트랜잭션이 진행 중이면 ORA-12841이 납니다 — 트랜잭션 중엔 이 상태를 못 바꿔요. rollback이나 commit으로 끝내고 다시 켜야 합니다. 12c부터는 enable_parallel_dml 힌트로 그 문장만 켤 수도 있고요. 운영에서는 켜고 작업 후 disable까지가 한 세트라는 것, 업무팀이 깜빡하고 대량 적재하면 확인해주라는 게 강사님 당부였습니다. 두 번째, direct path I/O. 버퍼 캐시를 우회하는 방식이에요. direct path read는 디스크에서 바로 읽는 거고 병렬 쿼리, temp 읽기, expdp 때 발생합니다. direct path write는 디스크로 바로 쓰는 거고 parallel DML, insert append, CTAS, impdp 때 나와요. 특히 serial direct read가 중요한데, full table scan이 일정 크기를 넘으면 데이터를 버퍼 캐시에 안 올리고 서버 프로세스 PGA로 바로 읽습니다. 그 임계값이 _small_table_threshold, 실측 704 블록이에요. 어제 병렬 쿼리 QC의 Buffers가 5로 유독 작았던 것도 이 direct read 때문입니다 — 워커가 PGA로 직접 읽어서 버퍼 캐시를 거의 안 썼거든요.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완전히 새로운 주제, PGA입니다. Program Global Area, 서버와 백그라운드 프로세스의 전용 메모리예요. 정렬, 해시, 비트맵 같은 작업이 다 여기서 일어납니다. 구조는 두 부분이에요. stack space는 프로세스 변수나 배열 같은 거고, UGA, User Global Area에는 cursor state, 세션 데이터, 그리고 SQL 작업 공간이 들어갑니다. SQL 작업 공간에 sort_area_size 정렬 영역, hash_area_size 해시 영역, 비트맵 인덱스 생성과 병합 영역이 있어요. 참고로 shared server 환경에선 이 UGA가 large pool로 나갑니다 — 82일차에 large pool 쓰임에 shared server의 UGA가 있던 이유가 이거예요. 자동 관리로 넘어가면, 9i부터 pga_aggregate_target 하나로 SQL 작업 공간을 자동 관리합니다. workarea_size_policy를 auto로 두면요. 여기서 두 파라미터의 관계가 중요해요. pga_aggregate_target은 자동으로 확장되는 soft limit이고, 12c의 pga_aggregate_limit은 확장 가능한 최대인 hard limit입니다. 이 hard limit을 안 잡으면 PGA가 무한대로 커지니까 꼭 설정하는 습관을 들이라는 게 강사님 강조점이었어요. 권장값은 OLTP면 물리 메모리의 80퍼센트 곱하기 20퍼센트, DSS면 곱하기 50퍼센트입니다. DSS는 대량 정렬이 많으니 PGA를 더 크게 잡는 거죠. 수동 관리도 되지만 세션 레벨까지만 — 시스템 레벨에서 바꾸면 전체 세션이 물리니까 절대 하면 안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정렬이 필요하면 오라클은 PGA의 SORT AREA에서 수행합니다. 다 담기면 메모리 소트, 빠르죠. 못 담으면 정렬 중간 결과인 sort run을 temp 세그먼트로 흘리는 디스크 소트가 됩니다. 여기서 세 등급이 갈려요. optimal은 SORT_AREA_SIZE 안에서 정렬이 완료되는 것 — 디스크를 안 씁니다. 최적이죠. onepass는 sort run이 디스크에 딱 한 번 쓰이는 거예요. multipass는 여러 번 쓰이는 건데, 디스크 I/O가 폭증해서 성능이 크게 저하됩니다. sort_area_size가 작을수록 pass가 늘어나요. 실습에서 sort_area_size를 1MB로 줄이고 emp_temp를 정렬하니까, 실행계획에 Used-Temp가 등장했습니다. 이게 메모리가 부족해서 temp 공간을 쓴 크기, KB 단위예요. 그리고 v$session_event를 보면 direct path write temp와 read temp 대기가 잡힙니다 — sort run을 쓰고 다시 읽어온 거죠. 여기서 재밌는 게, 같은 SQL이라도 sort_area_size가 다르면 child cursor가 새로 생긴다는 거예요. 10일차에 배운 커서 공유 기억나시죠? 옵티마이저 환경이 다르면 커서가 갈립니다. v$sql_shared_cursor로 왜 갈렸는지, v$sql_workarea의 last_tempseg_size로 디스크를 얼마나 썼는지 추적할 수 있어요. 결론은, sort_area_size를 키우면 Used-Temp가 줄다가 0이 되면서 optimal로 돌아옵니다.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마지막입니다. 실행계획에서 SORT와 HASH 오퍼레이션을 구분하는 법이에요. order by나 집계 준비는 SORT로 나옵니다 — SORT ORDER BY, SORT AGGREGATE. 결과가 정렬돼 나오죠. 그런데 group by, distinct, unique는 HASH로 나와요 — HASH GROUP BY, HASH UNIQUE. 결과가 정렬 안 됩니다. 왜 그럴까요? 9iR2부터 _gby_hash_aggregation_enabled가 기본 TRUE예요. group by나 distinct를 해시로 수행하도록 알고리즘이 바뀐 겁니다. 생각해보면 당연해요 — group by나 distinct는 중복을 뭉치는 일이지 순서를 매기는 일이 아니거든요. 그러니까 정렬, O(n log n)보다 해시, O(n)이 유리하죠. 그래서 distinct department_id를 하면 HASH UNIQUE로 나오고 정렬이 안 됩니다. 옛날 방식, 그러니까 정렬된 결과를 보려면 opt_param 힌트로 _gby_hash_aggregation_enabled를 false로 주면 SORT UNIQUE가 나와요. 정렬된 결과가 필요하면 명시적으로 order by를 붙여야 하고, 그럼 SORT 오퍼레이션이 추가됩니다. 이렇게 정렬 결과를 만드는 오퍼레이션들 — SORT ORDER BY, SORT GROUP BY, SORT UNIQUE, 그리고 MERGE JOIN의 SORT — 을 구분해 읽는 게 실행계획 독해의 마지막 조각입니다. 이걸로 오늘 파트가 끝나고, 이제 로드맵에 안티패턴 하나만 남았어요.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오늘 결석이라 필기 기반으로 재구성했고, 실습 명령만 있고 결과 캡처가 없는 것들을 홈랩 목록으로 남겼습니다. 첫째, 정렬 작업의 trace를 직접 떠보는 것 — tracefile_identifier를 sort로 지정하고, wait event까지 보려면 10046 이벤트를 level 8로 켠 뒤, tkprof로 리포트를 뽑는 흐름이에요. 트레이스 파일은 알럿로그가 있는 위치에 생깁니다. 둘째, pq_distribute의 broadcast를 직접 걸어보고 v$pq_tqstat에서 작은 테이블이 복제됐는지 num_rows로 확인하는 것. 셋째, sort_area_size를 여러 값으로 바꿔가며 optimal에서 onepass, multipass로 넘어가는 경계와 Used-Temp 변화를 관찰하는 것. 넷째, _small_table_threshold 704 근처 크기의 테이블로 direct read와 scattered read가 갈리는 지점을 10949 이벤트로 확인하는 것. 그리고 어제부터 이월된 병렬 관련 열린 질문들도 있고요. 이걸로 병렬과 PGA 정렬 파트가 다 끝났습니다. 로드맵을 보면 이제 마지막 하나, 안티패턴과 자주 쓰는 힌트만 남았어요. 지금까지 쌓은 액세스 경로, 조인, 쿼리 변환, 옵티마이저, 통계, 커서 공유, 파티션, 병렬, 그리고 오늘의 PGA 정렬 — 이 모든 게 그 안티패턴 진단과 처방의 재료가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C3742"/>
        </a:solidFill>
      </p:bgPr>
    </p:bg>
    <p:spTree>
      <p:nvGrpSpPr>
        <p:cNvPr id="1" name=""/>
        <p:cNvGrpSpPr/>
        <p:nvPr/>
      </p:nvGrpSpPr>
      <p:grpSpPr>
        <a:xfrm>
          <a:off x="0" y="0"/>
          <a:ext cx="0" cy="0"/>
          <a:chOff x="0" y="0"/>
          <a:chExt cx="0" cy="0"/>
        </a:xfrm>
      </p:grpSpPr>
      <p:sp>
        <p:nvSpPr>
          <p:cNvPr id="2" name="Text 0"/>
          <p:cNvSpPr/>
          <p:nvPr/>
        </p:nvSpPr>
        <p:spPr>
          <a:xfrm>
            <a:off x="841248" y="603504"/>
            <a:ext cx="3657600" cy="365760"/>
          </a:xfrm>
          <a:prstGeom prst="rect">
            <a:avLst/>
          </a:prstGeom>
          <a:noFill/>
          <a:ln/>
        </p:spPr>
        <p:txBody>
          <a:bodyPr wrap="square" lIns="0" tIns="0" rIns="0" bIns="0" rtlCol="0" anchor="ctr"/>
          <a:lstStyle/>
          <a:p>
            <a:pPr algn="l" indent="0" marL="0">
              <a:buNone/>
            </a:pPr>
            <a:r>
              <a:rPr lang="en-US" sz="1300" b="1" spc="400" kern="0" dirty="0">
                <a:solidFill>
                  <a:srgbClr val="E89B8C"/>
                </a:solidFill>
                <a:latin typeface="맑은 고딕" pitchFamily="34" charset="0"/>
                <a:ea typeface="맑은 고딕" pitchFamily="34" charset="-122"/>
                <a:cs typeface="맑은 고딕" pitchFamily="34" charset="-120"/>
              </a:rPr>
              <a:t>ORACLE</a:t>
            </a:r>
            <a:endParaRPr lang="en-US" sz="1300" dirty="0"/>
          </a:p>
        </p:txBody>
      </p:sp>
      <p:sp>
        <p:nvSpPr>
          <p:cNvPr id="3" name="Text 1"/>
          <p:cNvSpPr/>
          <p:nvPr/>
        </p:nvSpPr>
        <p:spPr>
          <a:xfrm>
            <a:off x="6775704" y="603504"/>
            <a:ext cx="4572000" cy="365760"/>
          </a:xfrm>
          <a:prstGeom prst="rect">
            <a:avLst/>
          </a:prstGeom>
          <a:noFill/>
          <a:ln/>
        </p:spPr>
        <p:txBody>
          <a:bodyPr wrap="square" lIns="0" tIns="0" rIns="0" bIns="0" rtlCol="0" anchor="ctr"/>
          <a:lstStyle/>
          <a:p>
            <a:pPr algn="r" indent="0" marL="0">
              <a:buNone/>
            </a:pPr>
            <a:r>
              <a:rPr lang="en-US" sz="1100" dirty="0">
                <a:solidFill>
                  <a:srgbClr val="A79E90"/>
                </a:solidFill>
                <a:latin typeface="맑은 고딕" pitchFamily="34" charset="0"/>
                <a:ea typeface="맑은 고딕" pitchFamily="34" charset="-122"/>
                <a:cs typeface="맑은 고딕" pitchFamily="34" charset="-120"/>
              </a:rPr>
              <a:t>assets/sql_tuning.html §14.10~14.12 · §15</a:t>
            </a:r>
            <a:endParaRPr lang="en-US" sz="1100" dirty="0"/>
          </a:p>
        </p:txBody>
      </p:sp>
      <p:sp>
        <p:nvSpPr>
          <p:cNvPr id="4" name="Shape 2"/>
          <p:cNvSpPr/>
          <p:nvPr/>
        </p:nvSpPr>
        <p:spPr>
          <a:xfrm>
            <a:off x="841248" y="2395728"/>
            <a:ext cx="566928" cy="82296"/>
          </a:xfrm>
          <a:prstGeom prst="roundRect">
            <a:avLst>
              <a:gd name="adj" fmla="val 50000"/>
            </a:avLst>
          </a:prstGeom>
          <a:solidFill>
            <a:srgbClr val="C74634"/>
          </a:solidFill>
          <a:ln w="12700">
            <a:solidFill>
              <a:srgbClr val="C74634"/>
            </a:solidFill>
            <a:prstDash val="solid"/>
          </a:ln>
        </p:spPr>
      </p:sp>
      <p:sp>
        <p:nvSpPr>
          <p:cNvPr id="5" name="Text 3"/>
          <p:cNvSpPr/>
          <p:nvPr/>
        </p:nvSpPr>
        <p:spPr>
          <a:xfrm>
            <a:off x="1591056" y="2286000"/>
            <a:ext cx="9692640" cy="310896"/>
          </a:xfrm>
          <a:prstGeom prst="rect">
            <a:avLst/>
          </a:prstGeom>
          <a:noFill/>
          <a:ln/>
        </p:spPr>
        <p:txBody>
          <a:bodyPr wrap="square" lIns="0" tIns="0" rIns="0" bIns="0" rtlCol="0" anchor="ctr"/>
          <a:lstStyle/>
          <a:p>
            <a:pPr algn="l" indent="0" marL="0">
              <a:buNone/>
            </a:pPr>
            <a:r>
              <a:rPr lang="en-US" sz="1300" spc="100" kern="0" dirty="0">
                <a:solidFill>
                  <a:srgbClr val="E89B8C"/>
                </a:solidFill>
                <a:latin typeface="맑은 고딕" pitchFamily="34" charset="0"/>
                <a:ea typeface="맑은 고딕" pitchFamily="34" charset="-122"/>
                <a:cs typeface="맑은 고딕" pitchFamily="34" charset="-120"/>
              </a:rPr>
              <a:t>Oracle DBA 학습 정리</a:t>
            </a:r>
            <a:endParaRPr lang="en-US" sz="1300" dirty="0"/>
          </a:p>
        </p:txBody>
      </p:sp>
      <p:sp>
        <p:nvSpPr>
          <p:cNvPr id="6" name="Text 4"/>
          <p:cNvSpPr/>
          <p:nvPr/>
        </p:nvSpPr>
        <p:spPr>
          <a:xfrm>
            <a:off x="841248" y="2788920"/>
            <a:ext cx="10698480" cy="1737360"/>
          </a:xfrm>
          <a:prstGeom prst="rect">
            <a:avLst/>
          </a:prstGeom>
          <a:noFill/>
          <a:ln/>
        </p:spPr>
        <p:txBody>
          <a:bodyPr wrap="square" lIns="0" tIns="0" rIns="0" bIns="0" rtlCol="0" anchor="t"/>
          <a:lstStyle/>
          <a:p>
            <a:pPr algn="l" indent="0" marL="0">
              <a:lnSpc>
                <a:spcPct val="104000"/>
              </a:lnSpc>
              <a:buNone/>
            </a:pPr>
            <a:r>
              <a:rPr lang="en-US" sz="4800" b="1" dirty="0">
                <a:solidFill>
                  <a:srgbClr val="FFFFFF"/>
                </a:solidFill>
                <a:latin typeface="맑은 고딕" pitchFamily="34" charset="0"/>
                <a:ea typeface="맑은 고딕" pitchFamily="34" charset="-122"/>
                <a:cs typeface="맑은 고딕" pitchFamily="34" charset="-120"/>
              </a:rPr>
              <a:t>재분배를 없애고, 캐시를 우회하고, 메모리에 담는다</a:t>
            </a:r>
            <a:endParaRPr lang="en-US" sz="4800" dirty="0"/>
          </a:p>
        </p:txBody>
      </p:sp>
      <p:sp>
        <p:nvSpPr>
          <p:cNvPr id="7" name="Text 5"/>
          <p:cNvSpPr/>
          <p:nvPr/>
        </p:nvSpPr>
        <p:spPr>
          <a:xfrm>
            <a:off x="841248" y="4709160"/>
            <a:ext cx="10506456" cy="640080"/>
          </a:xfrm>
          <a:prstGeom prst="rect">
            <a:avLst/>
          </a:prstGeom>
          <a:noFill/>
          <a:ln/>
        </p:spPr>
        <p:txBody>
          <a:bodyPr wrap="square" lIns="0" tIns="0" rIns="0" bIns="0" rtlCol="0" anchor="t"/>
          <a:lstStyle/>
          <a:p>
            <a:pPr algn="l" indent="0" marL="0">
              <a:buNone/>
            </a:pPr>
            <a:r>
              <a:rPr lang="en-US" sz="1700" dirty="0">
                <a:solidFill>
                  <a:srgbClr val="A79E90"/>
                </a:solidFill>
                <a:latin typeface="맑은 고딕" pitchFamily="34" charset="0"/>
                <a:ea typeface="맑은 고딕" pitchFamily="34" charset="-122"/>
                <a:cs typeface="맑은 고딕" pitchFamily="34" charset="-120"/>
              </a:rPr>
              <a:t>83일차 — pq_distribute 4조합 · parallel DML · direct path I/O · PGA와 정렬</a:t>
            </a:r>
            <a:endParaRPr lang="en-US" sz="1700" dirty="0"/>
          </a:p>
        </p:txBody>
      </p:sp>
      <p:sp>
        <p:nvSpPr>
          <p:cNvPr id="8" name="Text 6"/>
          <p:cNvSpPr/>
          <p:nvPr/>
        </p:nvSpPr>
        <p:spPr>
          <a:xfrm>
            <a:off x="841248" y="5989320"/>
            <a:ext cx="7315200" cy="457200"/>
          </a:xfrm>
          <a:prstGeom prst="rect">
            <a:avLst/>
          </a:prstGeom>
          <a:noFill/>
          <a:ln/>
        </p:spPr>
        <p:txBody>
          <a:bodyPr wrap="square" lIns="0" tIns="0" rIns="0" bIns="0" rtlCol="0" anchor="t"/>
          <a:lstStyle/>
          <a:p>
            <a:pPr algn="l" indent="0" marL="0">
              <a:buNone/>
            </a:pPr>
            <a:r>
              <a:rPr lang="en-US" sz="1200" dirty="0">
                <a:solidFill>
                  <a:srgbClr val="A79E90"/>
                </a:solidFill>
                <a:latin typeface="맑은 고딕" pitchFamily="34" charset="0"/>
                <a:ea typeface="맑은 고딕" pitchFamily="34" charset="-122"/>
                <a:cs typeface="맑은 고딕" pitchFamily="34" charset="-120"/>
              </a:rPr>
              <a:t>Oracle DBA 부트캠프</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8F4"/>
        </a:solidFill>
      </p:bgPr>
    </p:bg>
    <p:spTree>
      <p:nvGrpSpPr>
        <p:cNvPr id="1" name=""/>
        <p:cNvGrpSpPr/>
        <p:nvPr/>
      </p:nvGrpSpPr>
      <p:grpSpPr>
        <a:xfrm>
          <a:off x="0" y="0"/>
          <a:ext cx="0" cy="0"/>
          <a:chOff x="0" y="0"/>
          <a:chExt cx="0" cy="0"/>
        </a:xfrm>
      </p:grpSpPr>
      <p:sp>
        <p:nvSpPr>
          <p:cNvPr id="2" name="Shape 0"/>
          <p:cNvSpPr/>
          <p:nvPr/>
        </p:nvSpPr>
        <p:spPr>
          <a:xfrm>
            <a:off x="841248" y="603504"/>
            <a:ext cx="420624" cy="73152"/>
          </a:xfrm>
          <a:prstGeom prst="roundRect">
            <a:avLst>
              <a:gd name="adj" fmla="val 50000"/>
            </a:avLst>
          </a:prstGeom>
          <a:solidFill>
            <a:srgbClr val="C74634"/>
          </a:solidFill>
          <a:ln w="12700">
            <a:solidFill>
              <a:srgbClr val="C74634"/>
            </a:solidFill>
            <a:prstDash val="solid"/>
          </a:ln>
        </p:spPr>
      </p:sp>
      <p:sp>
        <p:nvSpPr>
          <p:cNvPr id="3" name="Text 1"/>
          <p:cNvSpPr/>
          <p:nvPr/>
        </p:nvSpPr>
        <p:spPr>
          <a:xfrm>
            <a:off x="841248" y="768096"/>
            <a:ext cx="5486400" cy="502920"/>
          </a:xfrm>
          <a:prstGeom prst="rect">
            <a:avLst/>
          </a:prstGeom>
          <a:noFill/>
          <a:ln/>
        </p:spPr>
        <p:txBody>
          <a:bodyPr wrap="square" lIns="0" tIns="0" rIns="0" bIns="0" rtlCol="0" anchor="t"/>
          <a:lstStyle/>
          <a:p>
            <a:pPr algn="l" indent="0" marL="0">
              <a:buNone/>
            </a:pPr>
            <a:r>
              <a:rPr lang="en-US" sz="2500" b="1" dirty="0">
                <a:solidFill>
                  <a:srgbClr val="20303F"/>
                </a:solidFill>
                <a:latin typeface="맑은 고딕" pitchFamily="34" charset="0"/>
                <a:ea typeface="맑은 고딕" pitchFamily="34" charset="-122"/>
                <a:cs typeface="맑은 고딕" pitchFamily="34" charset="-120"/>
              </a:rPr>
              <a:t>발표 흐름</a:t>
            </a:r>
            <a:endParaRPr lang="en-US" sz="2500" dirty="0"/>
          </a:p>
        </p:txBody>
      </p:sp>
      <p:sp>
        <p:nvSpPr>
          <p:cNvPr id="4" name="Text 2"/>
          <p:cNvSpPr/>
          <p:nvPr/>
        </p:nvSpPr>
        <p:spPr>
          <a:xfrm>
            <a:off x="841248" y="1316736"/>
            <a:ext cx="5486400" cy="274320"/>
          </a:xfrm>
          <a:prstGeom prst="rect">
            <a:avLst/>
          </a:prstGeom>
          <a:noFill/>
          <a:ln/>
        </p:spPr>
        <p:txBody>
          <a:bodyPr wrap="square" lIns="0" tIns="0" rIns="0" bIns="0" rtlCol="0" anchor="ctr"/>
          <a:lstStyle/>
          <a:p>
            <a:pPr algn="l" indent="0" marL="0">
              <a:buNone/>
            </a:pPr>
            <a:r>
              <a:rPr lang="en-US" sz="1100" spc="200" kern="0" dirty="0">
                <a:solidFill>
                  <a:srgbClr val="A79E90"/>
                </a:solidFill>
                <a:latin typeface="맑은 고딕" pitchFamily="34" charset="0"/>
                <a:ea typeface="맑은 고딕" pitchFamily="34" charset="-122"/>
                <a:cs typeface="맑은 고딕" pitchFamily="34" charset="-120"/>
              </a:rPr>
              <a:t>ROADMAP</a:t>
            </a:r>
            <a:endParaRPr lang="en-US" sz="1100" dirty="0"/>
          </a:p>
        </p:txBody>
      </p:sp>
      <p:sp>
        <p:nvSpPr>
          <p:cNvPr id="5" name="Text 3"/>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6" name="Shape 4"/>
          <p:cNvSpPr/>
          <p:nvPr/>
        </p:nvSpPr>
        <p:spPr>
          <a:xfrm>
            <a:off x="841248" y="1627632"/>
            <a:ext cx="10506456" cy="10973"/>
          </a:xfrm>
          <a:prstGeom prst="rect">
            <a:avLst/>
          </a:prstGeom>
          <a:solidFill>
            <a:srgbClr val="E7E1D6"/>
          </a:solidFill>
          <a:ln w="12700">
            <a:solidFill>
              <a:srgbClr val="E7E1D6"/>
            </a:solidFill>
            <a:prstDash val="solid"/>
          </a:ln>
        </p:spPr>
      </p:sp>
      <p:sp>
        <p:nvSpPr>
          <p:cNvPr id="7" name="Text 5"/>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B6256"/>
                </a:solidFill>
                <a:latin typeface="맑은 고딕" pitchFamily="34" charset="0"/>
                <a:ea typeface="맑은 고딕" pitchFamily="34" charset="-122"/>
                <a:cs typeface="맑은 고딕" pitchFamily="34" charset="-120"/>
              </a:rPr>
              <a:t>Oracle DBA · 재분배를 없애고, 캐시를 우회하고, 메모리에 담는다</a:t>
            </a:r>
            <a:endParaRPr lang="en-US" sz="900" dirty="0"/>
          </a:p>
        </p:txBody>
      </p:sp>
      <p:sp>
        <p:nvSpPr>
          <p:cNvPr id="8" name="Text 6"/>
          <p:cNvSpPr/>
          <p:nvPr/>
        </p:nvSpPr>
        <p:spPr>
          <a:xfrm>
            <a:off x="841248" y="1737360"/>
            <a:ext cx="822960" cy="722376"/>
          </a:xfrm>
          <a:prstGeom prst="rect">
            <a:avLst/>
          </a:prstGeom>
          <a:noFill/>
          <a:ln/>
        </p:spPr>
        <p:txBody>
          <a:bodyPr wrap="square" lIns="0" tIns="0" rIns="0" bIns="0" rtlCol="0" anchor="t"/>
          <a:lstStyle/>
          <a:p>
            <a:pPr algn="l" indent="0" marL="0">
              <a:buNone/>
            </a:pPr>
            <a:r>
              <a:rPr lang="en-US" sz="2600" b="1" dirty="0">
                <a:solidFill>
                  <a:srgbClr val="C74634"/>
                </a:solidFill>
                <a:latin typeface="맑은 고딕" pitchFamily="34" charset="0"/>
                <a:ea typeface="맑은 고딕" pitchFamily="34" charset="-122"/>
                <a:cs typeface="맑은 고딕" pitchFamily="34" charset="-120"/>
              </a:rPr>
              <a:t>00</a:t>
            </a:r>
            <a:endParaRPr lang="en-US" sz="2600" dirty="0"/>
          </a:p>
        </p:txBody>
      </p:sp>
      <p:sp>
        <p:nvSpPr>
          <p:cNvPr id="9" name="Text 7"/>
          <p:cNvSpPr/>
          <p:nvPr/>
        </p:nvSpPr>
        <p:spPr>
          <a:xfrm>
            <a:off x="1755648" y="1755648"/>
            <a:ext cx="9592056" cy="365760"/>
          </a:xfrm>
          <a:prstGeom prst="rect">
            <a:avLst/>
          </a:prstGeom>
          <a:noFill/>
          <a:ln/>
        </p:spPr>
        <p:txBody>
          <a:bodyPr wrap="square" lIns="0" tIns="0" rIns="0" bIns="0" rtlCol="0" anchor="t"/>
          <a:lstStyle/>
          <a:p>
            <a:pPr algn="l" indent="0" marL="0">
              <a:buNone/>
            </a:pPr>
            <a:r>
              <a:rPr lang="en-US" sz="1700" b="1" dirty="0">
                <a:solidFill>
                  <a:srgbClr val="20303F"/>
                </a:solidFill>
                <a:latin typeface="맑은 고딕" pitchFamily="34" charset="0"/>
                <a:ea typeface="맑은 고딕" pitchFamily="34" charset="-122"/>
                <a:cs typeface="맑은 고딕" pitchFamily="34" charset="-120"/>
              </a:rPr>
              <a:t>오늘의 큰 그림</a:t>
            </a:r>
            <a:endParaRPr lang="en-US" sz="1700" dirty="0"/>
          </a:p>
        </p:txBody>
      </p:sp>
      <p:sp>
        <p:nvSpPr>
          <p:cNvPr id="10" name="Text 8"/>
          <p:cNvSpPr/>
          <p:nvPr/>
        </p:nvSpPr>
        <p:spPr>
          <a:xfrm>
            <a:off x="1755648" y="2148840"/>
            <a:ext cx="9592056" cy="365760"/>
          </a:xfrm>
          <a:prstGeom prst="rect">
            <a:avLst/>
          </a:prstGeom>
          <a:noFill/>
          <a:ln/>
        </p:spPr>
        <p:txBody>
          <a:bodyPr wrap="square" lIns="0" tIns="0" rIns="0" bIns="0" rtlCol="0" anchor="t"/>
          <a:lstStyle/>
          <a:p>
            <a:pPr algn="l" indent="0" marL="0">
              <a:buNone/>
            </a:pPr>
            <a:r>
              <a:rPr lang="en-US" sz="1200" dirty="0">
                <a:solidFill>
                  <a:srgbClr val="6B6256"/>
                </a:solidFill>
                <a:latin typeface="맑은 고딕" pitchFamily="34" charset="0"/>
                <a:ea typeface="맑은 고딕" pitchFamily="34" charset="-122"/>
                <a:cs typeface="맑은 고딕" pitchFamily="34" charset="-120"/>
              </a:rPr>
              <a:t>병렬 완결, 그리고 작업 공간의 경제학</a:t>
            </a:r>
            <a:endParaRPr lang="en-US" sz="1200" dirty="0"/>
          </a:p>
        </p:txBody>
      </p:sp>
      <p:sp>
        <p:nvSpPr>
          <p:cNvPr id="11" name="Text 9"/>
          <p:cNvSpPr/>
          <p:nvPr/>
        </p:nvSpPr>
        <p:spPr>
          <a:xfrm>
            <a:off x="841248" y="2596896"/>
            <a:ext cx="822960" cy="722376"/>
          </a:xfrm>
          <a:prstGeom prst="rect">
            <a:avLst/>
          </a:prstGeom>
          <a:noFill/>
          <a:ln/>
        </p:spPr>
        <p:txBody>
          <a:bodyPr wrap="square" lIns="0" tIns="0" rIns="0" bIns="0" rtlCol="0" anchor="t"/>
          <a:lstStyle/>
          <a:p>
            <a:pPr algn="l" indent="0" marL="0">
              <a:buNone/>
            </a:pPr>
            <a:r>
              <a:rPr lang="en-US" sz="2600" b="1" dirty="0">
                <a:solidFill>
                  <a:srgbClr val="C74634"/>
                </a:solidFill>
                <a:latin typeface="맑은 고딕" pitchFamily="34" charset="0"/>
                <a:ea typeface="맑은 고딕" pitchFamily="34" charset="-122"/>
                <a:cs typeface="맑은 고딕" pitchFamily="34" charset="-120"/>
              </a:rPr>
              <a:t>01</a:t>
            </a:r>
            <a:endParaRPr lang="en-US" sz="2600" dirty="0"/>
          </a:p>
        </p:txBody>
      </p:sp>
      <p:sp>
        <p:nvSpPr>
          <p:cNvPr id="12" name="Text 10"/>
          <p:cNvSpPr/>
          <p:nvPr/>
        </p:nvSpPr>
        <p:spPr>
          <a:xfrm>
            <a:off x="1755648" y="2615184"/>
            <a:ext cx="9592056" cy="365760"/>
          </a:xfrm>
          <a:prstGeom prst="rect">
            <a:avLst/>
          </a:prstGeom>
          <a:noFill/>
          <a:ln/>
        </p:spPr>
        <p:txBody>
          <a:bodyPr wrap="square" lIns="0" tIns="0" rIns="0" bIns="0" rtlCol="0" anchor="t"/>
          <a:lstStyle/>
          <a:p>
            <a:pPr algn="l" indent="0" marL="0">
              <a:buNone/>
            </a:pPr>
            <a:r>
              <a:rPr lang="en-US" sz="1700" b="1" dirty="0">
                <a:solidFill>
                  <a:srgbClr val="20303F"/>
                </a:solidFill>
                <a:latin typeface="맑은 고딕" pitchFamily="34" charset="0"/>
                <a:ea typeface="맑은 고딕" pitchFamily="34" charset="-122"/>
                <a:cs typeface="맑은 고딕" pitchFamily="34" charset="-120"/>
              </a:rPr>
              <a:t>병렬 조인 완결</a:t>
            </a:r>
            <a:endParaRPr lang="en-US" sz="1700" dirty="0"/>
          </a:p>
        </p:txBody>
      </p:sp>
      <p:sp>
        <p:nvSpPr>
          <p:cNvPr id="13" name="Text 11"/>
          <p:cNvSpPr/>
          <p:nvPr/>
        </p:nvSpPr>
        <p:spPr>
          <a:xfrm>
            <a:off x="1755648" y="3008376"/>
            <a:ext cx="9592056" cy="365760"/>
          </a:xfrm>
          <a:prstGeom prst="rect">
            <a:avLst/>
          </a:prstGeom>
          <a:noFill/>
          <a:ln/>
        </p:spPr>
        <p:txBody>
          <a:bodyPr wrap="square" lIns="0" tIns="0" rIns="0" bIns="0" rtlCol="0" anchor="t"/>
          <a:lstStyle/>
          <a:p>
            <a:pPr algn="l" indent="0" marL="0">
              <a:buNone/>
            </a:pPr>
            <a:r>
              <a:rPr lang="en-US" sz="1200" dirty="0">
                <a:solidFill>
                  <a:srgbClr val="6B6256"/>
                </a:solidFill>
                <a:latin typeface="맑은 고딕" pitchFamily="34" charset="0"/>
                <a:ea typeface="맑은 고딕" pitchFamily="34" charset="-122"/>
                <a:cs typeface="맑은 고딕" pitchFamily="34" charset="-120"/>
              </a:rPr>
              <a:t>무엇이 파티션돼 있느냐로 갈린다</a:t>
            </a:r>
            <a:endParaRPr lang="en-US" sz="1200" dirty="0"/>
          </a:p>
        </p:txBody>
      </p:sp>
      <p:sp>
        <p:nvSpPr>
          <p:cNvPr id="14" name="Text 12"/>
          <p:cNvSpPr/>
          <p:nvPr/>
        </p:nvSpPr>
        <p:spPr>
          <a:xfrm>
            <a:off x="841248" y="3456432"/>
            <a:ext cx="822960" cy="722376"/>
          </a:xfrm>
          <a:prstGeom prst="rect">
            <a:avLst/>
          </a:prstGeom>
          <a:noFill/>
          <a:ln/>
        </p:spPr>
        <p:txBody>
          <a:bodyPr wrap="square" lIns="0" tIns="0" rIns="0" bIns="0" rtlCol="0" anchor="t"/>
          <a:lstStyle/>
          <a:p>
            <a:pPr algn="l" indent="0" marL="0">
              <a:buNone/>
            </a:pPr>
            <a:r>
              <a:rPr lang="en-US" sz="2600" b="1" dirty="0">
                <a:solidFill>
                  <a:srgbClr val="C74634"/>
                </a:solidFill>
                <a:latin typeface="맑은 고딕" pitchFamily="34" charset="0"/>
                <a:ea typeface="맑은 고딕" pitchFamily="34" charset="-122"/>
                <a:cs typeface="맑은 고딕" pitchFamily="34" charset="-120"/>
              </a:rPr>
              <a:t>02</a:t>
            </a:r>
            <a:endParaRPr lang="en-US" sz="2600" dirty="0"/>
          </a:p>
        </p:txBody>
      </p:sp>
      <p:sp>
        <p:nvSpPr>
          <p:cNvPr id="15" name="Text 13"/>
          <p:cNvSpPr/>
          <p:nvPr/>
        </p:nvSpPr>
        <p:spPr>
          <a:xfrm>
            <a:off x="1755648" y="3474720"/>
            <a:ext cx="9592056" cy="365760"/>
          </a:xfrm>
          <a:prstGeom prst="rect">
            <a:avLst/>
          </a:prstGeom>
          <a:noFill/>
          <a:ln/>
        </p:spPr>
        <p:txBody>
          <a:bodyPr wrap="square" lIns="0" tIns="0" rIns="0" bIns="0" rtlCol="0" anchor="t"/>
          <a:lstStyle/>
          <a:p>
            <a:pPr algn="l" indent="0" marL="0">
              <a:buNone/>
            </a:pPr>
            <a:r>
              <a:rPr lang="en-US" sz="1700" b="1" dirty="0">
                <a:solidFill>
                  <a:srgbClr val="20303F"/>
                </a:solidFill>
                <a:latin typeface="맑은 고딕" pitchFamily="34" charset="0"/>
                <a:ea typeface="맑은 고딕" pitchFamily="34" charset="-122"/>
                <a:cs typeface="맑은 고딕" pitchFamily="34" charset="-120"/>
              </a:rPr>
              <a:t>PGA</a:t>
            </a:r>
            <a:endParaRPr lang="en-US" sz="1700" dirty="0"/>
          </a:p>
        </p:txBody>
      </p:sp>
      <p:sp>
        <p:nvSpPr>
          <p:cNvPr id="16" name="Text 14"/>
          <p:cNvSpPr/>
          <p:nvPr/>
        </p:nvSpPr>
        <p:spPr>
          <a:xfrm>
            <a:off x="1755648" y="3867912"/>
            <a:ext cx="9592056" cy="365760"/>
          </a:xfrm>
          <a:prstGeom prst="rect">
            <a:avLst/>
          </a:prstGeom>
          <a:noFill/>
          <a:ln/>
        </p:spPr>
        <p:txBody>
          <a:bodyPr wrap="square" lIns="0" tIns="0" rIns="0" bIns="0" rtlCol="0" anchor="t"/>
          <a:lstStyle/>
          <a:p>
            <a:pPr algn="l" indent="0" marL="0">
              <a:buNone/>
            </a:pPr>
            <a:r>
              <a:rPr lang="en-US" sz="1200" dirty="0">
                <a:solidFill>
                  <a:srgbClr val="6B6256"/>
                </a:solidFill>
                <a:latin typeface="맑은 고딕" pitchFamily="34" charset="0"/>
                <a:ea typeface="맑은 고딕" pitchFamily="34" charset="-122"/>
                <a:cs typeface="맑은 고딕" pitchFamily="34" charset="-120"/>
              </a:rPr>
              <a:t>작업 공간의 경제학</a:t>
            </a:r>
            <a:endParaRPr lang="en-US" sz="1200" dirty="0"/>
          </a:p>
        </p:txBody>
      </p:sp>
      <p:sp>
        <p:nvSpPr>
          <p:cNvPr id="17" name="Text 15"/>
          <p:cNvSpPr/>
          <p:nvPr/>
        </p:nvSpPr>
        <p:spPr>
          <a:xfrm>
            <a:off x="841248" y="4315968"/>
            <a:ext cx="822960" cy="722376"/>
          </a:xfrm>
          <a:prstGeom prst="rect">
            <a:avLst/>
          </a:prstGeom>
          <a:noFill/>
          <a:ln/>
        </p:spPr>
        <p:txBody>
          <a:bodyPr wrap="square" lIns="0" tIns="0" rIns="0" bIns="0" rtlCol="0" anchor="t"/>
          <a:lstStyle/>
          <a:p>
            <a:pPr algn="l" indent="0" marL="0">
              <a:buNone/>
            </a:pPr>
            <a:r>
              <a:rPr lang="en-US" sz="2600" b="1" dirty="0">
                <a:solidFill>
                  <a:srgbClr val="C74634"/>
                </a:solidFill>
                <a:latin typeface="맑은 고딕" pitchFamily="34" charset="0"/>
                <a:ea typeface="맑은 고딕" pitchFamily="34" charset="-122"/>
                <a:cs typeface="맑은 고딕" pitchFamily="34" charset="-120"/>
              </a:rPr>
              <a:t>03</a:t>
            </a:r>
            <a:endParaRPr lang="en-US" sz="2600" dirty="0"/>
          </a:p>
        </p:txBody>
      </p:sp>
      <p:sp>
        <p:nvSpPr>
          <p:cNvPr id="18" name="Text 16"/>
          <p:cNvSpPr/>
          <p:nvPr/>
        </p:nvSpPr>
        <p:spPr>
          <a:xfrm>
            <a:off x="1755648" y="4334256"/>
            <a:ext cx="9592056" cy="365760"/>
          </a:xfrm>
          <a:prstGeom prst="rect">
            <a:avLst/>
          </a:prstGeom>
          <a:noFill/>
          <a:ln/>
        </p:spPr>
        <p:txBody>
          <a:bodyPr wrap="square" lIns="0" tIns="0" rIns="0" bIns="0" rtlCol="0" anchor="t"/>
          <a:lstStyle/>
          <a:p>
            <a:pPr algn="l" indent="0" marL="0">
              <a:buNone/>
            </a:pPr>
            <a:r>
              <a:rPr lang="en-US" sz="1700" b="1" dirty="0">
                <a:solidFill>
                  <a:srgbClr val="20303F"/>
                </a:solidFill>
                <a:latin typeface="맑은 고딕" pitchFamily="34" charset="0"/>
                <a:ea typeface="맑은 고딕" pitchFamily="34" charset="-122"/>
                <a:cs typeface="맑은 고딕" pitchFamily="34" charset="-120"/>
              </a:rPr>
              <a:t>정렬</a:t>
            </a:r>
            <a:endParaRPr lang="en-US" sz="1700" dirty="0"/>
          </a:p>
        </p:txBody>
      </p:sp>
      <p:sp>
        <p:nvSpPr>
          <p:cNvPr id="19" name="Text 17"/>
          <p:cNvSpPr/>
          <p:nvPr/>
        </p:nvSpPr>
        <p:spPr>
          <a:xfrm>
            <a:off x="1755648" y="4727448"/>
            <a:ext cx="9592056" cy="365760"/>
          </a:xfrm>
          <a:prstGeom prst="rect">
            <a:avLst/>
          </a:prstGeom>
          <a:noFill/>
          <a:ln/>
        </p:spPr>
        <p:txBody>
          <a:bodyPr wrap="square" lIns="0" tIns="0" rIns="0" bIns="0" rtlCol="0" anchor="t"/>
          <a:lstStyle/>
          <a:p>
            <a:pPr algn="l" indent="0" marL="0">
              <a:buNone/>
            </a:pPr>
            <a:r>
              <a:rPr lang="en-US" sz="1200" dirty="0">
                <a:solidFill>
                  <a:srgbClr val="6B6256"/>
                </a:solidFill>
                <a:latin typeface="맑은 고딕" pitchFamily="34" charset="0"/>
                <a:ea typeface="맑은 고딕" pitchFamily="34" charset="-122"/>
                <a:cs typeface="맑은 고딕" pitchFamily="34" charset="-120"/>
              </a:rPr>
              <a:t>메모리에 담기느냐, 디스크로 흘리느냐</a:t>
            </a:r>
            <a:endParaRPr lang="en-US" sz="1200" dirty="0"/>
          </a:p>
        </p:txBody>
      </p:sp>
      <p:sp>
        <p:nvSpPr>
          <p:cNvPr id="20" name="Text 18"/>
          <p:cNvSpPr/>
          <p:nvPr/>
        </p:nvSpPr>
        <p:spPr>
          <a:xfrm>
            <a:off x="841248" y="5175504"/>
            <a:ext cx="822960" cy="722376"/>
          </a:xfrm>
          <a:prstGeom prst="rect">
            <a:avLst/>
          </a:prstGeom>
          <a:noFill/>
          <a:ln/>
        </p:spPr>
        <p:txBody>
          <a:bodyPr wrap="square" lIns="0" tIns="0" rIns="0" bIns="0" rtlCol="0" anchor="t"/>
          <a:lstStyle/>
          <a:p>
            <a:pPr algn="l" indent="0" marL="0">
              <a:buNone/>
            </a:pPr>
            <a:r>
              <a:rPr lang="en-US" sz="2600" b="1" dirty="0">
                <a:solidFill>
                  <a:srgbClr val="C74634"/>
                </a:solidFill>
                <a:latin typeface="맑은 고딕" pitchFamily="34" charset="0"/>
                <a:ea typeface="맑은 고딕" pitchFamily="34" charset="-122"/>
                <a:cs typeface="맑은 고딕" pitchFamily="34" charset="-120"/>
              </a:rPr>
              <a:t>04</a:t>
            </a:r>
            <a:endParaRPr lang="en-US" sz="2600" dirty="0"/>
          </a:p>
        </p:txBody>
      </p:sp>
      <p:sp>
        <p:nvSpPr>
          <p:cNvPr id="21" name="Text 19"/>
          <p:cNvSpPr/>
          <p:nvPr/>
        </p:nvSpPr>
        <p:spPr>
          <a:xfrm>
            <a:off x="1755648" y="5193792"/>
            <a:ext cx="9592056" cy="365760"/>
          </a:xfrm>
          <a:prstGeom prst="rect">
            <a:avLst/>
          </a:prstGeom>
          <a:noFill/>
          <a:ln/>
        </p:spPr>
        <p:txBody>
          <a:bodyPr wrap="square" lIns="0" tIns="0" rIns="0" bIns="0" rtlCol="0" anchor="t"/>
          <a:lstStyle/>
          <a:p>
            <a:pPr algn="l" indent="0" marL="0">
              <a:buNone/>
            </a:pPr>
            <a:r>
              <a:rPr lang="en-US" sz="1700" b="1" dirty="0">
                <a:solidFill>
                  <a:srgbClr val="20303F"/>
                </a:solidFill>
                <a:latin typeface="맑은 고딕" pitchFamily="34" charset="0"/>
                <a:ea typeface="맑은 고딕" pitchFamily="34" charset="-122"/>
                <a:cs typeface="맑은 고딕" pitchFamily="34" charset="-120"/>
              </a:rPr>
              <a:t>빈틈 &amp; 질문</a:t>
            </a:r>
            <a:endParaRPr lang="en-US" sz="1700" dirty="0"/>
          </a:p>
        </p:txBody>
      </p:sp>
      <p:sp>
        <p:nvSpPr>
          <p:cNvPr id="22" name="Text 20"/>
          <p:cNvSpPr/>
          <p:nvPr/>
        </p:nvSpPr>
        <p:spPr>
          <a:xfrm>
            <a:off x="1755648" y="5586984"/>
            <a:ext cx="9592056" cy="365760"/>
          </a:xfrm>
          <a:prstGeom prst="rect">
            <a:avLst/>
          </a:prstGeom>
          <a:noFill/>
          <a:ln/>
        </p:spPr>
        <p:txBody>
          <a:bodyPr wrap="square" lIns="0" tIns="0" rIns="0" bIns="0" rtlCol="0" anchor="t"/>
          <a:lstStyle/>
          <a:p>
            <a:pPr algn="l" indent="0" marL="0">
              <a:buNone/>
            </a:pPr>
            <a:r>
              <a:rPr lang="en-US" sz="1200" dirty="0">
                <a:solidFill>
                  <a:srgbClr val="6B6256"/>
                </a:solidFill>
                <a:latin typeface="맑은 고딕" pitchFamily="34" charset="0"/>
                <a:ea typeface="맑은 고딕" pitchFamily="34" charset="-122"/>
                <a:cs typeface="맑은 고딕" pitchFamily="34" charset="-120"/>
              </a:rPr>
              <a:t>결석일 — 홈랩 재확인 목록</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2C3742"/>
        </a:solidFill>
      </p:bgPr>
    </p:bg>
    <p:spTree>
      <p:nvGrpSpPr>
        <p:cNvPr id="1" name=""/>
        <p:cNvGrpSpPr/>
        <p:nvPr/>
      </p:nvGrpSpPr>
      <p:grpSpPr>
        <a:xfrm>
          <a:off x="0" y="0"/>
          <a:ext cx="0" cy="0"/>
          <a:chOff x="0" y="0"/>
          <a:chExt cx="0" cy="0"/>
        </a:xfrm>
      </p:grpSpPr>
      <p:sp>
        <p:nvSpPr>
          <p:cNvPr id="2" name="Text 0"/>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3" name="Text 1"/>
          <p:cNvSpPr/>
          <p:nvPr/>
        </p:nvSpPr>
        <p:spPr>
          <a:xfrm>
            <a:off x="795528" y="1371600"/>
            <a:ext cx="4572000" cy="2011680"/>
          </a:xfrm>
          <a:prstGeom prst="rect">
            <a:avLst/>
          </a:prstGeom>
          <a:noFill/>
          <a:ln/>
        </p:spPr>
        <p:txBody>
          <a:bodyPr wrap="square" lIns="0" tIns="0" rIns="0" bIns="0" rtlCol="0" anchor="t"/>
          <a:lstStyle/>
          <a:p>
            <a:pPr algn="l" indent="0" marL="0">
              <a:buNone/>
            </a:pPr>
            <a:r>
              <a:rPr lang="en-US" sz="13000" b="1" dirty="0">
                <a:solidFill>
                  <a:srgbClr val="334155"/>
                </a:solidFill>
                <a:latin typeface="맑은 고딕" pitchFamily="34" charset="0"/>
                <a:ea typeface="맑은 고딕" pitchFamily="34" charset="-122"/>
                <a:cs typeface="맑은 고딕" pitchFamily="34" charset="-120"/>
              </a:rPr>
              <a:t>00</a:t>
            </a:r>
            <a:endParaRPr lang="en-US" sz="13000" dirty="0"/>
          </a:p>
        </p:txBody>
      </p:sp>
      <p:sp>
        <p:nvSpPr>
          <p:cNvPr id="4" name="Shape 2"/>
          <p:cNvSpPr/>
          <p:nvPr/>
        </p:nvSpPr>
        <p:spPr>
          <a:xfrm>
            <a:off x="841248" y="4114800"/>
            <a:ext cx="566928" cy="82296"/>
          </a:xfrm>
          <a:prstGeom prst="roundRect">
            <a:avLst>
              <a:gd name="adj" fmla="val 50000"/>
            </a:avLst>
          </a:prstGeom>
          <a:solidFill>
            <a:srgbClr val="C74634"/>
          </a:solidFill>
          <a:ln w="12700">
            <a:solidFill>
              <a:srgbClr val="C74634"/>
            </a:solidFill>
            <a:prstDash val="solid"/>
          </a:ln>
        </p:spPr>
      </p:sp>
      <p:sp>
        <p:nvSpPr>
          <p:cNvPr id="5" name="Text 3"/>
          <p:cNvSpPr/>
          <p:nvPr/>
        </p:nvSpPr>
        <p:spPr>
          <a:xfrm>
            <a:off x="841248" y="4343400"/>
            <a:ext cx="10506456" cy="822960"/>
          </a:xfrm>
          <a:prstGeom prst="rect">
            <a:avLst/>
          </a:prstGeom>
          <a:noFill/>
          <a:ln/>
        </p:spPr>
        <p:txBody>
          <a:bodyPr wrap="square" lIns="0" tIns="0" rIns="0" bIns="0" rtlCol="0" anchor="t"/>
          <a:lstStyle/>
          <a:p>
            <a:pPr algn="l" indent="0" marL="0">
              <a:buNone/>
            </a:pPr>
            <a:r>
              <a:rPr lang="en-US" sz="3800" b="1" dirty="0">
                <a:solidFill>
                  <a:srgbClr val="FFFFFF"/>
                </a:solidFill>
                <a:latin typeface="맑은 고딕" pitchFamily="34" charset="0"/>
                <a:ea typeface="맑은 고딕" pitchFamily="34" charset="-122"/>
                <a:cs typeface="맑은 고딕" pitchFamily="34" charset="-120"/>
              </a:rPr>
              <a:t>오늘의 큰 그림</a:t>
            </a:r>
            <a:endParaRPr lang="en-US" sz="3800" dirty="0"/>
          </a:p>
        </p:txBody>
      </p:sp>
      <p:sp>
        <p:nvSpPr>
          <p:cNvPr id="6" name="Text 4"/>
          <p:cNvSpPr/>
          <p:nvPr/>
        </p:nvSpPr>
        <p:spPr>
          <a:xfrm>
            <a:off x="841248" y="5230368"/>
            <a:ext cx="10506456" cy="548640"/>
          </a:xfrm>
          <a:prstGeom prst="rect">
            <a:avLst/>
          </a:prstGeom>
          <a:noFill/>
          <a:ln/>
        </p:spPr>
        <p:txBody>
          <a:bodyPr wrap="square" lIns="0" tIns="0" rIns="0" bIns="0" rtlCol="0" anchor="t"/>
          <a:lstStyle/>
          <a:p>
            <a:pPr algn="l" indent="0" marL="0">
              <a:buNone/>
            </a:pPr>
            <a:r>
              <a:rPr lang="en-US" sz="1600" dirty="0">
                <a:solidFill>
                  <a:srgbClr val="A79E90"/>
                </a:solidFill>
                <a:latin typeface="맑은 고딕" pitchFamily="34" charset="0"/>
                <a:ea typeface="맑은 고딕" pitchFamily="34" charset="-122"/>
                <a:cs typeface="맑은 고딕" pitchFamily="34" charset="-120"/>
              </a:rPr>
              <a:t>병렬 완결, 그리고 작업 공간의 경제학</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8F4"/>
        </a:solidFill>
      </p:bgPr>
    </p:bg>
    <p:spTree>
      <p:nvGrpSpPr>
        <p:cNvPr id="1" name=""/>
        <p:cNvGrpSpPr/>
        <p:nvPr/>
      </p:nvGrpSpPr>
      <p:grpSpPr>
        <a:xfrm>
          <a:off x="0" y="0"/>
          <a:ext cx="0" cy="0"/>
          <a:chOff x="0" y="0"/>
          <a:chExt cx="0" cy="0"/>
        </a:xfrm>
      </p:grpSpPr>
      <p:sp>
        <p:nvSpPr>
          <p:cNvPr id="2" name="Shape 0"/>
          <p:cNvSpPr/>
          <p:nvPr/>
        </p:nvSpPr>
        <p:spPr>
          <a:xfrm>
            <a:off x="841248" y="603504"/>
            <a:ext cx="420624" cy="73152"/>
          </a:xfrm>
          <a:prstGeom prst="roundRect">
            <a:avLst>
              <a:gd name="adj" fmla="val 50000"/>
            </a:avLst>
          </a:prstGeom>
          <a:solidFill>
            <a:srgbClr val="C74634"/>
          </a:solidFill>
          <a:ln w="12700">
            <a:solidFill>
              <a:srgbClr val="C74634"/>
            </a:solidFill>
            <a:prstDash val="solid"/>
          </a:ln>
        </p:spPr>
      </p:sp>
      <p:sp>
        <p:nvSpPr>
          <p:cNvPr id="3" name="Text 1"/>
          <p:cNvSpPr/>
          <p:nvPr/>
        </p:nvSpPr>
        <p:spPr>
          <a:xfrm>
            <a:off x="841248" y="768096"/>
            <a:ext cx="9326880" cy="868680"/>
          </a:xfrm>
          <a:prstGeom prst="rect">
            <a:avLst/>
          </a:prstGeom>
          <a:noFill/>
          <a:ln/>
        </p:spPr>
        <p:txBody>
          <a:bodyPr wrap="square" lIns="0" tIns="0" rIns="0" bIns="0" rtlCol="0" anchor="t"/>
          <a:lstStyle/>
          <a:p>
            <a:pPr algn="l" indent="0" marL="0">
              <a:lnSpc>
                <a:spcPct val="104000"/>
              </a:lnSpc>
              <a:buNone/>
            </a:pPr>
            <a:r>
              <a:rPr lang="en-US" sz="2400" b="1" dirty="0">
                <a:solidFill>
                  <a:srgbClr val="20303F"/>
                </a:solidFill>
                <a:latin typeface="맑은 고딕" pitchFamily="34" charset="0"/>
                <a:ea typeface="맑은 고딕" pitchFamily="34" charset="-122"/>
                <a:cs typeface="맑은 고딕" pitchFamily="34" charset="-120"/>
              </a:rPr>
              <a:t>오늘은 병렬을 끝내고, 메모리로 내려간다</a:t>
            </a:r>
            <a:endParaRPr lang="en-US" sz="24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Shape 3"/>
          <p:cNvSpPr/>
          <p:nvPr/>
        </p:nvSpPr>
        <p:spPr>
          <a:xfrm>
            <a:off x="841248" y="1627632"/>
            <a:ext cx="10506456" cy="10973"/>
          </a:xfrm>
          <a:prstGeom prst="rect">
            <a:avLst/>
          </a:prstGeom>
          <a:solidFill>
            <a:srgbClr val="E7E1D6"/>
          </a:solidFill>
          <a:ln w="12700">
            <a:solidFill>
              <a:srgbClr val="E7E1D6"/>
            </a:solidFill>
            <a:prstDash val="solid"/>
          </a:ln>
        </p:spPr>
      </p:sp>
      <p:sp>
        <p:nvSpPr>
          <p:cNvPr id="6" name="Text 4"/>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B6256"/>
                </a:solidFill>
                <a:latin typeface="맑은 고딕" pitchFamily="34" charset="0"/>
                <a:ea typeface="맑은 고딕" pitchFamily="34" charset="-122"/>
                <a:cs typeface="맑은 고딕" pitchFamily="34" charset="-120"/>
              </a:rPr>
              <a:t>Oracle DBA · 재분배를 없애고, 캐시를 우회하고, 메모리에 담는다</a:t>
            </a:r>
            <a:endParaRPr lang="en-US" sz="900" dirty="0"/>
          </a:p>
        </p:txBody>
      </p:sp>
      <p:sp>
        <p:nvSpPr>
          <p:cNvPr id="7" name="Text 5"/>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B6256"/>
                </a:solidFill>
                <a:latin typeface="맑은 고딕" pitchFamily="34" charset="0"/>
                <a:ea typeface="맑은 고딕" pitchFamily="34" charset="-122"/>
                <a:cs typeface="맑은 고딕" pitchFamily="34" charset="-120"/>
              </a:rPr>
              <a:t>01</a:t>
            </a:r>
            <a:endParaRPr lang="en-US" sz="9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41248" y="1965960"/>
          <a:ext cx="10506456" cy="2066544"/>
        </p:xfrm>
        <a:graphic>
          <a:graphicData uri="http://schemas.openxmlformats.org/drawingml/2006/table">
            <a:tbl>
              <a:tblPr/>
              <a:tblGrid>
                <a:gridCol w="3502152"/>
                <a:gridCol w="3502152"/>
                <a:gridCol w="3502152"/>
              </a:tblGrid>
              <a:tr h="413309">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파트</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20303F"/>
                    </a:solidFill>
                  </a:tcPr>
                </a:tc>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주제</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20303F"/>
                    </a:solidFill>
                  </a:tcPr>
                </a:tc>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핵심</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20303F"/>
                    </a:solidFill>
                  </a:tcPr>
                </a:tc>
              </a:tr>
              <a:tr h="413309">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§14.10 (병렬)</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pq_distribute 4조합</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none,none / none,partition / partition,none / hash·broadcast</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r>
              <a:tr h="413309">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§14.11~12</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parallel DML · direct path I/O</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쓰기도 병렬 · 버퍼 캐시 우회</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r>
              <a:tr h="413309">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§15.1~2 (신규)</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PGA 구조 · 자동 관리</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stack·UGA·work area · target(soft)/limit(hard)</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r>
              <a:tr h="413309">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§15.3~4</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정렬 3등급 · 정렬 vs 해시</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optimal/onepass/multipass · HASH GROUP BY</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r>
            </a:tbl>
          </a:graphicData>
        </a:graphic>
      </p:graphicFrame>
      <p:sp>
        <p:nvSpPr>
          <p:cNvPr id="9" name="Shape 6"/>
          <p:cNvSpPr/>
          <p:nvPr/>
        </p:nvSpPr>
        <p:spPr>
          <a:xfrm>
            <a:off x="841248" y="4215384"/>
            <a:ext cx="10506456" cy="1591056"/>
          </a:xfrm>
          <a:prstGeom prst="roundRect">
            <a:avLst>
              <a:gd name="adj" fmla="val 6897"/>
            </a:avLst>
          </a:prstGeom>
          <a:solidFill>
            <a:srgbClr val="F4F1EA"/>
          </a:solidFill>
          <a:ln w="12700">
            <a:solidFill>
              <a:srgbClr val="E7E1D6"/>
            </a:solidFill>
            <a:prstDash val="solid"/>
          </a:ln>
          <a:effectLst>
            <a:outerShdw sx="100000" sy="100000" kx="0" ky="0" algn="bl" rotWithShape="0" blurRad="152400" dist="25400" dir="5400000">
              <a:srgbClr val="8A7F6A">
                <a:alpha val="14000"/>
              </a:srgbClr>
            </a:outerShdw>
          </a:effectLst>
        </p:spPr>
      </p:sp>
      <p:sp>
        <p:nvSpPr>
          <p:cNvPr id="10" name="Shape 7"/>
          <p:cNvSpPr/>
          <p:nvPr/>
        </p:nvSpPr>
        <p:spPr>
          <a:xfrm>
            <a:off x="868680" y="4334256"/>
            <a:ext cx="73152" cy="1353312"/>
          </a:xfrm>
          <a:prstGeom prst="roundRect">
            <a:avLst>
              <a:gd name="adj" fmla="val 50000"/>
            </a:avLst>
          </a:prstGeom>
          <a:solidFill>
            <a:srgbClr val="C74634"/>
          </a:solidFill>
          <a:ln w="12700">
            <a:solidFill>
              <a:srgbClr val="C74634"/>
            </a:solidFill>
            <a:prstDash val="solid"/>
          </a:ln>
        </p:spPr>
      </p:sp>
      <p:sp>
        <p:nvSpPr>
          <p:cNvPr id="11" name="Text 8"/>
          <p:cNvSpPr/>
          <p:nvPr/>
        </p:nvSpPr>
        <p:spPr>
          <a:xfrm>
            <a:off x="1161288" y="4416552"/>
            <a:ext cx="9957816" cy="365760"/>
          </a:xfrm>
          <a:prstGeom prst="rect">
            <a:avLst/>
          </a:prstGeom>
          <a:noFill/>
          <a:ln/>
        </p:spPr>
        <p:txBody>
          <a:bodyPr wrap="square" lIns="0" tIns="0" rIns="0" bIns="0" rtlCol="0" anchor="ctr"/>
          <a:lstStyle/>
          <a:p>
            <a:pPr algn="l" indent="0" marL="0">
              <a:buNone/>
            </a:pPr>
            <a:r>
              <a:rPr lang="en-US" sz="1400" b="1" dirty="0">
                <a:solidFill>
                  <a:srgbClr val="C74634"/>
                </a:solidFill>
                <a:latin typeface="맑은 고딕" pitchFamily="34" charset="0"/>
                <a:ea typeface="맑은 고딕" pitchFamily="34" charset="-122"/>
                <a:cs typeface="맑은 고딕" pitchFamily="34" charset="-120"/>
              </a:rPr>
              <a:t>관통하는 원리</a:t>
            </a:r>
            <a:endParaRPr lang="en-US" sz="1400" dirty="0"/>
          </a:p>
        </p:txBody>
      </p:sp>
      <p:sp>
        <p:nvSpPr>
          <p:cNvPr id="12" name="Text 9"/>
          <p:cNvSpPr/>
          <p:nvPr/>
        </p:nvSpPr>
        <p:spPr>
          <a:xfrm>
            <a:off x="1161288" y="4873752"/>
            <a:ext cx="9957816" cy="768096"/>
          </a:xfrm>
          <a:prstGeom prst="rect">
            <a:avLst/>
          </a:prstGeom>
          <a:noFill/>
          <a:ln/>
        </p:spPr>
        <p:txBody>
          <a:bodyPr wrap="square" lIns="0" tIns="0" rIns="0" bIns="0" rtlCol="0" anchor="t"/>
          <a:lstStyle/>
          <a:p>
            <a:pPr algn="l" indent="0" marL="0">
              <a:buNone/>
            </a:pPr>
            <a:r>
              <a:rPr lang="en-US" sz="1300" dirty="0">
                <a:solidFill>
                  <a:srgbClr val="20303F"/>
                </a:solidFill>
                <a:latin typeface="맑은 고딕" pitchFamily="34" charset="0"/>
                <a:ea typeface="맑은 고딕" pitchFamily="34" charset="-122"/>
                <a:cs typeface="맑은 고딕" pitchFamily="34" charset="-120"/>
              </a:rPr>
              <a:t>데이터를 옮기는 비용을 줄인다 — 병렬은 재분배를 없애고(파티션 wise), I/O는 캐시를 우회하고(direct path), 정렬은 메모리에 담는다(optimal).</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2C3742"/>
        </a:solidFill>
      </p:bgPr>
    </p:bg>
    <p:spTree>
      <p:nvGrpSpPr>
        <p:cNvPr id="1" name=""/>
        <p:cNvGrpSpPr/>
        <p:nvPr/>
      </p:nvGrpSpPr>
      <p:grpSpPr>
        <a:xfrm>
          <a:off x="0" y="0"/>
          <a:ext cx="0" cy="0"/>
          <a:chOff x="0" y="0"/>
          <a:chExt cx="0" cy="0"/>
        </a:xfrm>
      </p:grpSpPr>
      <p:sp>
        <p:nvSpPr>
          <p:cNvPr id="2" name="Text 0"/>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3" name="Text 1"/>
          <p:cNvSpPr/>
          <p:nvPr/>
        </p:nvSpPr>
        <p:spPr>
          <a:xfrm>
            <a:off x="795528" y="1371600"/>
            <a:ext cx="4572000" cy="2011680"/>
          </a:xfrm>
          <a:prstGeom prst="rect">
            <a:avLst/>
          </a:prstGeom>
          <a:noFill/>
          <a:ln/>
        </p:spPr>
        <p:txBody>
          <a:bodyPr wrap="square" lIns="0" tIns="0" rIns="0" bIns="0" rtlCol="0" anchor="t"/>
          <a:lstStyle/>
          <a:p>
            <a:pPr algn="l" indent="0" marL="0">
              <a:buNone/>
            </a:pPr>
            <a:r>
              <a:rPr lang="en-US" sz="13000" b="1" dirty="0">
                <a:solidFill>
                  <a:srgbClr val="334155"/>
                </a:solidFill>
                <a:latin typeface="맑은 고딕" pitchFamily="34" charset="0"/>
                <a:ea typeface="맑은 고딕" pitchFamily="34" charset="-122"/>
                <a:cs typeface="맑은 고딕" pitchFamily="34" charset="-120"/>
              </a:rPr>
              <a:t>01</a:t>
            </a:r>
            <a:endParaRPr lang="en-US" sz="13000" dirty="0"/>
          </a:p>
        </p:txBody>
      </p:sp>
      <p:sp>
        <p:nvSpPr>
          <p:cNvPr id="4" name="Shape 2"/>
          <p:cNvSpPr/>
          <p:nvPr/>
        </p:nvSpPr>
        <p:spPr>
          <a:xfrm>
            <a:off x="841248" y="4114800"/>
            <a:ext cx="566928" cy="82296"/>
          </a:xfrm>
          <a:prstGeom prst="roundRect">
            <a:avLst>
              <a:gd name="adj" fmla="val 50000"/>
            </a:avLst>
          </a:prstGeom>
          <a:solidFill>
            <a:srgbClr val="C74634"/>
          </a:solidFill>
          <a:ln w="12700">
            <a:solidFill>
              <a:srgbClr val="C74634"/>
            </a:solidFill>
            <a:prstDash val="solid"/>
          </a:ln>
        </p:spPr>
      </p:sp>
      <p:sp>
        <p:nvSpPr>
          <p:cNvPr id="5" name="Text 3"/>
          <p:cNvSpPr/>
          <p:nvPr/>
        </p:nvSpPr>
        <p:spPr>
          <a:xfrm>
            <a:off x="841248" y="4343400"/>
            <a:ext cx="10506456" cy="822960"/>
          </a:xfrm>
          <a:prstGeom prst="rect">
            <a:avLst/>
          </a:prstGeom>
          <a:noFill/>
          <a:ln/>
        </p:spPr>
        <p:txBody>
          <a:bodyPr wrap="square" lIns="0" tIns="0" rIns="0" bIns="0" rtlCol="0" anchor="t"/>
          <a:lstStyle/>
          <a:p>
            <a:pPr algn="l" indent="0" marL="0">
              <a:buNone/>
            </a:pPr>
            <a:r>
              <a:rPr lang="en-US" sz="3800" b="1" dirty="0">
                <a:solidFill>
                  <a:srgbClr val="FFFFFF"/>
                </a:solidFill>
                <a:latin typeface="맑은 고딕" pitchFamily="34" charset="0"/>
                <a:ea typeface="맑은 고딕" pitchFamily="34" charset="-122"/>
                <a:cs typeface="맑은 고딕" pitchFamily="34" charset="-120"/>
              </a:rPr>
              <a:t>병렬 조인 완결</a:t>
            </a:r>
            <a:endParaRPr lang="en-US" sz="3800" dirty="0"/>
          </a:p>
        </p:txBody>
      </p:sp>
      <p:sp>
        <p:nvSpPr>
          <p:cNvPr id="6" name="Text 4"/>
          <p:cNvSpPr/>
          <p:nvPr/>
        </p:nvSpPr>
        <p:spPr>
          <a:xfrm>
            <a:off x="841248" y="5230368"/>
            <a:ext cx="10506456" cy="548640"/>
          </a:xfrm>
          <a:prstGeom prst="rect">
            <a:avLst/>
          </a:prstGeom>
          <a:noFill/>
          <a:ln/>
        </p:spPr>
        <p:txBody>
          <a:bodyPr wrap="square" lIns="0" tIns="0" rIns="0" bIns="0" rtlCol="0" anchor="t"/>
          <a:lstStyle/>
          <a:p>
            <a:pPr algn="l" indent="0" marL="0">
              <a:buNone/>
            </a:pPr>
            <a:r>
              <a:rPr lang="en-US" sz="1600" dirty="0">
                <a:solidFill>
                  <a:srgbClr val="A79E90"/>
                </a:solidFill>
                <a:latin typeface="맑은 고딕" pitchFamily="34" charset="0"/>
                <a:ea typeface="맑은 고딕" pitchFamily="34" charset="-122"/>
                <a:cs typeface="맑은 고딕" pitchFamily="34" charset="-120"/>
              </a:rPr>
              <a:t>무엇이 파티션돼 있느냐로 갈린다</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8F4"/>
        </a:solidFill>
      </p:bgPr>
    </p:bg>
    <p:spTree>
      <p:nvGrpSpPr>
        <p:cNvPr id="1" name=""/>
        <p:cNvGrpSpPr/>
        <p:nvPr/>
      </p:nvGrpSpPr>
      <p:grpSpPr>
        <a:xfrm>
          <a:off x="0" y="0"/>
          <a:ext cx="0" cy="0"/>
          <a:chOff x="0" y="0"/>
          <a:chExt cx="0" cy="0"/>
        </a:xfrm>
      </p:grpSpPr>
      <p:sp>
        <p:nvSpPr>
          <p:cNvPr id="2" name="Shape 0"/>
          <p:cNvSpPr/>
          <p:nvPr/>
        </p:nvSpPr>
        <p:spPr>
          <a:xfrm>
            <a:off x="841248" y="603504"/>
            <a:ext cx="420624" cy="73152"/>
          </a:xfrm>
          <a:prstGeom prst="roundRect">
            <a:avLst>
              <a:gd name="adj" fmla="val 50000"/>
            </a:avLst>
          </a:prstGeom>
          <a:solidFill>
            <a:srgbClr val="C74634"/>
          </a:solidFill>
          <a:ln w="12700">
            <a:solidFill>
              <a:srgbClr val="C74634"/>
            </a:solidFill>
            <a:prstDash val="solid"/>
          </a:ln>
        </p:spPr>
      </p:sp>
      <p:sp>
        <p:nvSpPr>
          <p:cNvPr id="3" name="Text 1"/>
          <p:cNvSpPr/>
          <p:nvPr/>
        </p:nvSpPr>
        <p:spPr>
          <a:xfrm>
            <a:off x="841248" y="768096"/>
            <a:ext cx="9326880" cy="868680"/>
          </a:xfrm>
          <a:prstGeom prst="rect">
            <a:avLst/>
          </a:prstGeom>
          <a:noFill/>
          <a:ln/>
        </p:spPr>
        <p:txBody>
          <a:bodyPr wrap="square" lIns="0" tIns="0" rIns="0" bIns="0" rtlCol="0" anchor="t"/>
          <a:lstStyle/>
          <a:p>
            <a:pPr algn="l" indent="0" marL="0">
              <a:lnSpc>
                <a:spcPct val="104000"/>
              </a:lnSpc>
              <a:buNone/>
            </a:pPr>
            <a:r>
              <a:rPr lang="en-US" sz="1900" b="1" dirty="0">
                <a:solidFill>
                  <a:srgbClr val="20303F"/>
                </a:solidFill>
                <a:latin typeface="맑은 고딕" pitchFamily="34" charset="0"/>
                <a:ea typeface="맑은 고딕" pitchFamily="34" charset="-122"/>
                <a:cs typeface="맑은 고딕" pitchFamily="34" charset="-120"/>
              </a:rPr>
              <a:t>pq_distribute 네 조합 — 파티션 여부가 재분배를 정한다</a:t>
            </a:r>
            <a:endParaRPr lang="en-US" sz="19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Shape 3"/>
          <p:cNvSpPr/>
          <p:nvPr/>
        </p:nvSpPr>
        <p:spPr>
          <a:xfrm>
            <a:off x="841248" y="1627632"/>
            <a:ext cx="10506456" cy="10973"/>
          </a:xfrm>
          <a:prstGeom prst="rect">
            <a:avLst/>
          </a:prstGeom>
          <a:solidFill>
            <a:srgbClr val="E7E1D6"/>
          </a:solidFill>
          <a:ln w="12700">
            <a:solidFill>
              <a:srgbClr val="E7E1D6"/>
            </a:solidFill>
            <a:prstDash val="solid"/>
          </a:ln>
        </p:spPr>
      </p:sp>
      <p:sp>
        <p:nvSpPr>
          <p:cNvPr id="6" name="Text 4"/>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B6256"/>
                </a:solidFill>
                <a:latin typeface="맑은 고딕" pitchFamily="34" charset="0"/>
                <a:ea typeface="맑은 고딕" pitchFamily="34" charset="-122"/>
                <a:cs typeface="맑은 고딕" pitchFamily="34" charset="-120"/>
              </a:rPr>
              <a:t>Oracle DBA · 재분배를 없애고, 캐시를 우회하고, 메모리에 담는다</a:t>
            </a:r>
            <a:endParaRPr lang="en-US" sz="900" dirty="0"/>
          </a:p>
        </p:txBody>
      </p:sp>
      <p:sp>
        <p:nvSpPr>
          <p:cNvPr id="7" name="Text 5"/>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B6256"/>
                </a:solidFill>
                <a:latin typeface="맑은 고딕" pitchFamily="34" charset="0"/>
                <a:ea typeface="맑은 고딕" pitchFamily="34" charset="-122"/>
                <a:cs typeface="맑은 고딕" pitchFamily="34" charset="-120"/>
              </a:rPr>
              <a:t>02</a:t>
            </a:r>
            <a:endParaRPr lang="en-US" sz="9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41248" y="1965960"/>
          <a:ext cx="10506456" cy="2066544"/>
        </p:xfrm>
        <a:graphic>
          <a:graphicData uri="http://schemas.openxmlformats.org/drawingml/2006/table">
            <a:tbl>
              <a:tblPr/>
              <a:tblGrid>
                <a:gridCol w="3502152"/>
                <a:gridCol w="3502152"/>
                <a:gridCol w="3502152"/>
              </a:tblGrid>
              <a:tr h="413309">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상황</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20303F"/>
                    </a:solidFill>
                  </a:tcPr>
                </a:tc>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힌트</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20303F"/>
                    </a:solidFill>
                  </a:tcPr>
                </a:tc>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재분배 / 표식</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20303F"/>
                    </a:solidFill>
                  </a:tcPr>
                </a:tc>
              </a:tr>
              <a:tr h="413309">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둘 다 조인 키 파티션</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none,none</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없음 / PX PARTITION LIST ALL</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r>
              <a:tr h="413309">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inner만 넌파티션</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none,partition</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inner를 outer 기준 / SEND PARTITION KEY·BUFFERED</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r>
              <a:tr h="413309">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outer만 넌파티션</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partition,none</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outer를 inner 기준 / PART JOIN FILTER(블룸)</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r>
              <a:tr h="413309">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둘 다 넌파티션</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hash,hash / broadcast,none</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양쪽 동적 / 작은 쪽 복제</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r>
            </a:tbl>
          </a:graphicData>
        </a:graphic>
      </p:graphicFrame>
      <p:sp>
        <p:nvSpPr>
          <p:cNvPr id="9" name="Shape 6"/>
          <p:cNvSpPr/>
          <p:nvPr/>
        </p:nvSpPr>
        <p:spPr>
          <a:xfrm>
            <a:off x="841248" y="4215384"/>
            <a:ext cx="10506456" cy="1591056"/>
          </a:xfrm>
          <a:prstGeom prst="roundRect">
            <a:avLst>
              <a:gd name="adj" fmla="val 6897"/>
            </a:avLst>
          </a:prstGeom>
          <a:solidFill>
            <a:srgbClr val="F4F1EA"/>
          </a:solidFill>
          <a:ln w="12700">
            <a:solidFill>
              <a:srgbClr val="E7E1D6"/>
            </a:solidFill>
            <a:prstDash val="solid"/>
          </a:ln>
          <a:effectLst>
            <a:outerShdw sx="100000" sy="100000" kx="0" ky="0" algn="bl" rotWithShape="0" blurRad="152400" dist="25400" dir="5400000">
              <a:srgbClr val="8A7F6A">
                <a:alpha val="14000"/>
              </a:srgbClr>
            </a:outerShdw>
          </a:effectLst>
        </p:spPr>
      </p:sp>
      <p:sp>
        <p:nvSpPr>
          <p:cNvPr id="10" name="Shape 7"/>
          <p:cNvSpPr/>
          <p:nvPr/>
        </p:nvSpPr>
        <p:spPr>
          <a:xfrm>
            <a:off x="868680" y="4334256"/>
            <a:ext cx="73152" cy="1353312"/>
          </a:xfrm>
          <a:prstGeom prst="roundRect">
            <a:avLst>
              <a:gd name="adj" fmla="val 50000"/>
            </a:avLst>
          </a:prstGeom>
          <a:solidFill>
            <a:srgbClr val="C74634"/>
          </a:solidFill>
          <a:ln w="12700">
            <a:solidFill>
              <a:srgbClr val="C74634"/>
            </a:solidFill>
            <a:prstDash val="solid"/>
          </a:ln>
        </p:spPr>
      </p:sp>
      <p:sp>
        <p:nvSpPr>
          <p:cNvPr id="11" name="Text 8"/>
          <p:cNvSpPr/>
          <p:nvPr/>
        </p:nvSpPr>
        <p:spPr>
          <a:xfrm>
            <a:off x="1161288" y="4416552"/>
            <a:ext cx="9957816" cy="365760"/>
          </a:xfrm>
          <a:prstGeom prst="rect">
            <a:avLst/>
          </a:prstGeom>
          <a:noFill/>
          <a:ln/>
        </p:spPr>
        <p:txBody>
          <a:bodyPr wrap="square" lIns="0" tIns="0" rIns="0" bIns="0" rtlCol="0" anchor="ctr"/>
          <a:lstStyle/>
          <a:p>
            <a:pPr algn="l" indent="0" marL="0">
              <a:buNone/>
            </a:pPr>
            <a:r>
              <a:rPr lang="en-US" sz="1400" b="1" dirty="0">
                <a:solidFill>
                  <a:srgbClr val="C74634"/>
                </a:solidFill>
                <a:latin typeface="맑은 고딕" pitchFamily="34" charset="0"/>
                <a:ea typeface="맑은 고딕" pitchFamily="34" charset="-122"/>
                <a:cs typeface="맑은 고딕" pitchFamily="34" charset="-120"/>
              </a:rPr>
              <a:t>블룸이 여기서 또</a:t>
            </a:r>
            <a:endParaRPr lang="en-US" sz="1400" dirty="0"/>
          </a:p>
        </p:txBody>
      </p:sp>
      <p:sp>
        <p:nvSpPr>
          <p:cNvPr id="12" name="Text 9"/>
          <p:cNvSpPr/>
          <p:nvPr/>
        </p:nvSpPr>
        <p:spPr>
          <a:xfrm>
            <a:off x="1161288" y="4873752"/>
            <a:ext cx="9957816" cy="768096"/>
          </a:xfrm>
          <a:prstGeom prst="rect">
            <a:avLst/>
          </a:prstGeom>
          <a:noFill/>
          <a:ln/>
        </p:spPr>
        <p:txBody>
          <a:bodyPr wrap="square" lIns="0" tIns="0" rIns="0" bIns="0" rtlCol="0" anchor="t"/>
          <a:lstStyle/>
          <a:p>
            <a:pPr algn="l" indent="0" marL="0">
              <a:buNone/>
            </a:pPr>
            <a:r>
              <a:rPr lang="en-US" sz="1300" dirty="0">
                <a:solidFill>
                  <a:srgbClr val="20303F"/>
                </a:solidFill>
                <a:latin typeface="맑은 고딕" pitchFamily="34" charset="0"/>
                <a:ea typeface="맑은 고딕" pitchFamily="34" charset="-122"/>
                <a:cs typeface="맑은 고딕" pitchFamily="34" charset="-120"/>
              </a:rPr>
              <a:t>partition,none의 PART JOIN FILTER(:BF0000)는 §8.11에서 107→2행으로 줄이던 bloom filter와 같은 도구 — '읽기 전에 안 될 것을 걸러낸다'가 병렬 조인의 파티션 프루닝에 재등장.</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8F4"/>
        </a:solidFill>
      </p:bgPr>
    </p:bg>
    <p:spTree>
      <p:nvGrpSpPr>
        <p:cNvPr id="1" name=""/>
        <p:cNvGrpSpPr/>
        <p:nvPr/>
      </p:nvGrpSpPr>
      <p:grpSpPr>
        <a:xfrm>
          <a:off x="0" y="0"/>
          <a:ext cx="0" cy="0"/>
          <a:chOff x="0" y="0"/>
          <a:chExt cx="0" cy="0"/>
        </a:xfrm>
      </p:grpSpPr>
      <p:sp>
        <p:nvSpPr>
          <p:cNvPr id="2" name="Shape 0"/>
          <p:cNvSpPr/>
          <p:nvPr/>
        </p:nvSpPr>
        <p:spPr>
          <a:xfrm>
            <a:off x="841248" y="603504"/>
            <a:ext cx="420624" cy="73152"/>
          </a:xfrm>
          <a:prstGeom prst="roundRect">
            <a:avLst>
              <a:gd name="adj" fmla="val 50000"/>
            </a:avLst>
          </a:prstGeom>
          <a:solidFill>
            <a:srgbClr val="C74634"/>
          </a:solidFill>
          <a:ln w="12700">
            <a:solidFill>
              <a:srgbClr val="C74634"/>
            </a:solidFill>
            <a:prstDash val="solid"/>
          </a:ln>
        </p:spPr>
      </p:sp>
      <p:sp>
        <p:nvSpPr>
          <p:cNvPr id="3" name="Text 1"/>
          <p:cNvSpPr/>
          <p:nvPr/>
        </p:nvSpPr>
        <p:spPr>
          <a:xfrm>
            <a:off x="841248" y="768096"/>
            <a:ext cx="9326880" cy="868680"/>
          </a:xfrm>
          <a:prstGeom prst="rect">
            <a:avLst/>
          </a:prstGeom>
          <a:noFill/>
          <a:ln/>
        </p:spPr>
        <p:txBody>
          <a:bodyPr wrap="square" lIns="0" tIns="0" rIns="0" bIns="0" rtlCol="0" anchor="t"/>
          <a:lstStyle/>
          <a:p>
            <a:pPr algn="l" indent="0" marL="0">
              <a:lnSpc>
                <a:spcPct val="104000"/>
              </a:lnSpc>
              <a:buNone/>
            </a:pPr>
            <a:r>
              <a:rPr lang="en-US" sz="1900" b="1" dirty="0">
                <a:solidFill>
                  <a:srgbClr val="20303F"/>
                </a:solidFill>
                <a:latin typeface="맑은 고딕" pitchFamily="34" charset="0"/>
                <a:ea typeface="맑은 고딕" pitchFamily="34" charset="-122"/>
                <a:cs typeface="맑은 고딕" pitchFamily="34" charset="-120"/>
              </a:rPr>
              <a:t>parallel DML과 direct path — 쓰기도 병렬, 캐시는 우회</a:t>
            </a:r>
            <a:endParaRPr lang="en-US" sz="19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Text 3"/>
          <p:cNvSpPr/>
          <p:nvPr/>
        </p:nvSpPr>
        <p:spPr>
          <a:xfrm>
            <a:off x="8695944" y="603504"/>
            <a:ext cx="1463040" cy="365760"/>
          </a:xfrm>
          <a:prstGeom prst="rect">
            <a:avLst/>
          </a:prstGeom>
          <a:noFill/>
          <a:ln/>
        </p:spPr>
        <p:txBody>
          <a:bodyPr wrap="square" lIns="0" tIns="0" rIns="0" bIns="0" rtlCol="0" anchor="ctr"/>
          <a:lstStyle/>
          <a:p>
            <a:pPr algn="r" indent="0" marL="0">
              <a:buNone/>
            </a:pPr>
            <a:r>
              <a:rPr lang="en-US" sz="1100" dirty="0">
                <a:solidFill>
                  <a:srgbClr val="A79E90"/>
                </a:solidFill>
                <a:latin typeface="맑은 고딕" pitchFamily="34" charset="0"/>
                <a:ea typeface="맑은 고딕" pitchFamily="34" charset="-122"/>
                <a:cs typeface="맑은 고딕" pitchFamily="34" charset="-120"/>
              </a:rPr>
              <a:t>1 / 2</a:t>
            </a:r>
            <a:endParaRPr lang="en-US" sz="1100" dirty="0"/>
          </a:p>
        </p:txBody>
      </p:sp>
      <p:sp>
        <p:nvSpPr>
          <p:cNvPr id="6" name="Shape 4"/>
          <p:cNvSpPr/>
          <p:nvPr/>
        </p:nvSpPr>
        <p:spPr>
          <a:xfrm>
            <a:off x="841248" y="1627632"/>
            <a:ext cx="10506456" cy="10973"/>
          </a:xfrm>
          <a:prstGeom prst="rect">
            <a:avLst/>
          </a:prstGeom>
          <a:solidFill>
            <a:srgbClr val="E7E1D6"/>
          </a:solidFill>
          <a:ln w="12700">
            <a:solidFill>
              <a:srgbClr val="E7E1D6"/>
            </a:solidFill>
            <a:prstDash val="solid"/>
          </a:ln>
        </p:spPr>
      </p:sp>
      <p:sp>
        <p:nvSpPr>
          <p:cNvPr id="7" name="Text 5"/>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B6256"/>
                </a:solidFill>
                <a:latin typeface="맑은 고딕" pitchFamily="34" charset="0"/>
                <a:ea typeface="맑은 고딕" pitchFamily="34" charset="-122"/>
                <a:cs typeface="맑은 고딕" pitchFamily="34" charset="-120"/>
              </a:rPr>
              <a:t>Oracle DBA · 재분배를 없애고, 캐시를 우회하고, 메모리에 담는다</a:t>
            </a:r>
            <a:endParaRPr lang="en-US" sz="900" dirty="0"/>
          </a:p>
        </p:txBody>
      </p:sp>
      <p:sp>
        <p:nvSpPr>
          <p:cNvPr id="8" name="Text 6"/>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B6256"/>
                </a:solidFill>
                <a:latin typeface="맑은 고딕" pitchFamily="34" charset="0"/>
                <a:ea typeface="맑은 고딕" pitchFamily="34" charset="-122"/>
                <a:cs typeface="맑은 고딕" pitchFamily="34" charset="-120"/>
              </a:rPr>
              <a:t>03</a:t>
            </a:r>
            <a:endParaRPr lang="en-US" sz="900" dirty="0"/>
          </a:p>
        </p:txBody>
      </p:sp>
      <p:sp>
        <p:nvSpPr>
          <p:cNvPr id="9" name="Shape 7"/>
          <p:cNvSpPr/>
          <p:nvPr/>
        </p:nvSpPr>
        <p:spPr>
          <a:xfrm>
            <a:off x="841248" y="2601468"/>
            <a:ext cx="10506456" cy="2569464"/>
          </a:xfrm>
          <a:prstGeom prst="roundRect">
            <a:avLst>
              <a:gd name="adj" fmla="val 2135"/>
            </a:avLst>
          </a:prstGeom>
          <a:solidFill>
            <a:srgbClr val="2C3742"/>
          </a:solidFill>
          <a:ln w="12700">
            <a:solidFill>
              <a:srgbClr val="2C3742"/>
            </a:solidFill>
            <a:prstDash val="solid"/>
          </a:ln>
          <a:effectLst>
            <a:outerShdw sx="100000" sy="100000" kx="0" ky="0" algn="bl" rotWithShape="0" blurRad="152400" dist="25400" dir="5400000">
              <a:srgbClr val="8A7F6A">
                <a:alpha val="14000"/>
              </a:srgbClr>
            </a:outerShdw>
          </a:effectLst>
        </p:spPr>
      </p:sp>
      <p:sp>
        <p:nvSpPr>
          <p:cNvPr id="10" name="Shape 8"/>
          <p:cNvSpPr/>
          <p:nvPr/>
        </p:nvSpPr>
        <p:spPr>
          <a:xfrm>
            <a:off x="1161288" y="2857500"/>
            <a:ext cx="118872" cy="118872"/>
          </a:xfrm>
          <a:prstGeom prst="ellipse">
            <a:avLst/>
          </a:prstGeom>
          <a:solidFill>
            <a:srgbClr val="EF4444"/>
          </a:solidFill>
          <a:ln w="12700">
            <a:solidFill>
              <a:srgbClr val="EF4444"/>
            </a:solidFill>
            <a:prstDash val="solid"/>
          </a:ln>
        </p:spPr>
      </p:sp>
      <p:sp>
        <p:nvSpPr>
          <p:cNvPr id="11" name="Shape 9"/>
          <p:cNvSpPr/>
          <p:nvPr/>
        </p:nvSpPr>
        <p:spPr>
          <a:xfrm>
            <a:off x="1389888" y="2857500"/>
            <a:ext cx="118872" cy="118872"/>
          </a:xfrm>
          <a:prstGeom prst="ellipse">
            <a:avLst/>
          </a:prstGeom>
          <a:solidFill>
            <a:srgbClr val="F59E0B"/>
          </a:solidFill>
          <a:ln w="12700">
            <a:solidFill>
              <a:srgbClr val="F59E0B"/>
            </a:solidFill>
            <a:prstDash val="solid"/>
          </a:ln>
        </p:spPr>
      </p:sp>
      <p:sp>
        <p:nvSpPr>
          <p:cNvPr id="12" name="Shape 10"/>
          <p:cNvSpPr/>
          <p:nvPr/>
        </p:nvSpPr>
        <p:spPr>
          <a:xfrm>
            <a:off x="1618488" y="2857500"/>
            <a:ext cx="118872" cy="118872"/>
          </a:xfrm>
          <a:prstGeom prst="ellipse">
            <a:avLst/>
          </a:prstGeom>
          <a:solidFill>
            <a:srgbClr val="22C55E"/>
          </a:solidFill>
          <a:ln w="12700">
            <a:solidFill>
              <a:srgbClr val="22C55E"/>
            </a:solidFill>
            <a:prstDash val="solid"/>
          </a:ln>
        </p:spPr>
      </p:sp>
      <p:sp>
        <p:nvSpPr>
          <p:cNvPr id="13" name="Text 11"/>
          <p:cNvSpPr/>
          <p:nvPr/>
        </p:nvSpPr>
        <p:spPr>
          <a:xfrm>
            <a:off x="1161288" y="3259836"/>
            <a:ext cx="9957816" cy="1746504"/>
          </a:xfrm>
          <a:prstGeom prst="rect">
            <a:avLst/>
          </a:prstGeom>
          <a:noFill/>
          <a:ln/>
        </p:spPr>
        <p:txBody>
          <a:bodyPr wrap="square" lIns="0" tIns="0" rIns="0" bIns="0" rtlCol="0" anchor="t"/>
          <a:lstStyle/>
          <a:p>
            <a:pPr algn="l" indent="0" marL="0">
              <a:buNone/>
            </a:pPr>
            <a:r>
              <a:rPr lang="en-US" sz="1250" dirty="0">
                <a:solidFill>
                  <a:srgbClr val="9AA6A0"/>
                </a:solidFill>
                <a:latin typeface="Consolas" pitchFamily="34" charset="0"/>
                <a:ea typeface="Consolas" pitchFamily="34" charset="-122"/>
                <a:cs typeface="Consolas" pitchFamily="34" charset="-120"/>
              </a:rPr>
              <a:t>-- 쓰기까지 병렬: 세션에서 명시적으로 켠다</a:t>
            </a:r>
            <a:endParaRPr lang="en-US" sz="1250" dirty="0"/>
          </a:p>
          <a:p>
            <a:pPr algn="l" indent="0" marL="0">
              <a:buNone/>
            </a:pPr>
            <a:r>
              <a:rPr lang="en-US" sz="1250" dirty="0">
                <a:solidFill>
                  <a:srgbClr val="E7E2D8"/>
                </a:solidFill>
                <a:latin typeface="Consolas" pitchFamily="34" charset="0"/>
                <a:ea typeface="Consolas" pitchFamily="34" charset="-122"/>
                <a:cs typeface="Consolas" pitchFamily="34" charset="-120"/>
              </a:rPr>
              <a:t>alter session enable parallel dml;   -- 트랜잭션 중이면 ORA-12841</a:t>
            </a:r>
            <a:endParaRPr lang="en-US" sz="1250" dirty="0"/>
          </a:p>
          <a:p>
            <a:pPr algn="l" indent="0" marL="0">
              <a:buNone/>
            </a:pPr>
            <a:r>
              <a:rPr lang="en-US" sz="1250" dirty="0">
                <a:solidFill>
                  <a:srgbClr val="E7E2D8"/>
                </a:solidFill>
                <a:latin typeface="Consolas" pitchFamily="34" charset="0"/>
                <a:ea typeface="Consolas" pitchFamily="34" charset="-122"/>
                <a:cs typeface="Consolas" pitchFamily="34" charset="-120"/>
              </a:rPr>
              <a:t>insert /*+ parallel(e1 2) */ into hr.emp_dw_copy e1</a:t>
            </a:r>
            <a:endParaRPr lang="en-US" sz="1250" dirty="0"/>
          </a:p>
          <a:p>
            <a:pPr algn="l" indent="0" marL="0">
              <a:buNone/>
            </a:pPr>
            <a:r>
              <a:rPr lang="en-US" sz="1250" dirty="0">
                <a:solidFill>
                  <a:srgbClr val="E7E2D8"/>
                </a:solidFill>
                <a:latin typeface="Consolas" pitchFamily="34" charset="0"/>
                <a:ea typeface="Consolas" pitchFamily="34" charset="-122"/>
                <a:cs typeface="Consolas" pitchFamily="34" charset="-120"/>
              </a:rPr>
              <a:t>  select /*+ parallel(e2 2) */ * from hr.emp_dw e2;</a:t>
            </a:r>
            <a:endParaRPr lang="en-US" sz="1250" dirty="0"/>
          </a:p>
          <a:p>
            <a:pPr algn="l" indent="0" marL="0">
              <a:buNone/>
            </a:pPr>
            <a:r>
              <a:rPr lang="en-US" sz="1250" dirty="0">
                <a:solidFill>
                  <a:srgbClr val="9AA6A0"/>
                </a:solidFill>
                <a:latin typeface="Consolas" pitchFamily="34" charset="0"/>
                <a:ea typeface="Consolas" pitchFamily="34" charset="-122"/>
                <a:cs typeface="Consolas" pitchFamily="34" charset="-120"/>
              </a:rPr>
              <a:t>-- direct path: 버퍼 캐시 우회</a:t>
            </a:r>
            <a:endParaRPr lang="en-US" sz="1250" dirty="0"/>
          </a:p>
          <a:p>
            <a:pPr algn="l" indent="0" marL="0">
              <a:buNone/>
            </a:pPr>
            <a:r>
              <a:rPr lang="en-US" sz="1250" dirty="0">
                <a:solidFill>
                  <a:srgbClr val="E7E2D8"/>
                </a:solidFill>
                <a:latin typeface="Consolas" pitchFamily="34" charset="0"/>
                <a:ea typeface="Consolas" pitchFamily="34" charset="-122"/>
                <a:cs typeface="Consolas" pitchFamily="34" charset="-120"/>
              </a:rPr>
              <a:t>  read : 병렬 쿼리·temp·expdp   write: parallel DML·append·CTAS·impdp</a:t>
            </a:r>
            <a:endParaRPr lang="en-US" sz="1250" dirty="0"/>
          </a:p>
          <a:p>
            <a:pPr algn="l" indent="0" marL="0">
              <a:buNone/>
            </a:pPr>
            <a:r>
              <a:rPr lang="en-US" sz="1250" dirty="0">
                <a:solidFill>
                  <a:srgbClr val="E7E2D8"/>
                </a:solidFill>
                <a:latin typeface="Consolas" pitchFamily="34" charset="0"/>
                <a:ea typeface="Consolas" pitchFamily="34" charset="-122"/>
                <a:cs typeface="Consolas" pitchFamily="34" charset="-120"/>
              </a:rPr>
              <a:t>  serial direct read: full scan 블록 &gt; _small_table_threshold(704) → PGA로 직접</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8F4"/>
        </a:solidFill>
      </p:bgPr>
    </p:bg>
    <p:spTree>
      <p:nvGrpSpPr>
        <p:cNvPr id="1" name=""/>
        <p:cNvGrpSpPr/>
        <p:nvPr/>
      </p:nvGrpSpPr>
      <p:grpSpPr>
        <a:xfrm>
          <a:off x="0" y="0"/>
          <a:ext cx="0" cy="0"/>
          <a:chOff x="0" y="0"/>
          <a:chExt cx="0" cy="0"/>
        </a:xfrm>
      </p:grpSpPr>
      <p:sp>
        <p:nvSpPr>
          <p:cNvPr id="2" name="Shape 0"/>
          <p:cNvSpPr/>
          <p:nvPr/>
        </p:nvSpPr>
        <p:spPr>
          <a:xfrm>
            <a:off x="841248" y="603504"/>
            <a:ext cx="420624" cy="73152"/>
          </a:xfrm>
          <a:prstGeom prst="roundRect">
            <a:avLst>
              <a:gd name="adj" fmla="val 50000"/>
            </a:avLst>
          </a:prstGeom>
          <a:solidFill>
            <a:srgbClr val="C74634"/>
          </a:solidFill>
          <a:ln w="12700">
            <a:solidFill>
              <a:srgbClr val="C74634"/>
            </a:solidFill>
            <a:prstDash val="solid"/>
          </a:ln>
        </p:spPr>
      </p:sp>
      <p:sp>
        <p:nvSpPr>
          <p:cNvPr id="3" name="Text 1"/>
          <p:cNvSpPr/>
          <p:nvPr/>
        </p:nvSpPr>
        <p:spPr>
          <a:xfrm>
            <a:off x="841248" y="768096"/>
            <a:ext cx="9326880" cy="868680"/>
          </a:xfrm>
          <a:prstGeom prst="rect">
            <a:avLst/>
          </a:prstGeom>
          <a:noFill/>
          <a:ln/>
        </p:spPr>
        <p:txBody>
          <a:bodyPr wrap="square" lIns="0" tIns="0" rIns="0" bIns="0" rtlCol="0" anchor="t"/>
          <a:lstStyle/>
          <a:p>
            <a:pPr algn="l" indent="0" marL="0">
              <a:lnSpc>
                <a:spcPct val="104000"/>
              </a:lnSpc>
              <a:buNone/>
            </a:pPr>
            <a:r>
              <a:rPr lang="en-US" sz="1900" b="1" dirty="0">
                <a:solidFill>
                  <a:srgbClr val="20303F"/>
                </a:solidFill>
                <a:latin typeface="맑은 고딕" pitchFamily="34" charset="0"/>
                <a:ea typeface="맑은 고딕" pitchFamily="34" charset="-122"/>
                <a:cs typeface="맑은 고딕" pitchFamily="34" charset="-120"/>
              </a:rPr>
              <a:t>parallel DML과 direct path — 쓰기도 병렬, 캐시는 우회</a:t>
            </a:r>
            <a:endParaRPr lang="en-US" sz="19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Text 3"/>
          <p:cNvSpPr/>
          <p:nvPr/>
        </p:nvSpPr>
        <p:spPr>
          <a:xfrm>
            <a:off x="8695944" y="603504"/>
            <a:ext cx="1463040" cy="365760"/>
          </a:xfrm>
          <a:prstGeom prst="rect">
            <a:avLst/>
          </a:prstGeom>
          <a:noFill/>
          <a:ln/>
        </p:spPr>
        <p:txBody>
          <a:bodyPr wrap="square" lIns="0" tIns="0" rIns="0" bIns="0" rtlCol="0" anchor="ctr"/>
          <a:lstStyle/>
          <a:p>
            <a:pPr algn="r" indent="0" marL="0">
              <a:buNone/>
            </a:pPr>
            <a:r>
              <a:rPr lang="en-US" sz="1100" dirty="0">
                <a:solidFill>
                  <a:srgbClr val="A79E90"/>
                </a:solidFill>
                <a:latin typeface="맑은 고딕" pitchFamily="34" charset="0"/>
                <a:ea typeface="맑은 고딕" pitchFamily="34" charset="-122"/>
                <a:cs typeface="맑은 고딕" pitchFamily="34" charset="-120"/>
              </a:rPr>
              <a:t>2 / 2</a:t>
            </a:r>
            <a:endParaRPr lang="en-US" sz="1100" dirty="0"/>
          </a:p>
        </p:txBody>
      </p:sp>
      <p:sp>
        <p:nvSpPr>
          <p:cNvPr id="6" name="Shape 4"/>
          <p:cNvSpPr/>
          <p:nvPr/>
        </p:nvSpPr>
        <p:spPr>
          <a:xfrm>
            <a:off x="841248" y="1627632"/>
            <a:ext cx="10506456" cy="10973"/>
          </a:xfrm>
          <a:prstGeom prst="rect">
            <a:avLst/>
          </a:prstGeom>
          <a:solidFill>
            <a:srgbClr val="E7E1D6"/>
          </a:solidFill>
          <a:ln w="12700">
            <a:solidFill>
              <a:srgbClr val="E7E1D6"/>
            </a:solidFill>
            <a:prstDash val="solid"/>
          </a:ln>
        </p:spPr>
      </p:sp>
      <p:sp>
        <p:nvSpPr>
          <p:cNvPr id="7" name="Text 5"/>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B6256"/>
                </a:solidFill>
                <a:latin typeface="맑은 고딕" pitchFamily="34" charset="0"/>
                <a:ea typeface="맑은 고딕" pitchFamily="34" charset="-122"/>
                <a:cs typeface="맑은 고딕" pitchFamily="34" charset="-120"/>
              </a:rPr>
              <a:t>Oracle DBA · 재분배를 없애고, 캐시를 우회하고, 메모리에 담는다</a:t>
            </a:r>
            <a:endParaRPr lang="en-US" sz="900" dirty="0"/>
          </a:p>
        </p:txBody>
      </p:sp>
      <p:sp>
        <p:nvSpPr>
          <p:cNvPr id="8" name="Text 6"/>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B6256"/>
                </a:solidFill>
                <a:latin typeface="맑은 고딕" pitchFamily="34" charset="0"/>
                <a:ea typeface="맑은 고딕" pitchFamily="34" charset="-122"/>
                <a:cs typeface="맑은 고딕" pitchFamily="34" charset="-120"/>
              </a:rPr>
              <a:t>04</a:t>
            </a:r>
            <a:endParaRPr lang="en-US" sz="900" dirty="0"/>
          </a:p>
        </p:txBody>
      </p:sp>
      <p:sp>
        <p:nvSpPr>
          <p:cNvPr id="9" name="Shape 7"/>
          <p:cNvSpPr/>
          <p:nvPr/>
        </p:nvSpPr>
        <p:spPr>
          <a:xfrm>
            <a:off x="841248" y="2953512"/>
            <a:ext cx="10506456" cy="1865376"/>
          </a:xfrm>
          <a:prstGeom prst="roundRect">
            <a:avLst>
              <a:gd name="adj" fmla="val 5882"/>
            </a:avLst>
          </a:prstGeom>
          <a:solidFill>
            <a:srgbClr val="F4F1EA"/>
          </a:solidFill>
          <a:ln w="12700">
            <a:solidFill>
              <a:srgbClr val="E7E1D6"/>
            </a:solidFill>
            <a:prstDash val="solid"/>
          </a:ln>
          <a:effectLst>
            <a:outerShdw sx="100000" sy="100000" kx="0" ky="0" algn="bl" rotWithShape="0" blurRad="152400" dist="25400" dir="5400000">
              <a:srgbClr val="8A7F6A">
                <a:alpha val="14000"/>
              </a:srgbClr>
            </a:outerShdw>
          </a:effectLst>
        </p:spPr>
      </p:sp>
      <p:sp>
        <p:nvSpPr>
          <p:cNvPr id="10" name="Shape 8"/>
          <p:cNvSpPr/>
          <p:nvPr/>
        </p:nvSpPr>
        <p:spPr>
          <a:xfrm>
            <a:off x="868680" y="3072384"/>
            <a:ext cx="73152" cy="1627632"/>
          </a:xfrm>
          <a:prstGeom prst="roundRect">
            <a:avLst>
              <a:gd name="adj" fmla="val 50000"/>
            </a:avLst>
          </a:prstGeom>
          <a:solidFill>
            <a:srgbClr val="C74634"/>
          </a:solidFill>
          <a:ln w="12700">
            <a:solidFill>
              <a:srgbClr val="C74634"/>
            </a:solidFill>
            <a:prstDash val="solid"/>
          </a:ln>
        </p:spPr>
      </p:sp>
      <p:sp>
        <p:nvSpPr>
          <p:cNvPr id="11" name="Text 9"/>
          <p:cNvSpPr/>
          <p:nvPr/>
        </p:nvSpPr>
        <p:spPr>
          <a:xfrm>
            <a:off x="1161288" y="3154680"/>
            <a:ext cx="9957816" cy="365760"/>
          </a:xfrm>
          <a:prstGeom prst="rect">
            <a:avLst/>
          </a:prstGeom>
          <a:noFill/>
          <a:ln/>
        </p:spPr>
        <p:txBody>
          <a:bodyPr wrap="square" lIns="0" tIns="0" rIns="0" bIns="0" rtlCol="0" anchor="ctr"/>
          <a:lstStyle/>
          <a:p>
            <a:pPr algn="l" indent="0" marL="0">
              <a:buNone/>
            </a:pPr>
            <a:r>
              <a:rPr lang="en-US" sz="1400" b="1" dirty="0">
                <a:solidFill>
                  <a:srgbClr val="C74634"/>
                </a:solidFill>
                <a:latin typeface="맑은 고딕" pitchFamily="34" charset="0"/>
                <a:ea typeface="맑은 고딕" pitchFamily="34" charset="-122"/>
                <a:cs typeface="맑은 고딕" pitchFamily="34" charset="-120"/>
              </a:rPr>
              <a:t>QC Buffers 5의 정체</a:t>
            </a:r>
            <a:endParaRPr lang="en-US" sz="1400" dirty="0"/>
          </a:p>
        </p:txBody>
      </p:sp>
      <p:sp>
        <p:nvSpPr>
          <p:cNvPr id="12" name="Text 10"/>
          <p:cNvSpPr/>
          <p:nvPr/>
        </p:nvSpPr>
        <p:spPr>
          <a:xfrm>
            <a:off x="1161288" y="3611880"/>
            <a:ext cx="9957816" cy="1042416"/>
          </a:xfrm>
          <a:prstGeom prst="rect">
            <a:avLst/>
          </a:prstGeom>
          <a:noFill/>
          <a:ln/>
        </p:spPr>
        <p:txBody>
          <a:bodyPr wrap="square" lIns="0" tIns="0" rIns="0" bIns="0" rtlCol="0" anchor="t"/>
          <a:lstStyle/>
          <a:p>
            <a:pPr algn="l" indent="0" marL="0">
              <a:buNone/>
            </a:pPr>
            <a:r>
              <a:rPr lang="en-US" sz="1300" dirty="0">
                <a:solidFill>
                  <a:srgbClr val="20303F"/>
                </a:solidFill>
                <a:latin typeface="맑은 고딕" pitchFamily="34" charset="0"/>
                <a:ea typeface="맑은 고딕" pitchFamily="34" charset="-122"/>
                <a:cs typeface="맑은 고딕" pitchFamily="34" charset="-120"/>
              </a:rPr>
              <a:t>병렬 스캔이 direct path read라 워커가 PGA로 직접 읽는다 → 버퍼 캐시(logical gets)를 거의 안 써서 QC Buffers가 serial 742 대비 5로 찍혔다(§14.1). 10949 이벤트로 끄면 scattered read로.</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2C3742"/>
        </a:solidFill>
      </p:bgPr>
    </p:bg>
    <p:spTree>
      <p:nvGrpSpPr>
        <p:cNvPr id="1" name=""/>
        <p:cNvGrpSpPr/>
        <p:nvPr/>
      </p:nvGrpSpPr>
      <p:grpSpPr>
        <a:xfrm>
          <a:off x="0" y="0"/>
          <a:ext cx="0" cy="0"/>
          <a:chOff x="0" y="0"/>
          <a:chExt cx="0" cy="0"/>
        </a:xfrm>
      </p:grpSpPr>
      <p:sp>
        <p:nvSpPr>
          <p:cNvPr id="2" name="Text 0"/>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3" name="Text 1"/>
          <p:cNvSpPr/>
          <p:nvPr/>
        </p:nvSpPr>
        <p:spPr>
          <a:xfrm>
            <a:off x="795528" y="1371600"/>
            <a:ext cx="4572000" cy="2011680"/>
          </a:xfrm>
          <a:prstGeom prst="rect">
            <a:avLst/>
          </a:prstGeom>
          <a:noFill/>
          <a:ln/>
        </p:spPr>
        <p:txBody>
          <a:bodyPr wrap="square" lIns="0" tIns="0" rIns="0" bIns="0" rtlCol="0" anchor="t"/>
          <a:lstStyle/>
          <a:p>
            <a:pPr algn="l" indent="0" marL="0">
              <a:buNone/>
            </a:pPr>
            <a:r>
              <a:rPr lang="en-US" sz="13000" b="1" dirty="0">
                <a:solidFill>
                  <a:srgbClr val="334155"/>
                </a:solidFill>
                <a:latin typeface="맑은 고딕" pitchFamily="34" charset="0"/>
                <a:ea typeface="맑은 고딕" pitchFamily="34" charset="-122"/>
                <a:cs typeface="맑은 고딕" pitchFamily="34" charset="-120"/>
              </a:rPr>
              <a:t>02</a:t>
            </a:r>
            <a:endParaRPr lang="en-US" sz="13000" dirty="0"/>
          </a:p>
        </p:txBody>
      </p:sp>
      <p:sp>
        <p:nvSpPr>
          <p:cNvPr id="4" name="Shape 2"/>
          <p:cNvSpPr/>
          <p:nvPr/>
        </p:nvSpPr>
        <p:spPr>
          <a:xfrm>
            <a:off x="841248" y="4114800"/>
            <a:ext cx="566928" cy="82296"/>
          </a:xfrm>
          <a:prstGeom prst="roundRect">
            <a:avLst>
              <a:gd name="adj" fmla="val 50000"/>
            </a:avLst>
          </a:prstGeom>
          <a:solidFill>
            <a:srgbClr val="C74634"/>
          </a:solidFill>
          <a:ln w="12700">
            <a:solidFill>
              <a:srgbClr val="C74634"/>
            </a:solidFill>
            <a:prstDash val="solid"/>
          </a:ln>
        </p:spPr>
      </p:sp>
      <p:sp>
        <p:nvSpPr>
          <p:cNvPr id="5" name="Text 3"/>
          <p:cNvSpPr/>
          <p:nvPr/>
        </p:nvSpPr>
        <p:spPr>
          <a:xfrm>
            <a:off x="841248" y="4343400"/>
            <a:ext cx="10506456" cy="822960"/>
          </a:xfrm>
          <a:prstGeom prst="rect">
            <a:avLst/>
          </a:prstGeom>
          <a:noFill/>
          <a:ln/>
        </p:spPr>
        <p:txBody>
          <a:bodyPr wrap="square" lIns="0" tIns="0" rIns="0" bIns="0" rtlCol="0" anchor="t"/>
          <a:lstStyle/>
          <a:p>
            <a:pPr algn="l" indent="0" marL="0">
              <a:buNone/>
            </a:pPr>
            <a:r>
              <a:rPr lang="en-US" sz="3800" b="1" dirty="0">
                <a:solidFill>
                  <a:srgbClr val="FFFFFF"/>
                </a:solidFill>
                <a:latin typeface="맑은 고딕" pitchFamily="34" charset="0"/>
                <a:ea typeface="맑은 고딕" pitchFamily="34" charset="-122"/>
                <a:cs typeface="맑은 고딕" pitchFamily="34" charset="-120"/>
              </a:rPr>
              <a:t>PGA</a:t>
            </a:r>
            <a:endParaRPr lang="en-US" sz="3800" dirty="0"/>
          </a:p>
        </p:txBody>
      </p:sp>
      <p:sp>
        <p:nvSpPr>
          <p:cNvPr id="6" name="Text 4"/>
          <p:cNvSpPr/>
          <p:nvPr/>
        </p:nvSpPr>
        <p:spPr>
          <a:xfrm>
            <a:off x="841248" y="5230368"/>
            <a:ext cx="10506456" cy="548640"/>
          </a:xfrm>
          <a:prstGeom prst="rect">
            <a:avLst/>
          </a:prstGeom>
          <a:noFill/>
          <a:ln/>
        </p:spPr>
        <p:txBody>
          <a:bodyPr wrap="square" lIns="0" tIns="0" rIns="0" bIns="0" rtlCol="0" anchor="t"/>
          <a:lstStyle/>
          <a:p>
            <a:pPr algn="l" indent="0" marL="0">
              <a:buNone/>
            </a:pPr>
            <a:r>
              <a:rPr lang="en-US" sz="1600" dirty="0">
                <a:solidFill>
                  <a:srgbClr val="A79E90"/>
                </a:solidFill>
                <a:latin typeface="맑은 고딕" pitchFamily="34" charset="0"/>
                <a:ea typeface="맑은 고딕" pitchFamily="34" charset="-122"/>
                <a:cs typeface="맑은 고딕" pitchFamily="34" charset="-120"/>
              </a:rPr>
              <a:t>작업 공간의 경제학</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8F4"/>
        </a:solidFill>
      </p:bgPr>
    </p:bg>
    <p:spTree>
      <p:nvGrpSpPr>
        <p:cNvPr id="1" name=""/>
        <p:cNvGrpSpPr/>
        <p:nvPr/>
      </p:nvGrpSpPr>
      <p:grpSpPr>
        <a:xfrm>
          <a:off x="0" y="0"/>
          <a:ext cx="0" cy="0"/>
          <a:chOff x="0" y="0"/>
          <a:chExt cx="0" cy="0"/>
        </a:xfrm>
      </p:grpSpPr>
      <p:sp>
        <p:nvSpPr>
          <p:cNvPr id="2" name="Shape 0"/>
          <p:cNvSpPr/>
          <p:nvPr/>
        </p:nvSpPr>
        <p:spPr>
          <a:xfrm>
            <a:off x="841248" y="603504"/>
            <a:ext cx="420624" cy="73152"/>
          </a:xfrm>
          <a:prstGeom prst="roundRect">
            <a:avLst>
              <a:gd name="adj" fmla="val 50000"/>
            </a:avLst>
          </a:prstGeom>
          <a:solidFill>
            <a:srgbClr val="C74634"/>
          </a:solidFill>
          <a:ln w="12700">
            <a:solidFill>
              <a:srgbClr val="C74634"/>
            </a:solidFill>
            <a:prstDash val="solid"/>
          </a:ln>
        </p:spPr>
      </p:sp>
      <p:sp>
        <p:nvSpPr>
          <p:cNvPr id="3" name="Text 1"/>
          <p:cNvSpPr/>
          <p:nvPr/>
        </p:nvSpPr>
        <p:spPr>
          <a:xfrm>
            <a:off x="841248" y="768096"/>
            <a:ext cx="9326880" cy="868680"/>
          </a:xfrm>
          <a:prstGeom prst="rect">
            <a:avLst/>
          </a:prstGeom>
          <a:noFill/>
          <a:ln/>
        </p:spPr>
        <p:txBody>
          <a:bodyPr wrap="square" lIns="0" tIns="0" rIns="0" bIns="0" rtlCol="0" anchor="t"/>
          <a:lstStyle/>
          <a:p>
            <a:pPr algn="l" indent="0" marL="0">
              <a:lnSpc>
                <a:spcPct val="104000"/>
              </a:lnSpc>
              <a:buNone/>
            </a:pPr>
            <a:r>
              <a:rPr lang="en-US" sz="1900" b="1" dirty="0">
                <a:solidFill>
                  <a:srgbClr val="20303F"/>
                </a:solidFill>
                <a:latin typeface="맑은 고딕" pitchFamily="34" charset="0"/>
                <a:ea typeface="맑은 고딕" pitchFamily="34" charset="-122"/>
                <a:cs typeface="맑은 고딕" pitchFamily="34" charset="-120"/>
              </a:rPr>
              <a:t>PGA 구조와 자동 관리 — target은 soft, limit은 hard</a:t>
            </a:r>
            <a:endParaRPr lang="en-US" sz="19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Shape 3"/>
          <p:cNvSpPr/>
          <p:nvPr/>
        </p:nvSpPr>
        <p:spPr>
          <a:xfrm>
            <a:off x="841248" y="1627632"/>
            <a:ext cx="10506456" cy="10973"/>
          </a:xfrm>
          <a:prstGeom prst="rect">
            <a:avLst/>
          </a:prstGeom>
          <a:solidFill>
            <a:srgbClr val="E7E1D6"/>
          </a:solidFill>
          <a:ln w="12700">
            <a:solidFill>
              <a:srgbClr val="E7E1D6"/>
            </a:solidFill>
            <a:prstDash val="solid"/>
          </a:ln>
        </p:spPr>
      </p:sp>
      <p:sp>
        <p:nvSpPr>
          <p:cNvPr id="6" name="Text 4"/>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B6256"/>
                </a:solidFill>
                <a:latin typeface="맑은 고딕" pitchFamily="34" charset="0"/>
                <a:ea typeface="맑은 고딕" pitchFamily="34" charset="-122"/>
                <a:cs typeface="맑은 고딕" pitchFamily="34" charset="-120"/>
              </a:rPr>
              <a:t>Oracle DBA · 재분배를 없애고, 캐시를 우회하고, 메모리에 담는다</a:t>
            </a:r>
            <a:endParaRPr lang="en-US" sz="900" dirty="0"/>
          </a:p>
        </p:txBody>
      </p:sp>
      <p:sp>
        <p:nvSpPr>
          <p:cNvPr id="7" name="Text 5"/>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B6256"/>
                </a:solidFill>
                <a:latin typeface="맑은 고딕" pitchFamily="34" charset="0"/>
                <a:ea typeface="맑은 고딕" pitchFamily="34" charset="-122"/>
                <a:cs typeface="맑은 고딕" pitchFamily="34" charset="-120"/>
              </a:rPr>
              <a:t>05</a:t>
            </a:r>
            <a:endParaRPr lang="en-US" sz="9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841248" y="2103120"/>
          <a:ext cx="10506456" cy="2066544"/>
        </p:xfrm>
        <a:graphic>
          <a:graphicData uri="http://schemas.openxmlformats.org/drawingml/2006/table">
            <a:tbl>
              <a:tblPr/>
              <a:tblGrid>
                <a:gridCol w="3502152"/>
                <a:gridCol w="3502152"/>
                <a:gridCol w="3502152"/>
              </a:tblGrid>
              <a:tr h="413309">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파라미터</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20303F"/>
                    </a:solidFill>
                  </a:tcPr>
                </a:tc>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역할</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20303F"/>
                    </a:solidFill>
                  </a:tcPr>
                </a:tc>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메모</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20303F"/>
                    </a:solidFill>
                  </a:tcPr>
                </a:tc>
              </a:tr>
              <a:tr h="413309">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pga_aggregate_target</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자동 확장 soft limit</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OLTP (물리×80%)×20% / DSS ×50%</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r>
              <a:tr h="413309">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pga_aggregate_limit (12c)</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확장 최대 hard limit</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안 잡으면 무한대 — 꼭 설정</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r>
              <a:tr h="413309">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workarea_size_policy</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auto / manual</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manual은 세션까지만(시스템 금지)</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r>
              <a:tr h="413309">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sort/hash_area_size</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SQL work area 개별 크기</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UGA 안 · shared server면 large pool</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r>
            </a:tbl>
          </a:graphicData>
        </a:graphic>
      </p:graphicFrame>
      <p:sp>
        <p:nvSpPr>
          <p:cNvPr id="9" name="Shape 6"/>
          <p:cNvSpPr/>
          <p:nvPr/>
        </p:nvSpPr>
        <p:spPr>
          <a:xfrm>
            <a:off x="841248" y="4352544"/>
            <a:ext cx="10506456" cy="1316736"/>
          </a:xfrm>
          <a:prstGeom prst="roundRect">
            <a:avLst>
              <a:gd name="adj" fmla="val 8333"/>
            </a:avLst>
          </a:prstGeom>
          <a:solidFill>
            <a:srgbClr val="F4F1EA"/>
          </a:solidFill>
          <a:ln w="12700">
            <a:solidFill>
              <a:srgbClr val="E7E1D6"/>
            </a:solidFill>
            <a:prstDash val="solid"/>
          </a:ln>
          <a:effectLst>
            <a:outerShdw sx="100000" sy="100000" kx="0" ky="0" algn="bl" rotWithShape="0" blurRad="152400" dist="25400" dir="5400000">
              <a:srgbClr val="8A7F6A">
                <a:alpha val="14000"/>
              </a:srgbClr>
            </a:outerShdw>
          </a:effectLst>
        </p:spPr>
      </p:sp>
      <p:sp>
        <p:nvSpPr>
          <p:cNvPr id="10" name="Shape 7"/>
          <p:cNvSpPr/>
          <p:nvPr/>
        </p:nvSpPr>
        <p:spPr>
          <a:xfrm>
            <a:off x="868680" y="4471416"/>
            <a:ext cx="73152" cy="1078992"/>
          </a:xfrm>
          <a:prstGeom prst="roundRect">
            <a:avLst>
              <a:gd name="adj" fmla="val 50000"/>
            </a:avLst>
          </a:prstGeom>
          <a:solidFill>
            <a:srgbClr val="334155"/>
          </a:solidFill>
          <a:ln w="12700">
            <a:solidFill>
              <a:srgbClr val="334155"/>
            </a:solidFill>
            <a:prstDash val="solid"/>
          </a:ln>
        </p:spPr>
      </p:sp>
      <p:sp>
        <p:nvSpPr>
          <p:cNvPr id="11" name="Text 8"/>
          <p:cNvSpPr/>
          <p:nvPr/>
        </p:nvSpPr>
        <p:spPr>
          <a:xfrm>
            <a:off x="1161288" y="4553712"/>
            <a:ext cx="9957816" cy="365760"/>
          </a:xfrm>
          <a:prstGeom prst="rect">
            <a:avLst/>
          </a:prstGeom>
          <a:noFill/>
          <a:ln/>
        </p:spPr>
        <p:txBody>
          <a:bodyPr wrap="square" lIns="0" tIns="0" rIns="0" bIns="0" rtlCol="0" anchor="ctr"/>
          <a:lstStyle/>
          <a:p>
            <a:pPr algn="l" indent="0" marL="0">
              <a:buNone/>
            </a:pPr>
            <a:r>
              <a:rPr lang="en-US" sz="1400" b="1" dirty="0">
                <a:solidFill>
                  <a:srgbClr val="20303F"/>
                </a:solidFill>
                <a:latin typeface="맑은 고딕" pitchFamily="34" charset="0"/>
                <a:ea typeface="맑은 고딕" pitchFamily="34" charset="-122"/>
                <a:cs typeface="맑은 고딕" pitchFamily="34" charset="-120"/>
              </a:rPr>
              <a:t>OLTP vs DSS</a:t>
            </a:r>
            <a:endParaRPr lang="en-US" sz="1400" dirty="0"/>
          </a:p>
        </p:txBody>
      </p:sp>
      <p:sp>
        <p:nvSpPr>
          <p:cNvPr id="12" name="Text 9"/>
          <p:cNvSpPr/>
          <p:nvPr/>
        </p:nvSpPr>
        <p:spPr>
          <a:xfrm>
            <a:off x="1161288" y="5010912"/>
            <a:ext cx="9957816" cy="493776"/>
          </a:xfrm>
          <a:prstGeom prst="rect">
            <a:avLst/>
          </a:prstGeom>
          <a:noFill/>
          <a:ln/>
        </p:spPr>
        <p:txBody>
          <a:bodyPr wrap="square" lIns="0" tIns="0" rIns="0" bIns="0" rtlCol="0" anchor="t"/>
          <a:lstStyle/>
          <a:p>
            <a:pPr algn="l" indent="0" marL="0">
              <a:buNone/>
            </a:pPr>
            <a:r>
              <a:rPr lang="en-US" sz="1300" dirty="0">
                <a:solidFill>
                  <a:srgbClr val="20303F"/>
                </a:solidFill>
                <a:latin typeface="맑은 고딕" pitchFamily="34" charset="0"/>
                <a:ea typeface="맑은 고딕" pitchFamily="34" charset="-122"/>
                <a:cs typeface="맑은 고딕" pitchFamily="34" charset="-120"/>
              </a:rPr>
              <a:t>OLTP는 짧은 트랜잭션이라 SGA(캐시)에 무게(20%), DSS는 대량 정렬·집계라 PGA(작업 공간)에 무게(50%). 워크로드가 메모리 배분을 정한다.</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2C3742"/>
        </a:solidFill>
      </p:bgPr>
    </p:bg>
    <p:spTree>
      <p:nvGrpSpPr>
        <p:cNvPr id="1" name=""/>
        <p:cNvGrpSpPr/>
        <p:nvPr/>
      </p:nvGrpSpPr>
      <p:grpSpPr>
        <a:xfrm>
          <a:off x="0" y="0"/>
          <a:ext cx="0" cy="0"/>
          <a:chOff x="0" y="0"/>
          <a:chExt cx="0" cy="0"/>
        </a:xfrm>
      </p:grpSpPr>
      <p:sp>
        <p:nvSpPr>
          <p:cNvPr id="2" name="Text 0"/>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3" name="Text 1"/>
          <p:cNvSpPr/>
          <p:nvPr/>
        </p:nvSpPr>
        <p:spPr>
          <a:xfrm>
            <a:off x="795528" y="1371600"/>
            <a:ext cx="4572000" cy="2011680"/>
          </a:xfrm>
          <a:prstGeom prst="rect">
            <a:avLst/>
          </a:prstGeom>
          <a:noFill/>
          <a:ln/>
        </p:spPr>
        <p:txBody>
          <a:bodyPr wrap="square" lIns="0" tIns="0" rIns="0" bIns="0" rtlCol="0" anchor="t"/>
          <a:lstStyle/>
          <a:p>
            <a:pPr algn="l" indent="0" marL="0">
              <a:buNone/>
            </a:pPr>
            <a:r>
              <a:rPr lang="en-US" sz="13000" b="1" dirty="0">
                <a:solidFill>
                  <a:srgbClr val="334155"/>
                </a:solidFill>
                <a:latin typeface="맑은 고딕" pitchFamily="34" charset="0"/>
                <a:ea typeface="맑은 고딕" pitchFamily="34" charset="-122"/>
                <a:cs typeface="맑은 고딕" pitchFamily="34" charset="-120"/>
              </a:rPr>
              <a:t>03</a:t>
            </a:r>
            <a:endParaRPr lang="en-US" sz="13000" dirty="0"/>
          </a:p>
        </p:txBody>
      </p:sp>
      <p:sp>
        <p:nvSpPr>
          <p:cNvPr id="4" name="Shape 2"/>
          <p:cNvSpPr/>
          <p:nvPr/>
        </p:nvSpPr>
        <p:spPr>
          <a:xfrm>
            <a:off x="841248" y="4114800"/>
            <a:ext cx="566928" cy="82296"/>
          </a:xfrm>
          <a:prstGeom prst="roundRect">
            <a:avLst>
              <a:gd name="adj" fmla="val 50000"/>
            </a:avLst>
          </a:prstGeom>
          <a:solidFill>
            <a:srgbClr val="C74634"/>
          </a:solidFill>
          <a:ln w="12700">
            <a:solidFill>
              <a:srgbClr val="C74634"/>
            </a:solidFill>
            <a:prstDash val="solid"/>
          </a:ln>
        </p:spPr>
      </p:sp>
      <p:sp>
        <p:nvSpPr>
          <p:cNvPr id="5" name="Text 3"/>
          <p:cNvSpPr/>
          <p:nvPr/>
        </p:nvSpPr>
        <p:spPr>
          <a:xfrm>
            <a:off x="841248" y="4343400"/>
            <a:ext cx="10506456" cy="822960"/>
          </a:xfrm>
          <a:prstGeom prst="rect">
            <a:avLst/>
          </a:prstGeom>
          <a:noFill/>
          <a:ln/>
        </p:spPr>
        <p:txBody>
          <a:bodyPr wrap="square" lIns="0" tIns="0" rIns="0" bIns="0" rtlCol="0" anchor="t"/>
          <a:lstStyle/>
          <a:p>
            <a:pPr algn="l" indent="0" marL="0">
              <a:buNone/>
            </a:pPr>
            <a:r>
              <a:rPr lang="en-US" sz="3800" b="1" dirty="0">
                <a:solidFill>
                  <a:srgbClr val="FFFFFF"/>
                </a:solidFill>
                <a:latin typeface="맑은 고딕" pitchFamily="34" charset="0"/>
                <a:ea typeface="맑은 고딕" pitchFamily="34" charset="-122"/>
                <a:cs typeface="맑은 고딕" pitchFamily="34" charset="-120"/>
              </a:rPr>
              <a:t>정렬</a:t>
            </a:r>
            <a:endParaRPr lang="en-US" sz="3800" dirty="0"/>
          </a:p>
        </p:txBody>
      </p:sp>
      <p:sp>
        <p:nvSpPr>
          <p:cNvPr id="6" name="Text 4"/>
          <p:cNvSpPr/>
          <p:nvPr/>
        </p:nvSpPr>
        <p:spPr>
          <a:xfrm>
            <a:off x="841248" y="5230368"/>
            <a:ext cx="10506456" cy="548640"/>
          </a:xfrm>
          <a:prstGeom prst="rect">
            <a:avLst/>
          </a:prstGeom>
          <a:noFill/>
          <a:ln/>
        </p:spPr>
        <p:txBody>
          <a:bodyPr wrap="square" lIns="0" tIns="0" rIns="0" bIns="0" rtlCol="0" anchor="t"/>
          <a:lstStyle/>
          <a:p>
            <a:pPr algn="l" indent="0" marL="0">
              <a:buNone/>
            </a:pPr>
            <a:r>
              <a:rPr lang="en-US" sz="1600" dirty="0">
                <a:solidFill>
                  <a:srgbClr val="A79E90"/>
                </a:solidFill>
                <a:latin typeface="맑은 고딕" pitchFamily="34" charset="0"/>
                <a:ea typeface="맑은 고딕" pitchFamily="34" charset="-122"/>
                <a:cs typeface="맑은 고딕" pitchFamily="34" charset="-120"/>
              </a:rPr>
              <a:t>메모리에 담기느냐, 디스크로 흘리느냐</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8F4"/>
        </a:solidFill>
      </p:bgPr>
    </p:bg>
    <p:spTree>
      <p:nvGrpSpPr>
        <p:cNvPr id="1" name=""/>
        <p:cNvGrpSpPr/>
        <p:nvPr/>
      </p:nvGrpSpPr>
      <p:grpSpPr>
        <a:xfrm>
          <a:off x="0" y="0"/>
          <a:ext cx="0" cy="0"/>
          <a:chOff x="0" y="0"/>
          <a:chExt cx="0" cy="0"/>
        </a:xfrm>
      </p:grpSpPr>
      <p:sp>
        <p:nvSpPr>
          <p:cNvPr id="2" name="Shape 0"/>
          <p:cNvSpPr/>
          <p:nvPr/>
        </p:nvSpPr>
        <p:spPr>
          <a:xfrm>
            <a:off x="841248" y="603504"/>
            <a:ext cx="420624" cy="73152"/>
          </a:xfrm>
          <a:prstGeom prst="roundRect">
            <a:avLst>
              <a:gd name="adj" fmla="val 50000"/>
            </a:avLst>
          </a:prstGeom>
          <a:solidFill>
            <a:srgbClr val="C74634"/>
          </a:solidFill>
          <a:ln w="12700">
            <a:solidFill>
              <a:srgbClr val="C74634"/>
            </a:solidFill>
            <a:prstDash val="solid"/>
          </a:ln>
        </p:spPr>
      </p:sp>
      <p:sp>
        <p:nvSpPr>
          <p:cNvPr id="3" name="Text 1"/>
          <p:cNvSpPr/>
          <p:nvPr/>
        </p:nvSpPr>
        <p:spPr>
          <a:xfrm>
            <a:off x="841248" y="768096"/>
            <a:ext cx="9326880" cy="868680"/>
          </a:xfrm>
          <a:prstGeom prst="rect">
            <a:avLst/>
          </a:prstGeom>
          <a:noFill/>
          <a:ln/>
        </p:spPr>
        <p:txBody>
          <a:bodyPr wrap="square" lIns="0" tIns="0" rIns="0" bIns="0" rtlCol="0" anchor="t"/>
          <a:lstStyle/>
          <a:p>
            <a:pPr algn="l" indent="0" marL="0">
              <a:lnSpc>
                <a:spcPct val="104000"/>
              </a:lnSpc>
              <a:buNone/>
            </a:pPr>
            <a:r>
              <a:rPr lang="en-US" sz="2400" b="1" dirty="0">
                <a:solidFill>
                  <a:srgbClr val="20303F"/>
                </a:solidFill>
                <a:latin typeface="맑은 고딕" pitchFamily="34" charset="0"/>
                <a:ea typeface="맑은 고딕" pitchFamily="34" charset="-122"/>
                <a:cs typeface="맑은 고딕" pitchFamily="34" charset="-120"/>
              </a:rPr>
              <a:t>정렬의 세 등급 — optimal에서 멀어질수록 느려진다</a:t>
            </a:r>
            <a:endParaRPr lang="en-US" sz="24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Shape 3"/>
          <p:cNvSpPr/>
          <p:nvPr/>
        </p:nvSpPr>
        <p:spPr>
          <a:xfrm>
            <a:off x="841248" y="1627632"/>
            <a:ext cx="10506456" cy="10973"/>
          </a:xfrm>
          <a:prstGeom prst="rect">
            <a:avLst/>
          </a:prstGeom>
          <a:solidFill>
            <a:srgbClr val="E7E1D6"/>
          </a:solidFill>
          <a:ln w="12700">
            <a:solidFill>
              <a:srgbClr val="E7E1D6"/>
            </a:solidFill>
            <a:prstDash val="solid"/>
          </a:ln>
        </p:spPr>
      </p:sp>
      <p:sp>
        <p:nvSpPr>
          <p:cNvPr id="6" name="Text 4"/>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B6256"/>
                </a:solidFill>
                <a:latin typeface="맑은 고딕" pitchFamily="34" charset="0"/>
                <a:ea typeface="맑은 고딕" pitchFamily="34" charset="-122"/>
                <a:cs typeface="맑은 고딕" pitchFamily="34" charset="-120"/>
              </a:rPr>
              <a:t>Oracle DBA · 재분배를 없애고, 캐시를 우회하고, 메모리에 담는다</a:t>
            </a:r>
            <a:endParaRPr lang="en-US" sz="900" dirty="0"/>
          </a:p>
        </p:txBody>
      </p:sp>
      <p:sp>
        <p:nvSpPr>
          <p:cNvPr id="7" name="Text 5"/>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B6256"/>
                </a:solidFill>
                <a:latin typeface="맑은 고딕" pitchFamily="34" charset="0"/>
                <a:ea typeface="맑은 고딕" pitchFamily="34" charset="-122"/>
                <a:cs typeface="맑은 고딕" pitchFamily="34" charset="-120"/>
              </a:rPr>
              <a:t>06</a:t>
            </a:r>
            <a:endParaRPr lang="en-US" sz="9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841248" y="2020824"/>
          <a:ext cx="10506456" cy="1682496"/>
        </p:xfrm>
        <a:graphic>
          <a:graphicData uri="http://schemas.openxmlformats.org/drawingml/2006/table">
            <a:tbl>
              <a:tblPr/>
              <a:tblGrid>
                <a:gridCol w="3502152"/>
                <a:gridCol w="3502152"/>
                <a:gridCol w="3502152"/>
              </a:tblGrid>
              <a:tr h="420624">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등급</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20303F"/>
                    </a:solidFill>
                  </a:tcPr>
                </a:tc>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뜻</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20303F"/>
                    </a:solidFill>
                  </a:tcPr>
                </a:tc>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디스크 I/O</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20303F"/>
                    </a:solidFill>
                  </a:tcPr>
                </a:tc>
              </a:tr>
              <a:tr h="420624">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optimal</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SORT_AREA_SIZE 안에서 완료</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없음 (최적)</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r>
              <a:tr h="420624">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onepass</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sort run이 디스크에 한 번</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1회</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r>
              <a:tr h="420624">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multipass</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sort run이 디스크에 여러 번</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많음 → 성능 저하</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r>
            </a:tbl>
          </a:graphicData>
        </a:graphic>
      </p:graphicFrame>
      <p:sp>
        <p:nvSpPr>
          <p:cNvPr id="9" name="Shape 6"/>
          <p:cNvSpPr/>
          <p:nvPr/>
        </p:nvSpPr>
        <p:spPr>
          <a:xfrm>
            <a:off x="841248" y="3886200"/>
            <a:ext cx="10506456" cy="1865376"/>
          </a:xfrm>
          <a:prstGeom prst="roundRect">
            <a:avLst>
              <a:gd name="adj" fmla="val 5882"/>
            </a:avLst>
          </a:prstGeom>
          <a:solidFill>
            <a:srgbClr val="F4F1EA"/>
          </a:solidFill>
          <a:ln w="12700">
            <a:solidFill>
              <a:srgbClr val="E7E1D6"/>
            </a:solidFill>
            <a:prstDash val="solid"/>
          </a:ln>
          <a:effectLst>
            <a:outerShdw sx="100000" sy="100000" kx="0" ky="0" algn="bl" rotWithShape="0" blurRad="152400" dist="25400" dir="5400000">
              <a:srgbClr val="8A7F6A">
                <a:alpha val="14000"/>
              </a:srgbClr>
            </a:outerShdw>
          </a:effectLst>
        </p:spPr>
      </p:sp>
      <p:sp>
        <p:nvSpPr>
          <p:cNvPr id="10" name="Shape 7"/>
          <p:cNvSpPr/>
          <p:nvPr/>
        </p:nvSpPr>
        <p:spPr>
          <a:xfrm>
            <a:off x="868680" y="4005072"/>
            <a:ext cx="73152" cy="1627632"/>
          </a:xfrm>
          <a:prstGeom prst="roundRect">
            <a:avLst>
              <a:gd name="adj" fmla="val 50000"/>
            </a:avLst>
          </a:prstGeom>
          <a:solidFill>
            <a:srgbClr val="C74634"/>
          </a:solidFill>
          <a:ln w="12700">
            <a:solidFill>
              <a:srgbClr val="C74634"/>
            </a:solidFill>
            <a:prstDash val="solid"/>
          </a:ln>
        </p:spPr>
      </p:sp>
      <p:sp>
        <p:nvSpPr>
          <p:cNvPr id="11" name="Text 8"/>
          <p:cNvSpPr/>
          <p:nvPr/>
        </p:nvSpPr>
        <p:spPr>
          <a:xfrm>
            <a:off x="1161288" y="4087368"/>
            <a:ext cx="9957816" cy="365760"/>
          </a:xfrm>
          <a:prstGeom prst="rect">
            <a:avLst/>
          </a:prstGeom>
          <a:noFill/>
          <a:ln/>
        </p:spPr>
        <p:txBody>
          <a:bodyPr wrap="square" lIns="0" tIns="0" rIns="0" bIns="0" rtlCol="0" anchor="ctr"/>
          <a:lstStyle/>
          <a:p>
            <a:pPr algn="l" indent="0" marL="0">
              <a:buNone/>
            </a:pPr>
            <a:r>
              <a:rPr lang="en-US" sz="1400" b="1" dirty="0">
                <a:solidFill>
                  <a:srgbClr val="C74634"/>
                </a:solidFill>
                <a:latin typeface="맑은 고딕" pitchFamily="34" charset="0"/>
                <a:ea typeface="맑은 고딕" pitchFamily="34" charset="-122"/>
                <a:cs typeface="맑은 고딕" pitchFamily="34" charset="-120"/>
              </a:rPr>
              <a:t>Used-Temp와 대기로 드러난다</a:t>
            </a:r>
            <a:endParaRPr lang="en-US" sz="1400" dirty="0"/>
          </a:p>
        </p:txBody>
      </p:sp>
      <p:sp>
        <p:nvSpPr>
          <p:cNvPr id="12" name="Text 9"/>
          <p:cNvSpPr/>
          <p:nvPr/>
        </p:nvSpPr>
        <p:spPr>
          <a:xfrm>
            <a:off x="1161288" y="4544568"/>
            <a:ext cx="9957816" cy="1042416"/>
          </a:xfrm>
          <a:prstGeom prst="rect">
            <a:avLst/>
          </a:prstGeom>
          <a:noFill/>
          <a:ln/>
        </p:spPr>
        <p:txBody>
          <a:bodyPr wrap="square" lIns="0" tIns="0" rIns="0" bIns="0" rtlCol="0" anchor="t"/>
          <a:lstStyle/>
          <a:p>
            <a:pPr algn="l" indent="0" marL="0">
              <a:buNone/>
            </a:pPr>
            <a:r>
              <a:rPr lang="en-US" sz="1300" dirty="0">
                <a:solidFill>
                  <a:srgbClr val="20303F"/>
                </a:solidFill>
                <a:latin typeface="맑은 고딕" pitchFamily="34" charset="0"/>
                <a:ea typeface="맑은 고딕" pitchFamily="34" charset="-122"/>
                <a:cs typeface="맑은 고딕" pitchFamily="34" charset="-120"/>
              </a:rPr>
              <a:t>메모리 부족분 = 실행계획 Used-Temp(KB). 디스크 소트 = direct path read/write temp 대기. sort_area_size를 키우면 Used-Temp가 0이 되며 optimal로 — 커서도 v$sql_workarea로 추적.</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8F4"/>
        </a:solidFill>
      </p:bgPr>
    </p:bg>
    <p:spTree>
      <p:nvGrpSpPr>
        <p:cNvPr id="1" name=""/>
        <p:cNvGrpSpPr/>
        <p:nvPr/>
      </p:nvGrpSpPr>
      <p:grpSpPr>
        <a:xfrm>
          <a:off x="0" y="0"/>
          <a:ext cx="0" cy="0"/>
          <a:chOff x="0" y="0"/>
          <a:chExt cx="0" cy="0"/>
        </a:xfrm>
      </p:grpSpPr>
      <p:sp>
        <p:nvSpPr>
          <p:cNvPr id="2" name="Shape 0"/>
          <p:cNvSpPr/>
          <p:nvPr/>
        </p:nvSpPr>
        <p:spPr>
          <a:xfrm>
            <a:off x="841248" y="603504"/>
            <a:ext cx="420624" cy="73152"/>
          </a:xfrm>
          <a:prstGeom prst="roundRect">
            <a:avLst>
              <a:gd name="adj" fmla="val 50000"/>
            </a:avLst>
          </a:prstGeom>
          <a:solidFill>
            <a:srgbClr val="C74634"/>
          </a:solidFill>
          <a:ln w="12700">
            <a:solidFill>
              <a:srgbClr val="C74634"/>
            </a:solidFill>
            <a:prstDash val="solid"/>
          </a:ln>
        </p:spPr>
      </p:sp>
      <p:sp>
        <p:nvSpPr>
          <p:cNvPr id="3" name="Text 1"/>
          <p:cNvSpPr/>
          <p:nvPr/>
        </p:nvSpPr>
        <p:spPr>
          <a:xfrm>
            <a:off x="841248" y="768096"/>
            <a:ext cx="9326880" cy="868680"/>
          </a:xfrm>
          <a:prstGeom prst="rect">
            <a:avLst/>
          </a:prstGeom>
          <a:noFill/>
          <a:ln/>
        </p:spPr>
        <p:txBody>
          <a:bodyPr wrap="square" lIns="0" tIns="0" rIns="0" bIns="0" rtlCol="0" anchor="t"/>
          <a:lstStyle/>
          <a:p>
            <a:pPr algn="l" indent="0" marL="0">
              <a:lnSpc>
                <a:spcPct val="104000"/>
              </a:lnSpc>
              <a:buNone/>
            </a:pPr>
            <a:r>
              <a:rPr lang="en-US" sz="2400" b="1" dirty="0">
                <a:solidFill>
                  <a:srgbClr val="20303F"/>
                </a:solidFill>
                <a:latin typeface="맑은 고딕" pitchFamily="34" charset="0"/>
                <a:ea typeface="맑은 고딕" pitchFamily="34" charset="-122"/>
                <a:cs typeface="맑은 고딕" pitchFamily="34" charset="-120"/>
              </a:rPr>
              <a:t>정렬이냐 해시냐 — 결과가 정렬돼 나오는지로 읽는다</a:t>
            </a:r>
            <a:endParaRPr lang="en-US" sz="24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Shape 3"/>
          <p:cNvSpPr/>
          <p:nvPr/>
        </p:nvSpPr>
        <p:spPr>
          <a:xfrm>
            <a:off x="841248" y="1627632"/>
            <a:ext cx="10506456" cy="10973"/>
          </a:xfrm>
          <a:prstGeom prst="rect">
            <a:avLst/>
          </a:prstGeom>
          <a:solidFill>
            <a:srgbClr val="E7E1D6"/>
          </a:solidFill>
          <a:ln w="12700">
            <a:solidFill>
              <a:srgbClr val="E7E1D6"/>
            </a:solidFill>
            <a:prstDash val="solid"/>
          </a:ln>
        </p:spPr>
      </p:sp>
      <p:sp>
        <p:nvSpPr>
          <p:cNvPr id="6" name="Text 4"/>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B6256"/>
                </a:solidFill>
                <a:latin typeface="맑은 고딕" pitchFamily="34" charset="0"/>
                <a:ea typeface="맑은 고딕" pitchFamily="34" charset="-122"/>
                <a:cs typeface="맑은 고딕" pitchFamily="34" charset="-120"/>
              </a:rPr>
              <a:t>Oracle DBA · 재분배를 없애고, 캐시를 우회하고, 메모리에 담는다</a:t>
            </a:r>
            <a:endParaRPr lang="en-US" sz="900" dirty="0"/>
          </a:p>
        </p:txBody>
      </p:sp>
      <p:sp>
        <p:nvSpPr>
          <p:cNvPr id="7" name="Text 5"/>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B6256"/>
                </a:solidFill>
                <a:latin typeface="맑은 고딕" pitchFamily="34" charset="0"/>
                <a:ea typeface="맑은 고딕" pitchFamily="34" charset="-122"/>
                <a:cs typeface="맑은 고딕" pitchFamily="34" charset="-120"/>
              </a:rPr>
              <a:t>07</a:t>
            </a:r>
            <a:endParaRPr lang="en-US" sz="9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841248" y="2157984"/>
          <a:ext cx="10506456" cy="1682496"/>
        </p:xfrm>
        <a:graphic>
          <a:graphicData uri="http://schemas.openxmlformats.org/drawingml/2006/table">
            <a:tbl>
              <a:tblPr/>
              <a:tblGrid>
                <a:gridCol w="3502152"/>
                <a:gridCol w="3502152"/>
                <a:gridCol w="3502152"/>
              </a:tblGrid>
              <a:tr h="420624">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연산</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20303F"/>
                    </a:solidFill>
                  </a:tcPr>
                </a:tc>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오퍼레이션</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20303F"/>
                    </a:solidFill>
                  </a:tcPr>
                </a:tc>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결과 정렬?</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20303F"/>
                    </a:solidFill>
                  </a:tcPr>
                </a:tc>
              </a:tr>
              <a:tr h="420624">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order by · 집계 준비</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SORT (ORDER BY·AGGREGATE)</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예 — SORT AREA</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r>
              <a:tr h="420624">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group by · distinct · unique</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HASH (GROUP BY·UNIQUE)</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아니오 — HASH AREA</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r>
              <a:tr h="420624">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옛 방식(opt_param false)</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SORT (GROUP BY·UNIQUE)</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예</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r>
            </a:tbl>
          </a:graphicData>
        </a:graphic>
      </p:graphicFrame>
      <p:sp>
        <p:nvSpPr>
          <p:cNvPr id="9" name="Shape 6"/>
          <p:cNvSpPr/>
          <p:nvPr/>
        </p:nvSpPr>
        <p:spPr>
          <a:xfrm>
            <a:off x="841248" y="4023360"/>
            <a:ext cx="10506456" cy="1591056"/>
          </a:xfrm>
          <a:prstGeom prst="roundRect">
            <a:avLst>
              <a:gd name="adj" fmla="val 6897"/>
            </a:avLst>
          </a:prstGeom>
          <a:solidFill>
            <a:srgbClr val="F4F1EA"/>
          </a:solidFill>
          <a:ln w="12700">
            <a:solidFill>
              <a:srgbClr val="E7E1D6"/>
            </a:solidFill>
            <a:prstDash val="solid"/>
          </a:ln>
          <a:effectLst>
            <a:outerShdw sx="100000" sy="100000" kx="0" ky="0" algn="bl" rotWithShape="0" blurRad="152400" dist="25400" dir="5400000">
              <a:srgbClr val="8A7F6A">
                <a:alpha val="14000"/>
              </a:srgbClr>
            </a:outerShdw>
          </a:effectLst>
        </p:spPr>
      </p:sp>
      <p:sp>
        <p:nvSpPr>
          <p:cNvPr id="10" name="Shape 7"/>
          <p:cNvSpPr/>
          <p:nvPr/>
        </p:nvSpPr>
        <p:spPr>
          <a:xfrm>
            <a:off x="868680" y="4142232"/>
            <a:ext cx="73152" cy="1353312"/>
          </a:xfrm>
          <a:prstGeom prst="roundRect">
            <a:avLst>
              <a:gd name="adj" fmla="val 50000"/>
            </a:avLst>
          </a:prstGeom>
          <a:solidFill>
            <a:srgbClr val="C74634"/>
          </a:solidFill>
          <a:ln w="12700">
            <a:solidFill>
              <a:srgbClr val="C74634"/>
            </a:solidFill>
            <a:prstDash val="solid"/>
          </a:ln>
        </p:spPr>
      </p:sp>
      <p:sp>
        <p:nvSpPr>
          <p:cNvPr id="11" name="Text 8"/>
          <p:cNvSpPr/>
          <p:nvPr/>
        </p:nvSpPr>
        <p:spPr>
          <a:xfrm>
            <a:off x="1161288" y="4224528"/>
            <a:ext cx="9957816" cy="365760"/>
          </a:xfrm>
          <a:prstGeom prst="rect">
            <a:avLst/>
          </a:prstGeom>
          <a:noFill/>
          <a:ln/>
        </p:spPr>
        <p:txBody>
          <a:bodyPr wrap="square" lIns="0" tIns="0" rIns="0" bIns="0" rtlCol="0" anchor="ctr"/>
          <a:lstStyle/>
          <a:p>
            <a:pPr algn="l" indent="0" marL="0">
              <a:buNone/>
            </a:pPr>
            <a:r>
              <a:rPr lang="en-US" sz="1400" b="1" dirty="0">
                <a:solidFill>
                  <a:srgbClr val="C74634"/>
                </a:solidFill>
                <a:latin typeface="맑은 고딕" pitchFamily="34" charset="0"/>
                <a:ea typeface="맑은 고딕" pitchFamily="34" charset="-122"/>
                <a:cs typeface="맑은 고딕" pitchFamily="34" charset="-120"/>
              </a:rPr>
              <a:t>왜 해시가 이기나</a:t>
            </a:r>
            <a:endParaRPr lang="en-US" sz="1400" dirty="0"/>
          </a:p>
        </p:txBody>
      </p:sp>
      <p:sp>
        <p:nvSpPr>
          <p:cNvPr id="12" name="Text 9"/>
          <p:cNvSpPr/>
          <p:nvPr/>
        </p:nvSpPr>
        <p:spPr>
          <a:xfrm>
            <a:off x="1161288" y="4681728"/>
            <a:ext cx="9957816" cy="768096"/>
          </a:xfrm>
          <a:prstGeom prst="rect">
            <a:avLst/>
          </a:prstGeom>
          <a:noFill/>
          <a:ln/>
        </p:spPr>
        <p:txBody>
          <a:bodyPr wrap="square" lIns="0" tIns="0" rIns="0" bIns="0" rtlCol="0" anchor="t"/>
          <a:lstStyle/>
          <a:p>
            <a:pPr algn="l" indent="0" marL="0">
              <a:buNone/>
            </a:pPr>
            <a:r>
              <a:rPr lang="en-US" sz="1300" dirty="0">
                <a:solidFill>
                  <a:srgbClr val="20303F"/>
                </a:solidFill>
                <a:latin typeface="맑은 고딕" pitchFamily="34" charset="0"/>
                <a:ea typeface="맑은 고딕" pitchFamily="34" charset="-122"/>
                <a:cs typeface="맑은 고딕" pitchFamily="34" charset="-120"/>
              </a:rPr>
              <a:t>group by·distinct는 '중복을 뭉치는' 일이지 '순서를 매기는' 일이 아니다 — 해시 O(n)가 정렬 O(n log n)보다 유리. 정렬 결과가 필요하면 order by를 명시(SORT 추가).</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2C3742"/>
        </a:solidFill>
      </p:bgPr>
    </p:bg>
    <p:spTree>
      <p:nvGrpSpPr>
        <p:cNvPr id="1" name=""/>
        <p:cNvGrpSpPr/>
        <p:nvPr/>
      </p:nvGrpSpPr>
      <p:grpSpPr>
        <a:xfrm>
          <a:off x="0" y="0"/>
          <a:ext cx="0" cy="0"/>
          <a:chOff x="0" y="0"/>
          <a:chExt cx="0" cy="0"/>
        </a:xfrm>
      </p:grpSpPr>
      <p:sp>
        <p:nvSpPr>
          <p:cNvPr id="2" name="Text 0"/>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3" name="Text 1"/>
          <p:cNvSpPr/>
          <p:nvPr/>
        </p:nvSpPr>
        <p:spPr>
          <a:xfrm>
            <a:off x="795528" y="1371600"/>
            <a:ext cx="4572000" cy="2011680"/>
          </a:xfrm>
          <a:prstGeom prst="rect">
            <a:avLst/>
          </a:prstGeom>
          <a:noFill/>
          <a:ln/>
        </p:spPr>
        <p:txBody>
          <a:bodyPr wrap="square" lIns="0" tIns="0" rIns="0" bIns="0" rtlCol="0" anchor="t"/>
          <a:lstStyle/>
          <a:p>
            <a:pPr algn="l" indent="0" marL="0">
              <a:buNone/>
            </a:pPr>
            <a:r>
              <a:rPr lang="en-US" sz="13000" b="1" dirty="0">
                <a:solidFill>
                  <a:srgbClr val="334155"/>
                </a:solidFill>
                <a:latin typeface="맑은 고딕" pitchFamily="34" charset="0"/>
                <a:ea typeface="맑은 고딕" pitchFamily="34" charset="-122"/>
                <a:cs typeface="맑은 고딕" pitchFamily="34" charset="-120"/>
              </a:rPr>
              <a:t>04</a:t>
            </a:r>
            <a:endParaRPr lang="en-US" sz="13000" dirty="0"/>
          </a:p>
        </p:txBody>
      </p:sp>
      <p:sp>
        <p:nvSpPr>
          <p:cNvPr id="4" name="Shape 2"/>
          <p:cNvSpPr/>
          <p:nvPr/>
        </p:nvSpPr>
        <p:spPr>
          <a:xfrm>
            <a:off x="841248" y="4114800"/>
            <a:ext cx="566928" cy="82296"/>
          </a:xfrm>
          <a:prstGeom prst="roundRect">
            <a:avLst>
              <a:gd name="adj" fmla="val 50000"/>
            </a:avLst>
          </a:prstGeom>
          <a:solidFill>
            <a:srgbClr val="C74634"/>
          </a:solidFill>
          <a:ln w="12700">
            <a:solidFill>
              <a:srgbClr val="C74634"/>
            </a:solidFill>
            <a:prstDash val="solid"/>
          </a:ln>
        </p:spPr>
      </p:sp>
      <p:sp>
        <p:nvSpPr>
          <p:cNvPr id="5" name="Text 3"/>
          <p:cNvSpPr/>
          <p:nvPr/>
        </p:nvSpPr>
        <p:spPr>
          <a:xfrm>
            <a:off x="841248" y="4343400"/>
            <a:ext cx="10506456" cy="822960"/>
          </a:xfrm>
          <a:prstGeom prst="rect">
            <a:avLst/>
          </a:prstGeom>
          <a:noFill/>
          <a:ln/>
        </p:spPr>
        <p:txBody>
          <a:bodyPr wrap="square" lIns="0" tIns="0" rIns="0" bIns="0" rtlCol="0" anchor="t"/>
          <a:lstStyle/>
          <a:p>
            <a:pPr algn="l" indent="0" marL="0">
              <a:buNone/>
            </a:pPr>
            <a:r>
              <a:rPr lang="en-US" sz="3800" b="1" dirty="0">
                <a:solidFill>
                  <a:srgbClr val="FFFFFF"/>
                </a:solidFill>
                <a:latin typeface="맑은 고딕" pitchFamily="34" charset="0"/>
                <a:ea typeface="맑은 고딕" pitchFamily="34" charset="-122"/>
                <a:cs typeface="맑은 고딕" pitchFamily="34" charset="-120"/>
              </a:rPr>
              <a:t>빈틈 &amp; 질문</a:t>
            </a:r>
            <a:endParaRPr lang="en-US" sz="3800" dirty="0"/>
          </a:p>
        </p:txBody>
      </p:sp>
      <p:sp>
        <p:nvSpPr>
          <p:cNvPr id="6" name="Text 4"/>
          <p:cNvSpPr/>
          <p:nvPr/>
        </p:nvSpPr>
        <p:spPr>
          <a:xfrm>
            <a:off x="841248" y="5230368"/>
            <a:ext cx="10506456" cy="548640"/>
          </a:xfrm>
          <a:prstGeom prst="rect">
            <a:avLst/>
          </a:prstGeom>
          <a:noFill/>
          <a:ln/>
        </p:spPr>
        <p:txBody>
          <a:bodyPr wrap="square" lIns="0" tIns="0" rIns="0" bIns="0" rtlCol="0" anchor="t"/>
          <a:lstStyle/>
          <a:p>
            <a:pPr algn="l" indent="0" marL="0">
              <a:buNone/>
            </a:pPr>
            <a:r>
              <a:rPr lang="en-US" sz="1600" dirty="0">
                <a:solidFill>
                  <a:srgbClr val="A79E90"/>
                </a:solidFill>
                <a:latin typeface="맑은 고딕" pitchFamily="34" charset="0"/>
                <a:ea typeface="맑은 고딕" pitchFamily="34" charset="-122"/>
                <a:cs typeface="맑은 고딕" pitchFamily="34" charset="-120"/>
              </a:rPr>
              <a:t>결석일 — 홈랩 재확인 목록</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8F4"/>
        </a:solidFill>
      </p:bgPr>
    </p:bg>
    <p:spTree>
      <p:nvGrpSpPr>
        <p:cNvPr id="1" name=""/>
        <p:cNvGrpSpPr/>
        <p:nvPr/>
      </p:nvGrpSpPr>
      <p:grpSpPr>
        <a:xfrm>
          <a:off x="0" y="0"/>
          <a:ext cx="0" cy="0"/>
          <a:chOff x="0" y="0"/>
          <a:chExt cx="0" cy="0"/>
        </a:xfrm>
      </p:grpSpPr>
      <p:sp>
        <p:nvSpPr>
          <p:cNvPr id="2" name="Shape 0"/>
          <p:cNvSpPr/>
          <p:nvPr/>
        </p:nvSpPr>
        <p:spPr>
          <a:xfrm>
            <a:off x="841248" y="603504"/>
            <a:ext cx="420624" cy="73152"/>
          </a:xfrm>
          <a:prstGeom prst="roundRect">
            <a:avLst>
              <a:gd name="adj" fmla="val 50000"/>
            </a:avLst>
          </a:prstGeom>
          <a:solidFill>
            <a:srgbClr val="C74634"/>
          </a:solidFill>
          <a:ln w="12700">
            <a:solidFill>
              <a:srgbClr val="C74634"/>
            </a:solidFill>
            <a:prstDash val="solid"/>
          </a:ln>
        </p:spPr>
      </p:sp>
      <p:sp>
        <p:nvSpPr>
          <p:cNvPr id="3" name="Text 1"/>
          <p:cNvSpPr/>
          <p:nvPr/>
        </p:nvSpPr>
        <p:spPr>
          <a:xfrm>
            <a:off x="841248" y="768096"/>
            <a:ext cx="9326880" cy="868680"/>
          </a:xfrm>
          <a:prstGeom prst="rect">
            <a:avLst/>
          </a:prstGeom>
          <a:noFill/>
          <a:ln/>
        </p:spPr>
        <p:txBody>
          <a:bodyPr wrap="square" lIns="0" tIns="0" rIns="0" bIns="0" rtlCol="0" anchor="t"/>
          <a:lstStyle/>
          <a:p>
            <a:pPr algn="l" indent="0" marL="0">
              <a:lnSpc>
                <a:spcPct val="104000"/>
              </a:lnSpc>
              <a:buNone/>
            </a:pPr>
            <a:r>
              <a:rPr lang="en-US" sz="2400" b="1" dirty="0">
                <a:solidFill>
                  <a:srgbClr val="20303F"/>
                </a:solidFill>
                <a:latin typeface="맑은 고딕" pitchFamily="34" charset="0"/>
                <a:ea typeface="맑은 고딕" pitchFamily="34" charset="-122"/>
                <a:cs typeface="맑은 고딕" pitchFamily="34" charset="-120"/>
              </a:rPr>
              <a:t>남긴 것 — 정렬 trace, 그리고 이제 안티패턴만 남았다</a:t>
            </a:r>
            <a:endParaRPr lang="en-US" sz="24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Text 3"/>
          <p:cNvSpPr/>
          <p:nvPr/>
        </p:nvSpPr>
        <p:spPr>
          <a:xfrm>
            <a:off x="8695944" y="603504"/>
            <a:ext cx="1463040" cy="365760"/>
          </a:xfrm>
          <a:prstGeom prst="rect">
            <a:avLst/>
          </a:prstGeom>
          <a:noFill/>
          <a:ln/>
        </p:spPr>
        <p:txBody>
          <a:bodyPr wrap="square" lIns="0" tIns="0" rIns="0" bIns="0" rtlCol="0" anchor="ctr"/>
          <a:lstStyle/>
          <a:p>
            <a:pPr algn="r" indent="0" marL="0">
              <a:buNone/>
            </a:pPr>
            <a:r>
              <a:rPr lang="en-US" sz="1100" dirty="0">
                <a:solidFill>
                  <a:srgbClr val="A79E90"/>
                </a:solidFill>
                <a:latin typeface="맑은 고딕" pitchFamily="34" charset="0"/>
                <a:ea typeface="맑은 고딕" pitchFamily="34" charset="-122"/>
                <a:cs typeface="맑은 고딕" pitchFamily="34" charset="-120"/>
              </a:rPr>
              <a:t>1 / 2</a:t>
            </a:r>
            <a:endParaRPr lang="en-US" sz="1100" dirty="0"/>
          </a:p>
        </p:txBody>
      </p:sp>
      <p:sp>
        <p:nvSpPr>
          <p:cNvPr id="6" name="Shape 4"/>
          <p:cNvSpPr/>
          <p:nvPr/>
        </p:nvSpPr>
        <p:spPr>
          <a:xfrm>
            <a:off x="841248" y="1627632"/>
            <a:ext cx="10506456" cy="10973"/>
          </a:xfrm>
          <a:prstGeom prst="rect">
            <a:avLst/>
          </a:prstGeom>
          <a:solidFill>
            <a:srgbClr val="E7E1D6"/>
          </a:solidFill>
          <a:ln w="12700">
            <a:solidFill>
              <a:srgbClr val="E7E1D6"/>
            </a:solidFill>
            <a:prstDash val="solid"/>
          </a:ln>
        </p:spPr>
      </p:sp>
      <p:sp>
        <p:nvSpPr>
          <p:cNvPr id="7" name="Text 5"/>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B6256"/>
                </a:solidFill>
                <a:latin typeface="맑은 고딕" pitchFamily="34" charset="0"/>
                <a:ea typeface="맑은 고딕" pitchFamily="34" charset="-122"/>
                <a:cs typeface="맑은 고딕" pitchFamily="34" charset="-120"/>
              </a:rPr>
              <a:t>Oracle DBA · 재분배를 없애고, 캐시를 우회하고, 메모리에 담는다</a:t>
            </a:r>
            <a:endParaRPr lang="en-US" sz="900" dirty="0"/>
          </a:p>
        </p:txBody>
      </p:sp>
      <p:sp>
        <p:nvSpPr>
          <p:cNvPr id="8" name="Text 6"/>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B6256"/>
                </a:solidFill>
                <a:latin typeface="맑은 고딕" pitchFamily="34" charset="0"/>
                <a:ea typeface="맑은 고딕" pitchFamily="34" charset="-122"/>
                <a:cs typeface="맑은 고딕" pitchFamily="34" charset="-120"/>
              </a:rPr>
              <a:t>08</a:t>
            </a:r>
            <a:endParaRPr lang="en-US" sz="900" dirty="0"/>
          </a:p>
        </p:txBody>
      </p:sp>
      <p:sp>
        <p:nvSpPr>
          <p:cNvPr id="9" name="Text 7"/>
          <p:cNvSpPr/>
          <p:nvPr/>
        </p:nvSpPr>
        <p:spPr>
          <a:xfrm>
            <a:off x="841248" y="2167128"/>
            <a:ext cx="10506456" cy="3438144"/>
          </a:xfrm>
          <a:prstGeom prst="rect">
            <a:avLst/>
          </a:prstGeom>
          <a:noFill/>
          <a:ln/>
        </p:spPr>
        <p:txBody>
          <a:bodyPr wrap="square" lIns="0" tIns="0" rIns="0" bIns="0" rtlCol="0" anchor="t"/>
          <a:lstStyle/>
          <a:p>
            <a:pPr marL="203200" indent="-203200">
              <a:spcAft>
                <a:spcPts val="800"/>
              </a:spcAft>
              <a:buSzPct val="100000"/>
              <a:buChar char="•"/>
            </a:pPr>
            <a:r>
              <a:rPr lang="en-US" sz="1600" dirty="0">
                <a:solidFill>
                  <a:srgbClr val="20303F"/>
                </a:solidFill>
                <a:latin typeface="맑은 고딕" pitchFamily="34" charset="0"/>
                <a:ea typeface="맑은 고딕" pitchFamily="34" charset="-122"/>
                <a:cs typeface="맑은 고딕" pitchFamily="34" charset="-120"/>
              </a:rPr>
              <a:t>정렬 trace — tracefile_identifier='sort' + 10046 level 8 + tkprof (알럿로그 위치에 생성)</a:t>
            </a:r>
            <a:endParaRPr lang="en-US" sz="1600" dirty="0"/>
          </a:p>
          <a:p>
            <a:pPr marL="203200" indent="-203200">
              <a:spcAft>
                <a:spcPts val="800"/>
              </a:spcAft>
              <a:buSzPct val="100000"/>
              <a:buChar char="•"/>
            </a:pPr>
            <a:r>
              <a:rPr lang="en-US" sz="1600" dirty="0">
                <a:solidFill>
                  <a:srgbClr val="20303F"/>
                </a:solidFill>
                <a:latin typeface="맑은 고딕" pitchFamily="34" charset="0"/>
                <a:ea typeface="맑은 고딕" pitchFamily="34" charset="-122"/>
                <a:cs typeface="맑은 고딕" pitchFamily="34" charset="-120"/>
              </a:rPr>
              <a:t>broadcast 검증 — pq_distribute broadcast 후 v$pq_tqstat num_rows로 작은 쪽 복제 확인</a:t>
            </a:r>
            <a:endParaRPr lang="en-US" sz="1600" dirty="0"/>
          </a:p>
          <a:p>
            <a:pPr marL="203200" indent="-203200">
              <a:spcAft>
                <a:spcPts val="800"/>
              </a:spcAft>
              <a:buSzPct val="100000"/>
              <a:buChar char="•"/>
            </a:pPr>
            <a:r>
              <a:rPr lang="en-US" sz="1600" dirty="0">
                <a:solidFill>
                  <a:srgbClr val="20303F"/>
                </a:solidFill>
                <a:latin typeface="맑은 고딕" pitchFamily="34" charset="0"/>
                <a:ea typeface="맑은 고딕" pitchFamily="34" charset="-122"/>
                <a:cs typeface="맑은 고딕" pitchFamily="34" charset="-120"/>
              </a:rPr>
              <a:t>sort_area_size 스윕 — optimal→onepass→multipass 경계와 Used-Temp 변화 관찰</a:t>
            </a:r>
            <a:endParaRPr lang="en-US" sz="1600" dirty="0"/>
          </a:p>
          <a:p>
            <a:pPr marL="203200" indent="-203200">
              <a:spcAft>
                <a:spcPts val="800"/>
              </a:spcAft>
              <a:buSzPct val="100000"/>
              <a:buChar char="•"/>
            </a:pPr>
            <a:r>
              <a:rPr lang="en-US" sz="1600" dirty="0">
                <a:solidFill>
                  <a:srgbClr val="20303F"/>
                </a:solidFill>
                <a:latin typeface="맑은 고딕" pitchFamily="34" charset="0"/>
                <a:ea typeface="맑은 고딕" pitchFamily="34" charset="-122"/>
                <a:cs typeface="맑은 고딕" pitchFamily="34" charset="-120"/>
              </a:rPr>
              <a:t>_small_table_threshold(704) 경계 — direct read vs scattered read를 10949로 확인</a:t>
            </a:r>
            <a:endParaRPr lang="en-US" sz="1600" dirty="0"/>
          </a:p>
          <a:p>
            <a:pPr marL="203200" indent="-203200">
              <a:spcAft>
                <a:spcPts val="800"/>
              </a:spcAft>
              <a:buSzPct val="100000"/>
              <a:buChar char="•"/>
            </a:pPr>
            <a:r>
              <a:rPr lang="en-US" sz="1600" dirty="0">
                <a:solidFill>
                  <a:srgbClr val="20303F"/>
                </a:solidFill>
                <a:latin typeface="맑은 고딕" pitchFamily="34" charset="0"/>
                <a:ea typeface="맑은 고딕" pitchFamily="34" charset="-122"/>
                <a:cs typeface="맑은 고딕" pitchFamily="34" charset="-120"/>
              </a:rPr>
              <a:t>다음 예고 — 병렬·PGA 정렬 완료(로드맵 14·15), 마지막 파트 16 안티패턴+힌트</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8F4"/>
        </a:solidFill>
      </p:bgPr>
    </p:bg>
    <p:spTree>
      <p:nvGrpSpPr>
        <p:cNvPr id="1" name=""/>
        <p:cNvGrpSpPr/>
        <p:nvPr/>
      </p:nvGrpSpPr>
      <p:grpSpPr>
        <a:xfrm>
          <a:off x="0" y="0"/>
          <a:ext cx="0" cy="0"/>
          <a:chOff x="0" y="0"/>
          <a:chExt cx="0" cy="0"/>
        </a:xfrm>
      </p:grpSpPr>
      <p:sp>
        <p:nvSpPr>
          <p:cNvPr id="2" name="Shape 0"/>
          <p:cNvSpPr/>
          <p:nvPr/>
        </p:nvSpPr>
        <p:spPr>
          <a:xfrm>
            <a:off x="841248" y="603504"/>
            <a:ext cx="420624" cy="73152"/>
          </a:xfrm>
          <a:prstGeom prst="roundRect">
            <a:avLst>
              <a:gd name="adj" fmla="val 50000"/>
            </a:avLst>
          </a:prstGeom>
          <a:solidFill>
            <a:srgbClr val="C74634"/>
          </a:solidFill>
          <a:ln w="12700">
            <a:solidFill>
              <a:srgbClr val="C74634"/>
            </a:solidFill>
            <a:prstDash val="solid"/>
          </a:ln>
        </p:spPr>
      </p:sp>
      <p:sp>
        <p:nvSpPr>
          <p:cNvPr id="3" name="Text 1"/>
          <p:cNvSpPr/>
          <p:nvPr/>
        </p:nvSpPr>
        <p:spPr>
          <a:xfrm>
            <a:off x="841248" y="768096"/>
            <a:ext cx="9326880" cy="868680"/>
          </a:xfrm>
          <a:prstGeom prst="rect">
            <a:avLst/>
          </a:prstGeom>
          <a:noFill/>
          <a:ln/>
        </p:spPr>
        <p:txBody>
          <a:bodyPr wrap="square" lIns="0" tIns="0" rIns="0" bIns="0" rtlCol="0" anchor="t"/>
          <a:lstStyle/>
          <a:p>
            <a:pPr algn="l" indent="0" marL="0">
              <a:lnSpc>
                <a:spcPct val="104000"/>
              </a:lnSpc>
              <a:buNone/>
            </a:pPr>
            <a:r>
              <a:rPr lang="en-US" sz="2400" b="1" dirty="0">
                <a:solidFill>
                  <a:srgbClr val="20303F"/>
                </a:solidFill>
                <a:latin typeface="맑은 고딕" pitchFamily="34" charset="0"/>
                <a:ea typeface="맑은 고딕" pitchFamily="34" charset="-122"/>
                <a:cs typeface="맑은 고딕" pitchFamily="34" charset="-120"/>
              </a:rPr>
              <a:t>남긴 것 — 정렬 trace, 그리고 이제 안티패턴만 남았다</a:t>
            </a:r>
            <a:endParaRPr lang="en-US" sz="24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Text 3"/>
          <p:cNvSpPr/>
          <p:nvPr/>
        </p:nvSpPr>
        <p:spPr>
          <a:xfrm>
            <a:off x="8695944" y="603504"/>
            <a:ext cx="1463040" cy="365760"/>
          </a:xfrm>
          <a:prstGeom prst="rect">
            <a:avLst/>
          </a:prstGeom>
          <a:noFill/>
          <a:ln/>
        </p:spPr>
        <p:txBody>
          <a:bodyPr wrap="square" lIns="0" tIns="0" rIns="0" bIns="0" rtlCol="0" anchor="ctr"/>
          <a:lstStyle/>
          <a:p>
            <a:pPr algn="r" indent="0" marL="0">
              <a:buNone/>
            </a:pPr>
            <a:r>
              <a:rPr lang="en-US" sz="1100" dirty="0">
                <a:solidFill>
                  <a:srgbClr val="A79E90"/>
                </a:solidFill>
                <a:latin typeface="맑은 고딕" pitchFamily="34" charset="0"/>
                <a:ea typeface="맑은 고딕" pitchFamily="34" charset="-122"/>
                <a:cs typeface="맑은 고딕" pitchFamily="34" charset="-120"/>
              </a:rPr>
              <a:t>2 / 2</a:t>
            </a:r>
            <a:endParaRPr lang="en-US" sz="1100" dirty="0"/>
          </a:p>
        </p:txBody>
      </p:sp>
      <p:sp>
        <p:nvSpPr>
          <p:cNvPr id="6" name="Shape 4"/>
          <p:cNvSpPr/>
          <p:nvPr/>
        </p:nvSpPr>
        <p:spPr>
          <a:xfrm>
            <a:off x="841248" y="1627632"/>
            <a:ext cx="10506456" cy="10973"/>
          </a:xfrm>
          <a:prstGeom prst="rect">
            <a:avLst/>
          </a:prstGeom>
          <a:solidFill>
            <a:srgbClr val="E7E1D6"/>
          </a:solidFill>
          <a:ln w="12700">
            <a:solidFill>
              <a:srgbClr val="E7E1D6"/>
            </a:solidFill>
            <a:prstDash val="solid"/>
          </a:ln>
        </p:spPr>
      </p:sp>
      <p:sp>
        <p:nvSpPr>
          <p:cNvPr id="7" name="Text 5"/>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B6256"/>
                </a:solidFill>
                <a:latin typeface="맑은 고딕" pitchFamily="34" charset="0"/>
                <a:ea typeface="맑은 고딕" pitchFamily="34" charset="-122"/>
                <a:cs typeface="맑은 고딕" pitchFamily="34" charset="-120"/>
              </a:rPr>
              <a:t>Oracle DBA · 재분배를 없애고, 캐시를 우회하고, 메모리에 담는다</a:t>
            </a:r>
            <a:endParaRPr lang="en-US" sz="900" dirty="0"/>
          </a:p>
        </p:txBody>
      </p:sp>
      <p:sp>
        <p:nvSpPr>
          <p:cNvPr id="8" name="Text 6"/>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B6256"/>
                </a:solidFill>
                <a:latin typeface="맑은 고딕" pitchFamily="34" charset="0"/>
                <a:ea typeface="맑은 고딕" pitchFamily="34" charset="-122"/>
                <a:cs typeface="맑은 고딕" pitchFamily="34" charset="-120"/>
              </a:rPr>
              <a:t>09</a:t>
            </a:r>
            <a:endParaRPr lang="en-US" sz="900" dirty="0"/>
          </a:p>
        </p:txBody>
      </p:sp>
      <p:sp>
        <p:nvSpPr>
          <p:cNvPr id="9" name="Shape 7"/>
          <p:cNvSpPr/>
          <p:nvPr/>
        </p:nvSpPr>
        <p:spPr>
          <a:xfrm>
            <a:off x="841248" y="3090672"/>
            <a:ext cx="10506456" cy="1591056"/>
          </a:xfrm>
          <a:prstGeom prst="roundRect">
            <a:avLst>
              <a:gd name="adj" fmla="val 6897"/>
            </a:avLst>
          </a:prstGeom>
          <a:solidFill>
            <a:srgbClr val="F4F1EA"/>
          </a:solidFill>
          <a:ln w="12700">
            <a:solidFill>
              <a:srgbClr val="E7E1D6"/>
            </a:solidFill>
            <a:prstDash val="solid"/>
          </a:ln>
          <a:effectLst>
            <a:outerShdw sx="100000" sy="100000" kx="0" ky="0" algn="bl" rotWithShape="0" blurRad="152400" dist="25400" dir="5400000">
              <a:srgbClr val="8A7F6A">
                <a:alpha val="14000"/>
              </a:srgbClr>
            </a:outerShdw>
          </a:effectLst>
        </p:spPr>
      </p:sp>
      <p:sp>
        <p:nvSpPr>
          <p:cNvPr id="10" name="Shape 8"/>
          <p:cNvSpPr/>
          <p:nvPr/>
        </p:nvSpPr>
        <p:spPr>
          <a:xfrm>
            <a:off x="868680" y="3209544"/>
            <a:ext cx="73152" cy="1353312"/>
          </a:xfrm>
          <a:prstGeom prst="roundRect">
            <a:avLst>
              <a:gd name="adj" fmla="val 50000"/>
            </a:avLst>
          </a:prstGeom>
          <a:solidFill>
            <a:srgbClr val="334155"/>
          </a:solidFill>
          <a:ln w="12700">
            <a:solidFill>
              <a:srgbClr val="334155"/>
            </a:solidFill>
            <a:prstDash val="solid"/>
          </a:ln>
        </p:spPr>
      </p:sp>
      <p:sp>
        <p:nvSpPr>
          <p:cNvPr id="11" name="Text 9"/>
          <p:cNvSpPr/>
          <p:nvPr/>
        </p:nvSpPr>
        <p:spPr>
          <a:xfrm>
            <a:off x="1161288" y="3291840"/>
            <a:ext cx="9957816" cy="365760"/>
          </a:xfrm>
          <a:prstGeom prst="rect">
            <a:avLst/>
          </a:prstGeom>
          <a:noFill/>
          <a:ln/>
        </p:spPr>
        <p:txBody>
          <a:bodyPr wrap="square" lIns="0" tIns="0" rIns="0" bIns="0" rtlCol="0" anchor="ctr"/>
          <a:lstStyle/>
          <a:p>
            <a:pPr algn="l" indent="0" marL="0">
              <a:buNone/>
            </a:pPr>
            <a:r>
              <a:rPr lang="en-US" sz="1400" b="1" dirty="0">
                <a:solidFill>
                  <a:srgbClr val="20303F"/>
                </a:solidFill>
                <a:latin typeface="맑은 고딕" pitchFamily="34" charset="0"/>
                <a:ea typeface="맑은 고딕" pitchFamily="34" charset="-122"/>
                <a:cs typeface="맑은 고딕" pitchFamily="34" charset="-120"/>
              </a:rPr>
              <a:t>오늘의 한 줄</a:t>
            </a:r>
            <a:endParaRPr lang="en-US" sz="1400" dirty="0"/>
          </a:p>
        </p:txBody>
      </p:sp>
      <p:sp>
        <p:nvSpPr>
          <p:cNvPr id="12" name="Text 10"/>
          <p:cNvSpPr/>
          <p:nvPr/>
        </p:nvSpPr>
        <p:spPr>
          <a:xfrm>
            <a:off x="1161288" y="3749040"/>
            <a:ext cx="9957816" cy="768096"/>
          </a:xfrm>
          <a:prstGeom prst="rect">
            <a:avLst/>
          </a:prstGeom>
          <a:noFill/>
          <a:ln/>
        </p:spPr>
        <p:txBody>
          <a:bodyPr wrap="square" lIns="0" tIns="0" rIns="0" bIns="0" rtlCol="0" anchor="t"/>
          <a:lstStyle/>
          <a:p>
            <a:pPr algn="l" indent="0" marL="0">
              <a:buNone/>
            </a:pPr>
            <a:r>
              <a:rPr lang="en-US" sz="1300" dirty="0">
                <a:solidFill>
                  <a:srgbClr val="20303F"/>
                </a:solidFill>
                <a:latin typeface="맑은 고딕" pitchFamily="34" charset="0"/>
                <a:ea typeface="맑은 고딕" pitchFamily="34" charset="-122"/>
                <a:cs typeface="맑은 고딕" pitchFamily="34" charset="-120"/>
              </a:rPr>
              <a:t>데이터를 옮기는 비용을 줄인다 — 재분배를 없애고(파티션 wise), 캐시를 우회하고(direct path), 메모리에 담는다(optimal sort). 세 가지 다 '이동을 줄이는' 이야기.</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2C3742"/>
        </a:solidFill>
      </p:bgPr>
    </p:bg>
    <p:spTree>
      <p:nvGrpSpPr>
        <p:cNvPr id="1" name=""/>
        <p:cNvGrpSpPr/>
        <p:nvPr/>
      </p:nvGrpSpPr>
      <p:grpSpPr>
        <a:xfrm>
          <a:off x="0" y="0"/>
          <a:ext cx="0" cy="0"/>
          <a:chOff x="0" y="0"/>
          <a:chExt cx="0" cy="0"/>
        </a:xfrm>
      </p:grpSpPr>
      <p:sp>
        <p:nvSpPr>
          <p:cNvPr id="2" name="Text 0"/>
          <p:cNvSpPr/>
          <p:nvPr/>
        </p:nvSpPr>
        <p:spPr>
          <a:xfrm>
            <a:off x="841248" y="603504"/>
            <a:ext cx="3657600" cy="365760"/>
          </a:xfrm>
          <a:prstGeom prst="rect">
            <a:avLst/>
          </a:prstGeom>
          <a:noFill/>
          <a:ln/>
        </p:spPr>
        <p:txBody>
          <a:bodyPr wrap="square" lIns="0" tIns="0" rIns="0" bIns="0" rtlCol="0" anchor="ctr"/>
          <a:lstStyle/>
          <a:p>
            <a:pPr algn="l" indent="0" marL="0">
              <a:buNone/>
            </a:pPr>
            <a:r>
              <a:rPr lang="en-US" sz="1300" b="1" spc="400" kern="0" dirty="0">
                <a:solidFill>
                  <a:srgbClr val="E89B8C"/>
                </a:solidFill>
                <a:latin typeface="맑은 고딕" pitchFamily="34" charset="0"/>
                <a:ea typeface="맑은 고딕" pitchFamily="34" charset="-122"/>
                <a:cs typeface="맑은 고딕" pitchFamily="34" charset="-120"/>
              </a:rPr>
              <a:t>ORACLE</a:t>
            </a:r>
            <a:endParaRPr lang="en-US" sz="1300" dirty="0"/>
          </a:p>
        </p:txBody>
      </p:sp>
      <p:sp>
        <p:nvSpPr>
          <p:cNvPr id="3" name="Shape 1"/>
          <p:cNvSpPr/>
          <p:nvPr/>
        </p:nvSpPr>
        <p:spPr>
          <a:xfrm>
            <a:off x="841248" y="2697480"/>
            <a:ext cx="566928" cy="82296"/>
          </a:xfrm>
          <a:prstGeom prst="roundRect">
            <a:avLst>
              <a:gd name="adj" fmla="val 50000"/>
            </a:avLst>
          </a:prstGeom>
          <a:solidFill>
            <a:srgbClr val="C74634"/>
          </a:solidFill>
          <a:ln w="12700">
            <a:solidFill>
              <a:srgbClr val="C74634"/>
            </a:solidFill>
            <a:prstDash val="solid"/>
          </a:ln>
        </p:spPr>
      </p:sp>
      <p:sp>
        <p:nvSpPr>
          <p:cNvPr id="4" name="Text 2"/>
          <p:cNvSpPr/>
          <p:nvPr/>
        </p:nvSpPr>
        <p:spPr>
          <a:xfrm>
            <a:off x="841248" y="2971800"/>
            <a:ext cx="10506456" cy="1005840"/>
          </a:xfrm>
          <a:prstGeom prst="rect">
            <a:avLst/>
          </a:prstGeom>
          <a:noFill/>
          <a:ln/>
        </p:spPr>
        <p:txBody>
          <a:bodyPr wrap="square" lIns="0" tIns="0" rIns="0" bIns="0" rtlCol="0" anchor="t"/>
          <a:lstStyle/>
          <a:p>
            <a:pPr algn="l" indent="0" marL="0">
              <a:buNone/>
            </a:pPr>
            <a:r>
              <a:rPr lang="en-US" sz="4400" b="1" dirty="0">
                <a:solidFill>
                  <a:srgbClr val="FFFFFF"/>
                </a:solidFill>
                <a:latin typeface="맑은 고딕" pitchFamily="34" charset="0"/>
                <a:ea typeface="맑은 고딕" pitchFamily="34" charset="-122"/>
                <a:cs typeface="맑은 고딕" pitchFamily="34" charset="-120"/>
              </a:rPr>
              <a:t>감사합니다</a:t>
            </a:r>
            <a:endParaRPr lang="en-US" sz="4400" dirty="0"/>
          </a:p>
        </p:txBody>
      </p:sp>
      <p:sp>
        <p:nvSpPr>
          <p:cNvPr id="5" name="Text 3"/>
          <p:cNvSpPr/>
          <p:nvPr/>
        </p:nvSpPr>
        <p:spPr>
          <a:xfrm>
            <a:off x="841248" y="4114800"/>
            <a:ext cx="10506456" cy="640080"/>
          </a:xfrm>
          <a:prstGeom prst="rect">
            <a:avLst/>
          </a:prstGeom>
          <a:noFill/>
          <a:ln/>
        </p:spPr>
        <p:txBody>
          <a:bodyPr wrap="square" lIns="0" tIns="0" rIns="0" bIns="0" rtlCol="0" anchor="t"/>
          <a:lstStyle/>
          <a:p>
            <a:pPr algn="l" indent="0" marL="0">
              <a:buNone/>
            </a:pPr>
            <a:r>
              <a:rPr lang="en-US" sz="1600" dirty="0">
                <a:solidFill>
                  <a:srgbClr val="A79E90"/>
                </a:solidFill>
                <a:latin typeface="맑은 고딕" pitchFamily="34" charset="0"/>
                <a:ea typeface="맑은 고딕" pitchFamily="34" charset="-122"/>
                <a:cs typeface="맑은 고딕" pitchFamily="34" charset="-120"/>
              </a:rPr>
              <a:t>질문이 있으면 편하게 말씀해 주세요.</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재분배를 없애고, 캐시를 우회하고, 메모리에 담는다</dc:title>
  <dc:subject>PptxGenJS Presentation</dc:subject>
  <dc:creator>Oracle DBA Study</dc:creator>
  <cp:lastModifiedBy>Oracle DBA Study</cp:lastModifiedBy>
  <cp:revision>1</cp:revision>
  <dcterms:created xsi:type="dcterms:W3CDTF">2026-07-21T00:41:34Z</dcterms:created>
  <dcterms:modified xsi:type="dcterms:W3CDTF">2026-07-21T00:41:34Z</dcterms:modified>
</cp:coreProperties>
</file>
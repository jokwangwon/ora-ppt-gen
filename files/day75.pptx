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75일차입니다. 오늘의 주제는 쿼리 변환, Query Transformation이에요. 옵티마이저가 실행계획을 만들기 전에, 결과가 동일하면서 비용이 더 적을 것 같으면 내 SQL문을 재작성합니다. 8i부터 조금씩 들어온 기능이고요. 핵심은 이겁니다 — 내가 쓴 문장과 실제 도는 문장이 다를 수 있다. 그래서 강사님이 오늘 첫 마디로 강조하신 게, 플랜에 filter 술어가 보이면 꼭 다시 확인하라는 거였어요. 오늘 그 filter가 뭔지, 변환이 뭘 해주는지를 실측으로 봅니다. 서브쿼리 하나를 놓고 filter 방식 47블록, unnest된 semi 조인 12블록, 그리고 아예 테이블을 안 읽는 조인 제거까지요.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용어 정리부터요. 서브쿼리는 하나의 SQL 안에 괄호로 묶인 별도의 쿼리 블록입니다. 현장에서 '쿼리 블록 보세요'라고 하면 서브쿼리를 확인하라는 뜻이에요. 4종을 위치로 구분합니다. 중첩 서브쿼리는 서브쿼리를 한 번 수행해서 메인을 수행하는 방식. 상호관련 서브쿼리는 메인쿼리의 컬럼이 서브쿼리 안에서 쓰이는 형태인데, 이게 중요합니다 — 메인의 행 수만큼 서브쿼리를 반복 수행해요. 오늘 filter 방식의 정체가 바로 이겁니다. 인라인 뷰는 FROM 절의 서브쿼리로 가상 집합을 만들고, 스칼라 서브쿼리는 SELECT 절 컬럼 자리에서 값 하나만 리턴하는데 cache 기능이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실측 들어갑니다. 인덱스 없는 emp·dept 사본에서, IN 서브쿼리에 no_unnest 힌트를 줘서 변환을 막았어요. 플랜에 FILTER가 뜹니다. FILTER는 메인 루프의 행마다 서브 루프를 돌리는 구조예요 — 실행 방식이 NL과 같습니다. EMP full이 107행에 11블록. 그럼 DEPT를 107번 돌았을까요? Starts를 보세요. 12입니다. 107이 아니에요. 이 수수께끼가 다음 슬라이드고요. 술어도 읽어봅시다. Id 1의 filter(IS NOT NULL)은 department_id가 null인 행을 서브쿼리 수행 없이 제외한 흔적이라 A-Rows가 106이고, Id 3의 :B1이 오늘의 핵심 단서입니다.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수수께끼를 풉니다. dept full 한 번이 2블록이에요, count(*)로 확인했습니다. 107행이 매번 돌면 최악 107 곱하기 2, 214블록이 나올 수 있어요. 그런데 실측은 서브쿼리 수행이 12번뿐이었죠. 오라클이 filter operation의 최적화를 하기 때문입니다. filter 조건의 input 값을 cache하고, 같은 input이 또 오면 읽지 않고 캐시된 값을 씁니다. 이게 filter optimization이에요. emp의 department_id 종류가 12가지라서, 딱 종류 수만큼만 돈 겁니다. 아까 본 :B1이 바로 이 input 바인딩의 흔적이고요. 그러니까 filter 방식이 무조건 나쁜 게 아니라, 값의 종류가 적으면 캐시가 구해줍니다.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no_unnest를 떼고 힌트 없이 실행합니다. 옵티마이저가 스스로 서브쿼리를 조인문으로 변환해요 — 이게 unnest입니다. 동일한 결과가 보장될 때만요. 플랜을 보면 HASH JOIN RIGHT SEMI. DEPT full 2블록, EMP full 10블록, 합쳐서 12입니다. filter 방식 47에서 12로요. 왜 이게 중요하냐면, 조인이 되는 순간 다양한 액세스 경로, 조인 방법, 조인 순서를 결정할 수 있게 됩니다. 73~74일차에 배운 3형제 도구가 전부 열리는 거예요. 서브쿼리인 채로는 그 선택지가 없습니다. 힌트는 unnest와 no_unnest 짝이고요. SEMI가 뭔지는 마지막 섹션에서 제대로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그런데 unnest된 서브쿼리의 테이블은 메인 힌트에서 이름이 안 잡혀요. leading(d,e)라고 써도 d를 못 찾습니다. 해법이 qb_name입니다, 10g부터요. 서브쿼리에 qb_name(sub)로 이름을 붙이고, 메인에서 leading(d@sub, e), use_nl(e), full(d@sub)처럼 골뱅이 블록이름으로 지정합니다. 수업에선 이걸로 unnest된 조인의 순서와 방법을 어제 3형제 실험처럼 이리저리 바꿔봤어요. d@sub를 선행으로, e를 선행으로, full을 강제로. 참고로 use_nl, use_merge, use_hash 각각의 수치 캡처는 노트에 없어서 홈랩 재현 목록에 올려뒀습니다.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강사님 경고 하나. 서브쿼리 절과 조인 절이 똑같다고 생각하면 안 됩니다. 결과 건수부터 달라요. 1대m 관계에서 조인은 m쪽만큼 행이 늘어나죠. 오늘 emp가 메인이고 dept가 서브인 건 m대1이라 조인으로 바꿔도 결과가 보장됐던 거고요. 기준은 이겁니다 — 양쪽 테이블을 비교해야 하면 조인, 한쪽 데이터만 보면 되면 서브쿼리. 그리고 함부로 수동 unnest 하지 말라고 하셨어요. dept 목록을 뽑는데 emp를 distinct로 인라인 뷰 만들어 조인하는 식의 우회, 이러시면 곤란해요, 그대로 인용합니다. 그 일은 다음 섹션의 semi 조인이 인위적 distinct 없이 해줍니다.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 변환, 조인 제거입니다. employees와 departments를 조인하는데 SELECT에 e.* 만 썼어요. 1쪽인 departments를 참조하지 않죠. 그러면 옵티마이저가 departments를 아예 읽지 않습니다. 내부적으로는 select * from employees where department_id is not null, 이 문장이 돌아가요. 전제가 있습니다 — 1쪽에 PK, m쪽에 FK 제약조건이 설정되어 있어야만 작동해요. FK가 보장하는 건 emp의 department_id는 반드시 dept에 존재한다는 사실이고, 그래서 dept를 안 읽어도 결과가 같다고 증명이 되는 겁니다. 실습에선 CTAS 사본이라 제약이 없어서 처음엔 조인 제거가 안 됐고, FK를 걸어주니 작동했어요. 파라미터와 힌트로 켜고 끌 수 있고요. FK의 덤 — 데이터 품질이 좋아지고 조인 제거가 돌아간다. 제약 때문에 PK 쪽 lock 걸리는 문제는 9i에서 해결됐습니다.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아까 미뤄둔 SEMI입니다. semi join은 IN이나 EXISTS 서브쿼리를 조인으로 바꾼 것이고, anti join은 NOT IN·NOT EXISTS를 바꾼 겁니다. 공통점 둘 — 서브쿼리를 조인으로 변환하고, 변환된 쪽은 항상 후행, inner로 처리됩니다. 차이는 방향이에요. semi는 서브쿼리에 존재하는 메인 행을 찾고, match되면 그 행의 조인 검색을 더 진행하지 않아요. 브레이크가 돌아간다고 생각하라고 하셨죠. 그래서 인위적으로 distinct를 만들 필요가 없는 겁니다. anti는 반대로 match되면 버릴 데이터고, 서브쿼리에 없으면 그게 우리가 찾는 데이터예요. 힌트는 semi가 nl_sj, merge_sj, hash_sj, anti가 nl_aj, merge_aj, hash_aj. merge_sj 플랜에 뜨는 SORT UNIQUE는 정렬이 아니라 m쪽을 1쪽 집합처럼 중복 제거하는 작업입니다.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 조인 실습의 함정 하나로 마무리합니다. dept에서 emp에 없는 부서를 찾으려고 NOT IN을 썼는데, 0건이 나왔어요. 서브쿼리 결과에 null이 하나라도 있으면 NOT IN은 아무것도 반환하지 않습니다. x가 null과 다르냐는 비교는 UNKNOWN이고, NOT IN은 조건들이 AND로 묶이니까 전체가 UNKNOWN이 돼요. AND 진리표에 입각해서 안 되는 겁니다. 그래서 서브쿼리에 where department_id is not null을 넣거나, 애초에 NOT EXISTS로 씁니다. 면접이랑 실무 단골이니 얼른 외우세요, 라고 하셨어요. 참고로 오늘은 결석이라 동기 노트 기반인데, unnest 3형제 수치, merge_sj의 SORT UNIQUE 플랜, anti 힌트 3종 플랜은 캡처가 없어서 홈랩 재현 목록으로 정리해뒀습니다. 복습 시트 맨 아래에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841248" y="603504"/>
            <a:ext cx="3657600" cy="365760"/>
          </a:xfrm>
          <a:prstGeom prst="rect">
            <a:avLst/>
          </a:prstGeom>
          <a:noFill/>
          <a:ln/>
        </p:spPr>
        <p:txBody>
          <a:bodyPr wrap="square" lIns="0" tIns="0" rIns="0" bIns="0" rtlCol="0" anchor="ctr"/>
          <a:lstStyle/>
          <a:p>
            <a:pPr algn="l" indent="0" marL="0">
              <a:buNone/>
            </a:pPr>
            <a:r>
              <a:rPr lang="en-US" sz="1300" b="1" spc="400" kern="0" dirty="0">
                <a:solidFill>
                  <a:srgbClr val="E89B8C"/>
                </a:solidFill>
                <a:latin typeface="맑은 고딕" pitchFamily="34" charset="0"/>
                <a:ea typeface="맑은 고딕" pitchFamily="34" charset="-122"/>
                <a:cs typeface="맑은 고딕" pitchFamily="34" charset="-120"/>
              </a:rPr>
              <a:t>ORACLE</a:t>
            </a:r>
            <a:endParaRPr lang="en-US" sz="1300" dirty="0"/>
          </a:p>
        </p:txBody>
      </p:sp>
      <p:sp>
        <p:nvSpPr>
          <p:cNvPr id="3" name="Text 1"/>
          <p:cNvSpPr/>
          <p:nvPr/>
        </p:nvSpPr>
        <p:spPr>
          <a:xfrm>
            <a:off x="6775704" y="603504"/>
            <a:ext cx="457200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assets/sql_tuning.html §8.1~8.5</a:t>
            </a:r>
            <a:endParaRPr lang="en-US" sz="1100" dirty="0"/>
          </a:p>
        </p:txBody>
      </p:sp>
      <p:sp>
        <p:nvSpPr>
          <p:cNvPr id="4" name="Shape 2"/>
          <p:cNvSpPr/>
          <p:nvPr/>
        </p:nvSpPr>
        <p:spPr>
          <a:xfrm>
            <a:off x="841248" y="2395728"/>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1591056" y="2286000"/>
            <a:ext cx="9692640" cy="310896"/>
          </a:xfrm>
          <a:prstGeom prst="rect">
            <a:avLst/>
          </a:prstGeom>
          <a:noFill/>
          <a:ln/>
        </p:spPr>
        <p:txBody>
          <a:bodyPr wrap="square" lIns="0" tIns="0" rIns="0" bIns="0" rtlCol="0" anchor="ctr"/>
          <a:lstStyle/>
          <a:p>
            <a:pPr algn="l" indent="0" marL="0">
              <a:buNone/>
            </a:pPr>
            <a:r>
              <a:rPr lang="en-US" sz="1300" spc="100" kern="0" dirty="0">
                <a:solidFill>
                  <a:srgbClr val="E89B8C"/>
                </a:solidFill>
                <a:latin typeface="맑은 고딕" pitchFamily="34" charset="0"/>
                <a:ea typeface="맑은 고딕" pitchFamily="34" charset="-122"/>
                <a:cs typeface="맑은 고딕" pitchFamily="34" charset="-120"/>
              </a:rPr>
              <a:t>Oracle DBA 학습 정리</a:t>
            </a:r>
            <a:endParaRPr lang="en-US" sz="1300" dirty="0"/>
          </a:p>
        </p:txBody>
      </p:sp>
      <p:sp>
        <p:nvSpPr>
          <p:cNvPr id="6" name="Text 4"/>
          <p:cNvSpPr/>
          <p:nvPr/>
        </p:nvSpPr>
        <p:spPr>
          <a:xfrm>
            <a:off x="841248" y="2788920"/>
            <a:ext cx="10698480" cy="1737360"/>
          </a:xfrm>
          <a:prstGeom prst="rect">
            <a:avLst/>
          </a:prstGeom>
          <a:noFill/>
          <a:ln/>
        </p:spPr>
        <p:txBody>
          <a:bodyPr wrap="square" lIns="0" tIns="0" rIns="0" bIns="0" rtlCol="0" anchor="t"/>
          <a:lstStyle/>
          <a:p>
            <a:pPr algn="l" indent="0" marL="0">
              <a:lnSpc>
                <a:spcPct val="104000"/>
              </a:lnSpc>
              <a:buNone/>
            </a:pPr>
            <a:r>
              <a:rPr lang="en-US" sz="4800" b="1" dirty="0">
                <a:solidFill>
                  <a:srgbClr val="FFFFFF"/>
                </a:solidFill>
                <a:latin typeface="맑은 고딕" pitchFamily="34" charset="0"/>
                <a:ea typeface="맑은 고딕" pitchFamily="34" charset="-122"/>
                <a:cs typeface="맑은 고딕" pitchFamily="34" charset="-120"/>
              </a:rPr>
              <a:t>옵티마이저는 내 SQL을 다시 쓴다</a:t>
            </a:r>
            <a:endParaRPr lang="en-US" sz="4800" dirty="0"/>
          </a:p>
        </p:txBody>
      </p:sp>
      <p:sp>
        <p:nvSpPr>
          <p:cNvPr id="7" name="Text 5"/>
          <p:cNvSpPr/>
          <p:nvPr/>
        </p:nvSpPr>
        <p:spPr>
          <a:xfrm>
            <a:off x="841248" y="4709160"/>
            <a:ext cx="10506456" cy="640080"/>
          </a:xfrm>
          <a:prstGeom prst="rect">
            <a:avLst/>
          </a:prstGeom>
          <a:noFill/>
          <a:ln/>
        </p:spPr>
        <p:txBody>
          <a:bodyPr wrap="square" lIns="0" tIns="0" rIns="0" bIns="0" rtlCol="0" anchor="t"/>
          <a:lstStyle/>
          <a:p>
            <a:pPr algn="l" indent="0" marL="0">
              <a:buNone/>
            </a:pPr>
            <a:r>
              <a:rPr lang="en-US" sz="1700" dirty="0">
                <a:solidFill>
                  <a:srgbClr val="A79E90"/>
                </a:solidFill>
                <a:latin typeface="맑은 고딕" pitchFamily="34" charset="0"/>
                <a:ea typeface="맑은 고딕" pitchFamily="34" charset="-122"/>
                <a:cs typeface="맑은 고딕" pitchFamily="34" charset="-120"/>
              </a:rPr>
              <a:t>75일차 — 쿼리 변환: filter ↔ unnest(semi·anti) · 조인 제거</a:t>
            </a:r>
            <a:endParaRPr lang="en-US" sz="1700" dirty="0"/>
          </a:p>
        </p:txBody>
      </p:sp>
      <p:sp>
        <p:nvSpPr>
          <p:cNvPr id="8" name="Text 6"/>
          <p:cNvSpPr/>
          <p:nvPr/>
        </p:nvSpPr>
        <p:spPr>
          <a:xfrm>
            <a:off x="841248" y="5989320"/>
            <a:ext cx="7315200" cy="457200"/>
          </a:xfrm>
          <a:prstGeom prst="rect">
            <a:avLst/>
          </a:prstGeom>
          <a:noFill/>
          <a:ln/>
        </p:spPr>
        <p:txBody>
          <a:bodyPr wrap="square" lIns="0" tIns="0" rIns="0" bIns="0" rtlCol="0" anchor="t"/>
          <a:lstStyle/>
          <a:p>
            <a:pPr algn="l" indent="0" marL="0">
              <a:buNone/>
            </a:pPr>
            <a:r>
              <a:rPr lang="en-US" sz="1200" dirty="0">
                <a:solidFill>
                  <a:srgbClr val="A79E90"/>
                </a:solidFill>
                <a:latin typeface="맑은 고딕" pitchFamily="34" charset="0"/>
                <a:ea typeface="맑은 고딕" pitchFamily="34" charset="-122"/>
                <a:cs typeface="맑은 고딕" pitchFamily="34" charset="-120"/>
              </a:rPr>
              <a:t>Oracle DBA 부트캠프</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5486400" cy="502920"/>
          </a:xfrm>
          <a:prstGeom prst="rect">
            <a:avLst/>
          </a:prstGeom>
          <a:noFill/>
          <a:ln/>
        </p:spPr>
        <p:txBody>
          <a:bodyPr wrap="square" lIns="0" tIns="0" rIns="0" bIns="0" rtlCol="0" anchor="t"/>
          <a:lstStyle/>
          <a:p>
            <a:pPr algn="l" indent="0" marL="0">
              <a:buNone/>
            </a:pPr>
            <a:r>
              <a:rPr lang="en-US" sz="2500" b="1" dirty="0">
                <a:solidFill>
                  <a:srgbClr val="20303F"/>
                </a:solidFill>
                <a:latin typeface="맑은 고딕" pitchFamily="34" charset="0"/>
                <a:ea typeface="맑은 고딕" pitchFamily="34" charset="-122"/>
                <a:cs typeface="맑은 고딕" pitchFamily="34" charset="-120"/>
              </a:rPr>
              <a:t>발표 흐름</a:t>
            </a:r>
            <a:endParaRPr lang="en-US" sz="2500" dirty="0"/>
          </a:p>
        </p:txBody>
      </p:sp>
      <p:sp>
        <p:nvSpPr>
          <p:cNvPr id="4" name="Text 2"/>
          <p:cNvSpPr/>
          <p:nvPr/>
        </p:nvSpPr>
        <p:spPr>
          <a:xfrm>
            <a:off x="841248" y="1316736"/>
            <a:ext cx="5486400" cy="274320"/>
          </a:xfrm>
          <a:prstGeom prst="rect">
            <a:avLst/>
          </a:prstGeom>
          <a:noFill/>
          <a:ln/>
        </p:spPr>
        <p:txBody>
          <a:bodyPr wrap="square" lIns="0" tIns="0" rIns="0" bIns="0" rtlCol="0" anchor="ctr"/>
          <a:lstStyle/>
          <a:p>
            <a:pPr algn="l" indent="0" marL="0">
              <a:buNone/>
            </a:pPr>
            <a:r>
              <a:rPr lang="en-US" sz="1100" spc="200" kern="0" dirty="0">
                <a:solidFill>
                  <a:srgbClr val="A79E90"/>
                </a:solidFill>
                <a:latin typeface="맑은 고딕" pitchFamily="34" charset="0"/>
                <a:ea typeface="맑은 고딕" pitchFamily="34" charset="-122"/>
                <a:cs typeface="맑은 고딕" pitchFamily="34" charset="-120"/>
              </a:rPr>
              <a:t>ROADMAP</a:t>
            </a:r>
            <a:endParaRPr lang="en-US" sz="1100" dirty="0"/>
          </a:p>
        </p:txBody>
      </p:sp>
      <p:sp>
        <p:nvSpPr>
          <p:cNvPr id="5" name="Text 3"/>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옵티마이저는 내 SQL을 다시 쓴다</a:t>
            </a:r>
            <a:endParaRPr lang="en-US" sz="900" dirty="0"/>
          </a:p>
        </p:txBody>
      </p:sp>
      <p:sp>
        <p:nvSpPr>
          <p:cNvPr id="8" name="Text 6"/>
          <p:cNvSpPr/>
          <p:nvPr/>
        </p:nvSpPr>
        <p:spPr>
          <a:xfrm>
            <a:off x="841248" y="173736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00</a:t>
            </a:r>
            <a:endParaRPr lang="en-US" sz="2600" dirty="0"/>
          </a:p>
        </p:txBody>
      </p:sp>
      <p:sp>
        <p:nvSpPr>
          <p:cNvPr id="9" name="Text 7"/>
          <p:cNvSpPr/>
          <p:nvPr/>
        </p:nvSpPr>
        <p:spPr>
          <a:xfrm>
            <a:off x="1755648" y="175564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오늘의 큰 그림</a:t>
            </a:r>
            <a:endParaRPr lang="en-US" sz="1700" dirty="0"/>
          </a:p>
        </p:txBody>
      </p:sp>
      <p:sp>
        <p:nvSpPr>
          <p:cNvPr id="10" name="Text 8"/>
          <p:cNvSpPr/>
          <p:nvPr/>
        </p:nvSpPr>
        <p:spPr>
          <a:xfrm>
            <a:off x="1755648" y="214884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내가 쓴 문장과 실제 도는 문장이 다르다</a:t>
            </a:r>
            <a:endParaRPr lang="en-US" sz="1200" dirty="0"/>
          </a:p>
        </p:txBody>
      </p:sp>
      <p:sp>
        <p:nvSpPr>
          <p:cNvPr id="11" name="Text 9"/>
          <p:cNvSpPr/>
          <p:nvPr/>
        </p:nvSpPr>
        <p:spPr>
          <a:xfrm>
            <a:off x="841248" y="245364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01</a:t>
            </a:r>
            <a:endParaRPr lang="en-US" sz="2600" dirty="0"/>
          </a:p>
        </p:txBody>
      </p:sp>
      <p:sp>
        <p:nvSpPr>
          <p:cNvPr id="12" name="Text 10"/>
          <p:cNvSpPr/>
          <p:nvPr/>
        </p:nvSpPr>
        <p:spPr>
          <a:xfrm>
            <a:off x="1755648" y="247192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서브쿼리 4종</a:t>
            </a:r>
            <a:endParaRPr lang="en-US" sz="1700" dirty="0"/>
          </a:p>
        </p:txBody>
      </p:sp>
      <p:sp>
        <p:nvSpPr>
          <p:cNvPr id="13" name="Text 11"/>
          <p:cNvSpPr/>
          <p:nvPr/>
        </p:nvSpPr>
        <p:spPr>
          <a:xfrm>
            <a:off x="1755648" y="286512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어디에 있느냐로 갈린다</a:t>
            </a:r>
            <a:endParaRPr lang="en-US" sz="1200" dirty="0"/>
          </a:p>
        </p:txBody>
      </p:sp>
      <p:sp>
        <p:nvSpPr>
          <p:cNvPr id="14" name="Text 12"/>
          <p:cNvSpPr/>
          <p:nvPr/>
        </p:nvSpPr>
        <p:spPr>
          <a:xfrm>
            <a:off x="841248" y="316992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02</a:t>
            </a:r>
            <a:endParaRPr lang="en-US" sz="2600" dirty="0"/>
          </a:p>
        </p:txBody>
      </p:sp>
      <p:sp>
        <p:nvSpPr>
          <p:cNvPr id="15" name="Text 13"/>
          <p:cNvSpPr/>
          <p:nvPr/>
        </p:nvSpPr>
        <p:spPr>
          <a:xfrm>
            <a:off x="1755648" y="318820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filter 방식</a:t>
            </a:r>
            <a:endParaRPr lang="en-US" sz="1700" dirty="0"/>
          </a:p>
        </p:txBody>
      </p:sp>
      <p:sp>
        <p:nvSpPr>
          <p:cNvPr id="16" name="Text 14"/>
          <p:cNvSpPr/>
          <p:nvPr/>
        </p:nvSpPr>
        <p:spPr>
          <a:xfrm>
            <a:off x="1755648" y="358140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반복이지만, 캐시가 구한다 — 47블록의 내부</a:t>
            </a:r>
            <a:endParaRPr lang="en-US" sz="1200" dirty="0"/>
          </a:p>
        </p:txBody>
      </p:sp>
      <p:sp>
        <p:nvSpPr>
          <p:cNvPr id="17" name="Text 15"/>
          <p:cNvSpPr/>
          <p:nvPr/>
        </p:nvSpPr>
        <p:spPr>
          <a:xfrm>
            <a:off x="841248" y="388620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03</a:t>
            </a:r>
            <a:endParaRPr lang="en-US" sz="2600" dirty="0"/>
          </a:p>
        </p:txBody>
      </p:sp>
      <p:sp>
        <p:nvSpPr>
          <p:cNvPr id="18" name="Text 16"/>
          <p:cNvSpPr/>
          <p:nvPr/>
        </p:nvSpPr>
        <p:spPr>
          <a:xfrm>
            <a:off x="1755648" y="390448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unnest</a:t>
            </a:r>
            <a:endParaRPr lang="en-US" sz="1700" dirty="0"/>
          </a:p>
        </p:txBody>
      </p:sp>
      <p:sp>
        <p:nvSpPr>
          <p:cNvPr id="19" name="Text 17"/>
          <p:cNvSpPr/>
          <p:nvPr/>
        </p:nvSpPr>
        <p:spPr>
          <a:xfrm>
            <a:off x="1755648" y="429768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서브쿼리를 조인으로 풀면 3형제 도구가 열린다</a:t>
            </a:r>
            <a:endParaRPr lang="en-US" sz="1200" dirty="0"/>
          </a:p>
        </p:txBody>
      </p:sp>
      <p:sp>
        <p:nvSpPr>
          <p:cNvPr id="20" name="Text 18"/>
          <p:cNvSpPr/>
          <p:nvPr/>
        </p:nvSpPr>
        <p:spPr>
          <a:xfrm>
            <a:off x="841248" y="460248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04</a:t>
            </a:r>
            <a:endParaRPr lang="en-US" sz="2600" dirty="0"/>
          </a:p>
        </p:txBody>
      </p:sp>
      <p:sp>
        <p:nvSpPr>
          <p:cNvPr id="21" name="Text 19"/>
          <p:cNvSpPr/>
          <p:nvPr/>
        </p:nvSpPr>
        <p:spPr>
          <a:xfrm>
            <a:off x="1755648" y="462076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조인 제거</a:t>
            </a:r>
            <a:endParaRPr lang="en-US" sz="1700" dirty="0"/>
          </a:p>
        </p:txBody>
      </p:sp>
      <p:sp>
        <p:nvSpPr>
          <p:cNvPr id="22" name="Text 20"/>
          <p:cNvSpPr/>
          <p:nvPr/>
        </p:nvSpPr>
        <p:spPr>
          <a:xfrm>
            <a:off x="1755648" y="501396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FK가 증명해주면, 안 읽어도 되는 테이블은 안 읽는다</a:t>
            </a:r>
            <a:endParaRPr lang="en-US" sz="1200" dirty="0"/>
          </a:p>
        </p:txBody>
      </p:sp>
      <p:sp>
        <p:nvSpPr>
          <p:cNvPr id="23" name="Text 21"/>
          <p:cNvSpPr/>
          <p:nvPr/>
        </p:nvSpPr>
        <p:spPr>
          <a:xfrm>
            <a:off x="841248" y="531876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05</a:t>
            </a:r>
            <a:endParaRPr lang="en-US" sz="2600" dirty="0"/>
          </a:p>
        </p:txBody>
      </p:sp>
      <p:sp>
        <p:nvSpPr>
          <p:cNvPr id="24" name="Text 22"/>
          <p:cNvSpPr/>
          <p:nvPr/>
        </p:nvSpPr>
        <p:spPr>
          <a:xfrm>
            <a:off x="1755648" y="533704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semi &amp; anti join</a:t>
            </a:r>
            <a:endParaRPr lang="en-US" sz="1700" dirty="0"/>
          </a:p>
        </p:txBody>
      </p:sp>
      <p:sp>
        <p:nvSpPr>
          <p:cNvPr id="25" name="Text 23"/>
          <p:cNvSpPr/>
          <p:nvPr/>
        </p:nvSpPr>
        <p:spPr>
          <a:xfrm>
            <a:off x="1755648" y="573024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만나면 멈추고, 없으면 담는다</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00</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오늘의 큰 그림</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내가 쓴 문장과 실제 도는 문장이 다르다</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쿼리 변환 — 플랜을 만들기 전에 SQL 자체를 고쳐 쓴다</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옵티마이저는 내 SQL을 다시 쓴다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01</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41248" y="2157984"/>
          <a:ext cx="10506456" cy="1682496"/>
        </p:xfrm>
        <a:graphic>
          <a:graphicData uri="http://schemas.openxmlformats.org/drawingml/2006/table">
            <a:tbl>
              <a:tblPr/>
              <a:tblGrid>
                <a:gridCol w="3502152"/>
                <a:gridCol w="3502152"/>
                <a:gridCol w="3502152"/>
              </a:tblGrid>
              <a:tr h="420624">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변환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무엇을 하나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오늘의 실측</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filter 방식 (변환 안 함)</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메인 행마다 서브쿼리 반복 — 캐시로 버팀</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Buffers 47</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unnest → semi join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서브쿼리를 조인으로 풀어 3형제 도구를 연다</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Buffers 12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조인 제거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안 읽어도 되는 1쪽 테이블을 아예 안 읽음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DEPT 접근 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023360"/>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142232"/>
            <a:ext cx="73152" cy="135331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22452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오늘의 축</a:t>
            </a:r>
            <a:endParaRPr lang="en-US" sz="1400" dirty="0"/>
          </a:p>
        </p:txBody>
      </p:sp>
      <p:sp>
        <p:nvSpPr>
          <p:cNvPr id="12" name="Text 9"/>
          <p:cNvSpPr/>
          <p:nvPr/>
        </p:nvSpPr>
        <p:spPr>
          <a:xfrm>
            <a:off x="1161288" y="4681728"/>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옵티마이저는 내 SQL을 다시 쓴다 — 서브쿼리는 filter(캐시로 버티기) ↔ unnest(semi/anti 조인), 안 읽어도 되는 테이블은 제거. 플랜의 filter 술어가 "다시 확인하라"는 신호다.</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01</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서브쿼리 4종</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어디에 있느냐로 갈린다</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서브쿼리는 '위치'로 4종이 갈린다 — 상호관련이면 메인 행 수만큼 반복</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옵티마이저는 내 SQL을 다시 쓴다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02</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41248" y="2103120"/>
          <a:ext cx="10506456" cy="2066544"/>
        </p:xfrm>
        <a:graphic>
          <a:graphicData uri="http://schemas.openxmlformats.org/drawingml/2006/table">
            <a:tbl>
              <a:tblPr/>
              <a:tblGrid>
                <a:gridCol w="5253228"/>
                <a:gridCol w="5253228"/>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종류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위치·동작</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nested (중첩)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서브쿼리를 한 번 수행해 main query를 수행</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correlated (상호관련)</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main의 컬럼을 서브쿼리가 사용 — main 행 수만큼 반복</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inline view</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FROM 절 — 가상 집합(가상 테이블) 생성</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scalar (스칼라)</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SELECT 절 컬럼 자리 — 값 1개만 리턴, cache 제공</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352544"/>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471416"/>
            <a:ext cx="73152" cy="1078992"/>
          </a:xfrm>
          <a:prstGeom prst="roundRect">
            <a:avLst>
              <a:gd name="adj" fmla="val 50000"/>
            </a:avLst>
          </a:prstGeom>
          <a:solidFill>
            <a:srgbClr val="334155"/>
          </a:solidFill>
          <a:ln w="12700">
            <a:solidFill>
              <a:srgbClr val="334155"/>
            </a:solidFill>
            <a:prstDash val="solid"/>
          </a:ln>
        </p:spPr>
      </p:sp>
      <p:sp>
        <p:nvSpPr>
          <p:cNvPr id="11" name="Text 8"/>
          <p:cNvSpPr/>
          <p:nvPr/>
        </p:nvSpPr>
        <p:spPr>
          <a:xfrm>
            <a:off x="1161288" y="4553712"/>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현장 용어</a:t>
            </a:r>
            <a:endParaRPr lang="en-US" sz="1400" dirty="0"/>
          </a:p>
        </p:txBody>
      </p:sp>
      <p:sp>
        <p:nvSpPr>
          <p:cNvPr id="12" name="Text 9"/>
          <p:cNvSpPr/>
          <p:nvPr/>
        </p:nvSpPr>
        <p:spPr>
          <a:xfrm>
            <a:off x="1161288" y="5010912"/>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"쿼리 블록 보세요" = 서브쿼리를 확인하라. 메인쿼리의 컬럼이 서브쿼리 안에 있으면 그게 상호관련 서브쿼리다.</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02</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filter 방식</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반복이지만, 캐시가 구한다 — 47블록의 내부</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FILTER는 NL과 같은 반복 구조 — 그런데 DEPT의 Starts가 12뿐이다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옵티마이저는 내 SQL을 다시 쓴다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03</a:t>
            </a:r>
            <a:endParaRPr lang="en-US" sz="900" dirty="0"/>
          </a:p>
        </p:txBody>
      </p:sp>
      <p:sp>
        <p:nvSpPr>
          <p:cNvPr id="8" name="Shape 6"/>
          <p:cNvSpPr/>
          <p:nvPr/>
        </p:nvSpPr>
        <p:spPr>
          <a:xfrm>
            <a:off x="841248" y="2034540"/>
            <a:ext cx="10506456" cy="2057400"/>
          </a:xfrm>
          <a:prstGeom prst="roundRect">
            <a:avLst>
              <a:gd name="adj" fmla="val 2667"/>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9" name="Shape 7"/>
          <p:cNvSpPr/>
          <p:nvPr/>
        </p:nvSpPr>
        <p:spPr>
          <a:xfrm>
            <a:off x="1161288" y="2290572"/>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2290572"/>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2290572"/>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2692908"/>
            <a:ext cx="9957816" cy="1234440"/>
          </a:xfrm>
          <a:prstGeom prst="rect">
            <a:avLst/>
          </a:prstGeom>
          <a:noFill/>
          <a:ln/>
        </p:spPr>
        <p:txBody>
          <a:bodyPr wrap="square" lIns="0" tIns="0" rIns="0" bIns="0" rtlCol="0" anchor="t"/>
          <a:lstStyle/>
          <a:p>
            <a:pPr algn="l" indent="0" marL="0">
              <a:buNone/>
            </a:pPr>
            <a:r>
              <a:rPr lang="en-US" sz="1250" dirty="0">
                <a:solidFill>
                  <a:srgbClr val="E7E2D8"/>
                </a:solidFill>
                <a:latin typeface="Consolas" pitchFamily="34" charset="0"/>
                <a:ea typeface="Consolas" pitchFamily="34" charset="-122"/>
                <a:cs typeface="Consolas" pitchFamily="34" charset="-120"/>
              </a:rPr>
              <a:t>| Id | Operation          | Name | Starts | A-Rows | Buffers |</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1 |  FILTER            |      |    1   |   106  |   47 |</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2 |   TABLE ACCESS FULL| EMP  |    1   |   107  |   11 |</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3 |   TABLE ACCESS FULL| DEPT |   12   |    11  |   36 |  ← 107이 아니다!</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1 - filter( IS NOT NULL)    3 - filter("DEPARTMENT_ID"=:B1)</a:t>
            </a:r>
            <a:endParaRPr lang="en-US" sz="1250" dirty="0"/>
          </a:p>
        </p:txBody>
      </p:sp>
      <p:sp>
        <p:nvSpPr>
          <p:cNvPr id="13" name="Text 11"/>
          <p:cNvSpPr/>
          <p:nvPr/>
        </p:nvSpPr>
        <p:spPr>
          <a:xfrm>
            <a:off x="841248" y="4274820"/>
            <a:ext cx="10506456" cy="14630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FILTER = 메인 행마다 서브 루프 — NL과 실행 방식이 같다</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filter(IS NOT NULL): null 행은 서브쿼리 없이 제외 → A-Rows 106</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filter(=:B1): 바인딩 흔적 — 다음 슬라이드의 열쇠</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filter optimization — 최악 214블록이 '값 종류 수' 12번으로 준다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옵티마이저는 내 SQL을 다시 쓴다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04</a:t>
            </a:r>
            <a:endParaRPr lang="en-US" sz="900" dirty="0"/>
          </a:p>
        </p:txBody>
      </p:sp>
      <p:sp>
        <p:nvSpPr>
          <p:cNvPr id="8" name="Shape 6"/>
          <p:cNvSpPr/>
          <p:nvPr/>
        </p:nvSpPr>
        <p:spPr>
          <a:xfrm>
            <a:off x="841248" y="1801368"/>
            <a:ext cx="365760" cy="365760"/>
          </a:xfrm>
          <a:prstGeom prst="ellipse">
            <a:avLst/>
          </a:prstGeom>
          <a:solidFill>
            <a:srgbClr val="C74634"/>
          </a:solidFill>
          <a:ln w="12700">
            <a:solidFill>
              <a:srgbClr val="C74634"/>
            </a:solidFill>
            <a:prstDash val="solid"/>
          </a:ln>
        </p:spPr>
      </p:sp>
      <p:sp>
        <p:nvSpPr>
          <p:cNvPr id="9" name="Text 7"/>
          <p:cNvSpPr/>
          <p:nvPr/>
        </p:nvSpPr>
        <p:spPr>
          <a:xfrm>
            <a:off x="841248" y="180136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①</a:t>
            </a:r>
            <a:endParaRPr lang="en-US" sz="1500" dirty="0"/>
          </a:p>
        </p:txBody>
      </p:sp>
      <p:sp>
        <p:nvSpPr>
          <p:cNvPr id="10" name="Text 8"/>
          <p:cNvSpPr/>
          <p:nvPr/>
        </p:nvSpPr>
        <p:spPr>
          <a:xfrm>
            <a:off x="1344168" y="1783080"/>
            <a:ext cx="9866376" cy="347472"/>
          </a:xfrm>
          <a:prstGeom prst="rect">
            <a:avLst/>
          </a:prstGeom>
          <a:noFill/>
          <a:ln/>
        </p:spPr>
        <p:txBody>
          <a:bodyPr wrap="square" lIns="0" tIns="0" rIns="0" bIns="0" rtlCol="0" anchor="ctr"/>
          <a:lstStyle/>
          <a:p>
            <a:pPr algn="l" indent="0" marL="0">
              <a:buNone/>
            </a:pPr>
            <a:r>
              <a:rPr lang="en-US" sz="1500" b="1" dirty="0">
                <a:solidFill>
                  <a:srgbClr val="20303F"/>
                </a:solidFill>
                <a:latin typeface="맑은 고딕" pitchFamily="34" charset="0"/>
                <a:ea typeface="맑은 고딕" pitchFamily="34" charset="-122"/>
                <a:cs typeface="맑은 고딕" pitchFamily="34" charset="-120"/>
              </a:rPr>
              <a:t>최악 계산</a:t>
            </a:r>
            <a:endParaRPr lang="en-US" sz="1500" dirty="0"/>
          </a:p>
        </p:txBody>
      </p:sp>
      <p:sp>
        <p:nvSpPr>
          <p:cNvPr id="11" name="Text 9"/>
          <p:cNvSpPr/>
          <p:nvPr/>
        </p:nvSpPr>
        <p:spPr>
          <a:xfrm>
            <a:off x="1344168" y="2130552"/>
            <a:ext cx="9866376" cy="292608"/>
          </a:xfrm>
          <a:prstGeom prst="rect">
            <a:avLst/>
          </a:prstGeom>
          <a:noFill/>
          <a:ln/>
        </p:spPr>
        <p:txBody>
          <a:bodyPr wrap="square" lIns="0" tIns="0" rIns="0" bIns="0" rtlCol="0" anchor="t"/>
          <a:lstStyle/>
          <a:p>
            <a:pPr algn="l" indent="0" marL="0">
              <a:buNone/>
            </a:pPr>
            <a:r>
              <a:rPr lang="en-US" sz="1300" dirty="0">
                <a:solidFill>
                  <a:srgbClr val="6B6256"/>
                </a:solidFill>
                <a:latin typeface="맑은 고딕" pitchFamily="34" charset="0"/>
                <a:ea typeface="맑은 고딕" pitchFamily="34" charset="-122"/>
                <a:cs typeface="맑은 고딕" pitchFamily="34" charset="-120"/>
              </a:rPr>
              <a:t>dept full 1회 = 2블록 → 107행 × 2 = 214블록 가능</a:t>
            </a:r>
            <a:endParaRPr lang="en-US" sz="1300" dirty="0"/>
          </a:p>
        </p:txBody>
      </p:sp>
      <p:sp>
        <p:nvSpPr>
          <p:cNvPr id="12" name="Shape 10"/>
          <p:cNvSpPr/>
          <p:nvPr/>
        </p:nvSpPr>
        <p:spPr>
          <a:xfrm>
            <a:off x="841248" y="2587752"/>
            <a:ext cx="365760" cy="365760"/>
          </a:xfrm>
          <a:prstGeom prst="ellipse">
            <a:avLst/>
          </a:prstGeom>
          <a:solidFill>
            <a:srgbClr val="C74634"/>
          </a:solidFill>
          <a:ln w="12700">
            <a:solidFill>
              <a:srgbClr val="C74634"/>
            </a:solidFill>
            <a:prstDash val="solid"/>
          </a:ln>
        </p:spPr>
      </p:sp>
      <p:sp>
        <p:nvSpPr>
          <p:cNvPr id="13" name="Text 11"/>
          <p:cNvSpPr/>
          <p:nvPr/>
        </p:nvSpPr>
        <p:spPr>
          <a:xfrm>
            <a:off x="841248" y="258775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②</a:t>
            </a:r>
            <a:endParaRPr lang="en-US" sz="1500" dirty="0"/>
          </a:p>
        </p:txBody>
      </p:sp>
      <p:sp>
        <p:nvSpPr>
          <p:cNvPr id="14" name="Text 12"/>
          <p:cNvSpPr/>
          <p:nvPr/>
        </p:nvSpPr>
        <p:spPr>
          <a:xfrm>
            <a:off x="1344168" y="2569464"/>
            <a:ext cx="9866376" cy="347472"/>
          </a:xfrm>
          <a:prstGeom prst="rect">
            <a:avLst/>
          </a:prstGeom>
          <a:noFill/>
          <a:ln/>
        </p:spPr>
        <p:txBody>
          <a:bodyPr wrap="square" lIns="0" tIns="0" rIns="0" bIns="0" rtlCol="0" anchor="ctr"/>
          <a:lstStyle/>
          <a:p>
            <a:pPr algn="l" indent="0" marL="0">
              <a:buNone/>
            </a:pPr>
            <a:r>
              <a:rPr lang="en-US" sz="1500" b="1" dirty="0">
                <a:solidFill>
                  <a:srgbClr val="20303F"/>
                </a:solidFill>
                <a:latin typeface="맑은 고딕" pitchFamily="34" charset="0"/>
                <a:ea typeface="맑은 고딕" pitchFamily="34" charset="-122"/>
                <a:cs typeface="맑은 고딕" pitchFamily="34" charset="-120"/>
              </a:rPr>
              <a:t>실측</a:t>
            </a:r>
            <a:endParaRPr lang="en-US" sz="1500" dirty="0"/>
          </a:p>
        </p:txBody>
      </p:sp>
      <p:sp>
        <p:nvSpPr>
          <p:cNvPr id="15" name="Text 13"/>
          <p:cNvSpPr/>
          <p:nvPr/>
        </p:nvSpPr>
        <p:spPr>
          <a:xfrm>
            <a:off x="1344168" y="2916936"/>
            <a:ext cx="9866376" cy="292608"/>
          </a:xfrm>
          <a:prstGeom prst="rect">
            <a:avLst/>
          </a:prstGeom>
          <a:noFill/>
          <a:ln/>
        </p:spPr>
        <p:txBody>
          <a:bodyPr wrap="square" lIns="0" tIns="0" rIns="0" bIns="0" rtlCol="0" anchor="t"/>
          <a:lstStyle/>
          <a:p>
            <a:pPr algn="l" indent="0" marL="0">
              <a:buNone/>
            </a:pPr>
            <a:r>
              <a:rPr lang="en-US" sz="1300" dirty="0">
                <a:solidFill>
                  <a:srgbClr val="6B6256"/>
                </a:solidFill>
                <a:latin typeface="맑은 고딕" pitchFamily="34" charset="0"/>
                <a:ea typeface="맑은 고딕" pitchFamily="34" charset="-122"/>
                <a:cs typeface="맑은 고딕" pitchFamily="34" charset="-120"/>
              </a:rPr>
              <a:t>서브쿼리 수행 12번뿐 — department_id 종류 수만큼만</a:t>
            </a:r>
            <a:endParaRPr lang="en-US" sz="1300" dirty="0"/>
          </a:p>
        </p:txBody>
      </p:sp>
      <p:sp>
        <p:nvSpPr>
          <p:cNvPr id="16" name="Shape 14"/>
          <p:cNvSpPr/>
          <p:nvPr/>
        </p:nvSpPr>
        <p:spPr>
          <a:xfrm>
            <a:off x="841248" y="3374136"/>
            <a:ext cx="365760" cy="365760"/>
          </a:xfrm>
          <a:prstGeom prst="ellipse">
            <a:avLst/>
          </a:prstGeom>
          <a:solidFill>
            <a:srgbClr val="C74634"/>
          </a:solidFill>
          <a:ln w="12700">
            <a:solidFill>
              <a:srgbClr val="C74634"/>
            </a:solidFill>
            <a:prstDash val="solid"/>
          </a:ln>
        </p:spPr>
      </p:sp>
      <p:sp>
        <p:nvSpPr>
          <p:cNvPr id="17" name="Text 15"/>
          <p:cNvSpPr/>
          <p:nvPr/>
        </p:nvSpPr>
        <p:spPr>
          <a:xfrm>
            <a:off x="841248" y="337413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③</a:t>
            </a:r>
            <a:endParaRPr lang="en-US" sz="1500" dirty="0"/>
          </a:p>
        </p:txBody>
      </p:sp>
      <p:sp>
        <p:nvSpPr>
          <p:cNvPr id="18" name="Text 16"/>
          <p:cNvSpPr/>
          <p:nvPr/>
        </p:nvSpPr>
        <p:spPr>
          <a:xfrm>
            <a:off x="1344168" y="3355848"/>
            <a:ext cx="9866376" cy="347472"/>
          </a:xfrm>
          <a:prstGeom prst="rect">
            <a:avLst/>
          </a:prstGeom>
          <a:noFill/>
          <a:ln/>
        </p:spPr>
        <p:txBody>
          <a:bodyPr wrap="square" lIns="0" tIns="0" rIns="0" bIns="0" rtlCol="0" anchor="ctr"/>
          <a:lstStyle/>
          <a:p>
            <a:pPr algn="l" indent="0" marL="0">
              <a:buNone/>
            </a:pPr>
            <a:r>
              <a:rPr lang="en-US" sz="1500" b="1" dirty="0">
                <a:solidFill>
                  <a:srgbClr val="20303F"/>
                </a:solidFill>
                <a:latin typeface="맑은 고딕" pitchFamily="34" charset="0"/>
                <a:ea typeface="맑은 고딕" pitchFamily="34" charset="-122"/>
                <a:cs typeface="맑은 고딕" pitchFamily="34" charset="-120"/>
              </a:rPr>
              <a:t>이유</a:t>
            </a:r>
            <a:endParaRPr lang="en-US" sz="1500" dirty="0"/>
          </a:p>
        </p:txBody>
      </p:sp>
      <p:sp>
        <p:nvSpPr>
          <p:cNvPr id="19" name="Text 17"/>
          <p:cNvSpPr/>
          <p:nvPr/>
        </p:nvSpPr>
        <p:spPr>
          <a:xfrm>
            <a:off x="1344168" y="3703320"/>
            <a:ext cx="9866376" cy="292608"/>
          </a:xfrm>
          <a:prstGeom prst="rect">
            <a:avLst/>
          </a:prstGeom>
          <a:noFill/>
          <a:ln/>
        </p:spPr>
        <p:txBody>
          <a:bodyPr wrap="square" lIns="0" tIns="0" rIns="0" bIns="0" rtlCol="0" anchor="t"/>
          <a:lstStyle/>
          <a:p>
            <a:pPr algn="l" indent="0" marL="0">
              <a:buNone/>
            </a:pPr>
            <a:r>
              <a:rPr lang="en-US" sz="1300" dirty="0">
                <a:solidFill>
                  <a:srgbClr val="6B6256"/>
                </a:solidFill>
                <a:latin typeface="맑은 고딕" pitchFamily="34" charset="0"/>
                <a:ea typeface="맑은 고딕" pitchFamily="34" charset="-122"/>
                <a:cs typeface="맑은 고딕" pitchFamily="34" charset="-120"/>
              </a:rPr>
              <a:t>input 값(:B1)을 cache — 같은 값이 오면 읽지 않는다</a:t>
            </a:r>
            <a:endParaRPr lang="en-US" sz="1300" dirty="0"/>
          </a:p>
        </p:txBody>
      </p:sp>
      <p:sp>
        <p:nvSpPr>
          <p:cNvPr id="20" name="Shape 18"/>
          <p:cNvSpPr/>
          <p:nvPr/>
        </p:nvSpPr>
        <p:spPr>
          <a:xfrm>
            <a:off x="841248" y="4370832"/>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21" name="Shape 19"/>
          <p:cNvSpPr/>
          <p:nvPr/>
        </p:nvSpPr>
        <p:spPr>
          <a:xfrm>
            <a:off x="868680" y="4489704"/>
            <a:ext cx="73152" cy="1078992"/>
          </a:xfrm>
          <a:prstGeom prst="roundRect">
            <a:avLst>
              <a:gd name="adj" fmla="val 50000"/>
            </a:avLst>
          </a:prstGeom>
          <a:solidFill>
            <a:srgbClr val="C74634"/>
          </a:solidFill>
          <a:ln w="12700">
            <a:solidFill>
              <a:srgbClr val="C74634"/>
            </a:solidFill>
            <a:prstDash val="solid"/>
          </a:ln>
        </p:spPr>
      </p:sp>
      <p:sp>
        <p:nvSpPr>
          <p:cNvPr id="22" name="Text 20"/>
          <p:cNvSpPr/>
          <p:nvPr/>
        </p:nvSpPr>
        <p:spPr>
          <a:xfrm>
            <a:off x="1161288" y="4572000"/>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filter optimization</a:t>
            </a:r>
            <a:endParaRPr lang="en-US" sz="1400" dirty="0"/>
          </a:p>
        </p:txBody>
      </p:sp>
      <p:sp>
        <p:nvSpPr>
          <p:cNvPr id="23" name="Text 21"/>
          <p:cNvSpPr/>
          <p:nvPr/>
        </p:nvSpPr>
        <p:spPr>
          <a:xfrm>
            <a:off x="1161288" y="5029200"/>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filter 조건의 input 값을 cache하고 동일 input이면 추가 읽기 없이 캐시를 쓴다. 반복 횟수는 '행 수'가 아니라 '값 종류 수'로 준다.</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03</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unnest</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서브쿼리를 조인으로 풀면 3형제 도구가 열린다</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unnest — 힌트 없이 두면 옵티마이저가 스스로 semi 조인을 만든다 (47→12)</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옵티마이저는 내 SQL을 다시 쓴다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05</a:t>
            </a:r>
            <a:endParaRPr lang="en-US" sz="900" dirty="0"/>
          </a:p>
        </p:txBody>
      </p:sp>
      <p:sp>
        <p:nvSpPr>
          <p:cNvPr id="8" name="Shape 6"/>
          <p:cNvSpPr/>
          <p:nvPr/>
        </p:nvSpPr>
        <p:spPr>
          <a:xfrm>
            <a:off x="841248" y="2327148"/>
            <a:ext cx="10506456" cy="1801368"/>
          </a:xfrm>
          <a:prstGeom prst="roundRect">
            <a:avLst>
              <a:gd name="adj" fmla="val 3046"/>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9" name="Shape 7"/>
          <p:cNvSpPr/>
          <p:nvPr/>
        </p:nvSpPr>
        <p:spPr>
          <a:xfrm>
            <a:off x="1161288" y="2583180"/>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2583180"/>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2583180"/>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2985516"/>
            <a:ext cx="9957816" cy="978408"/>
          </a:xfrm>
          <a:prstGeom prst="rect">
            <a:avLst/>
          </a:prstGeom>
          <a:noFill/>
          <a:ln/>
        </p:spPr>
        <p:txBody>
          <a:bodyPr wrap="square" lIns="0" tIns="0" rIns="0" bIns="0" rtlCol="0" anchor="t"/>
          <a:lstStyle/>
          <a:p>
            <a:pPr algn="l" indent="0" marL="0">
              <a:buNone/>
            </a:pPr>
            <a:r>
              <a:rPr lang="en-US" sz="1250" dirty="0">
                <a:solidFill>
                  <a:srgbClr val="E7E2D8"/>
                </a:solidFill>
                <a:latin typeface="Consolas" pitchFamily="34" charset="0"/>
                <a:ea typeface="Consolas" pitchFamily="34" charset="-122"/>
                <a:cs typeface="Consolas" pitchFamily="34" charset="-120"/>
              </a:rPr>
              <a:t>| Id | Operation            | Name | A-Rows | Buffers |</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1 |  HASH JOIN RIGHT SEMI|      |   106  |   12 |  ← filter 47 → 12</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2 |   TABLE ACCESS FULL  | DEPT |    27  |    2 |</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3 |   TABLE ACCESS FULL  | EMP  |   107  |   10 |</a:t>
            </a:r>
            <a:endParaRPr lang="en-US" sz="1250" dirty="0"/>
          </a:p>
        </p:txBody>
      </p:sp>
      <p:sp>
        <p:nvSpPr>
          <p:cNvPr id="13" name="Text 11"/>
          <p:cNvSpPr/>
          <p:nvPr/>
        </p:nvSpPr>
        <p:spPr>
          <a:xfrm>
            <a:off x="841248" y="4311396"/>
            <a:ext cx="10506456" cy="1133856"/>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unnest = 결과가 보장되면 서브쿼리를 조인문으로 변환</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조인이 되는 순간 — 액세스 경로·조인 방법·조인 순서를 고를 수 있다</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73~74일차의 leading·use_nl/merge/hash가 전부 통한다</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qb_name — unnest된 서브쿼리 테이블은 @블록이름으로 잡는다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옵티마이저는 내 SQL을 다시 쓴다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06</a:t>
            </a:r>
            <a:endParaRPr lang="en-US" sz="900" dirty="0"/>
          </a:p>
        </p:txBody>
      </p:sp>
      <p:sp>
        <p:nvSpPr>
          <p:cNvPr id="8" name="Shape 6"/>
          <p:cNvSpPr/>
          <p:nvPr/>
        </p:nvSpPr>
        <p:spPr>
          <a:xfrm>
            <a:off x="841248" y="2327148"/>
            <a:ext cx="10506456" cy="1801368"/>
          </a:xfrm>
          <a:prstGeom prst="roundRect">
            <a:avLst>
              <a:gd name="adj" fmla="val 3046"/>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9" name="Shape 7"/>
          <p:cNvSpPr/>
          <p:nvPr/>
        </p:nvSpPr>
        <p:spPr>
          <a:xfrm>
            <a:off x="1161288" y="2583180"/>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2583180"/>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2583180"/>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2985516"/>
            <a:ext cx="9957816" cy="978408"/>
          </a:xfrm>
          <a:prstGeom prst="rect">
            <a:avLst/>
          </a:prstGeom>
          <a:noFill/>
          <a:ln/>
        </p:spPr>
        <p:txBody>
          <a:bodyPr wrap="square" lIns="0" tIns="0" rIns="0" bIns="0" rtlCol="0" anchor="t"/>
          <a:lstStyle/>
          <a:p>
            <a:pPr algn="l" indent="0" marL="0">
              <a:buNone/>
            </a:pPr>
            <a:r>
              <a:rPr lang="en-US" sz="1250" dirty="0">
                <a:solidFill>
                  <a:srgbClr val="E7E2D8"/>
                </a:solidFill>
                <a:latin typeface="Consolas" pitchFamily="34" charset="0"/>
                <a:ea typeface="Consolas" pitchFamily="34" charset="-122"/>
                <a:cs typeface="Consolas" pitchFamily="34" charset="-120"/>
              </a:rPr>
              <a:t>select /*+ leading(d@sub,e) use_nl(e) full(d@sub) */ *</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from hr.emp e</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where department_id in</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(select /*+ unnest qb_name(sub) */ department_id from hr.dept d);</a:t>
            </a:r>
            <a:endParaRPr lang="en-US" sz="1250" dirty="0"/>
          </a:p>
        </p:txBody>
      </p:sp>
      <p:sp>
        <p:nvSpPr>
          <p:cNvPr id="13" name="Text 11"/>
          <p:cNvSpPr/>
          <p:nvPr/>
        </p:nvSpPr>
        <p:spPr>
          <a:xfrm>
            <a:off x="841248" y="4311396"/>
            <a:ext cx="10506456" cy="1133856"/>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서브쿼리에 qb_name(sub) — 쿼리 블록에 이름을 붙인다 (10g~)</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메인 힌트에서 @블록이름: leading(d@sub,e) · full(d@sub)</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이걸로 unnest된 조인의 순서·방법을 3형제처럼 제어</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서브쿼리와 조인은 같지 않다 — 결과가 보장될 때만 변환이 성립한다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옵티마이저는 내 SQL을 다시 쓴다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07</a:t>
            </a:r>
            <a:endParaRPr lang="en-US" sz="900" dirty="0"/>
          </a:p>
        </p:txBody>
      </p:sp>
      <p:sp>
        <p:nvSpPr>
          <p:cNvPr id="8" name="Text 6"/>
          <p:cNvSpPr/>
          <p:nvPr/>
        </p:nvSpPr>
        <p:spPr>
          <a:xfrm>
            <a:off x="841248" y="1737360"/>
            <a:ext cx="6675120" cy="2121408"/>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결과 건수부터 다르다 — 1:m에서 조인은 m쪽만큼 늘어난다</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m:1처럼 결과가 보장될 때만 unnest가 성립</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양쪽을 비교하면 조인, 한쪽만 보면 서브쿼리</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(select distinct ...) 인라인 뷰 우회 — "이러시면 곤란해요"</a:t>
            </a:r>
            <a:endParaRPr lang="en-US" sz="1600" dirty="0"/>
          </a:p>
        </p:txBody>
      </p:sp>
      <p:sp>
        <p:nvSpPr>
          <p:cNvPr id="9" name="Shape 7"/>
          <p:cNvSpPr/>
          <p:nvPr/>
        </p:nvSpPr>
        <p:spPr>
          <a:xfrm>
            <a:off x="7973568" y="1737360"/>
            <a:ext cx="3374136" cy="2688336"/>
          </a:xfrm>
          <a:prstGeom prst="roundRect">
            <a:avLst>
              <a:gd name="adj" fmla="val 4082"/>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8001000" y="1856232"/>
            <a:ext cx="73152" cy="2450592"/>
          </a:xfrm>
          <a:prstGeom prst="roundRect">
            <a:avLst>
              <a:gd name="adj" fmla="val 50000"/>
            </a:avLst>
          </a:prstGeom>
          <a:solidFill>
            <a:srgbClr val="334155"/>
          </a:solidFill>
          <a:ln w="12700">
            <a:solidFill>
              <a:srgbClr val="334155"/>
            </a:solidFill>
            <a:prstDash val="solid"/>
          </a:ln>
        </p:spPr>
      </p:sp>
      <p:sp>
        <p:nvSpPr>
          <p:cNvPr id="11" name="Text 9"/>
          <p:cNvSpPr/>
          <p:nvPr/>
        </p:nvSpPr>
        <p:spPr>
          <a:xfrm>
            <a:off x="8293608" y="1938528"/>
            <a:ext cx="282549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함부로 unnest(수동 변환)하지 말 것</a:t>
            </a:r>
            <a:endParaRPr lang="en-US" sz="1400" dirty="0"/>
          </a:p>
        </p:txBody>
      </p:sp>
      <p:sp>
        <p:nvSpPr>
          <p:cNvPr id="12" name="Text 10"/>
          <p:cNvSpPr/>
          <p:nvPr/>
        </p:nvSpPr>
        <p:spPr>
          <a:xfrm>
            <a:off x="8293608" y="2395728"/>
            <a:ext cx="2825496" cy="18653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중복 제거가 필요해 보이면 distinct를 만들 게 아니라 semi join이 답이다 — 짝을 하나 찾으면 더 안 뒤지므로 distinct가 필요 없다.</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04</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조인 제거</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FK가 증명해주면, 안 읽어도 되는 테이블은 안 읽는다</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조인 제거 — e.*만 조회하면 DEPT를 아예 읽지 않는다 (전제: PK·FK)</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옵티마이저는 내 SQL을 다시 쓴다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08</a:t>
            </a:r>
            <a:endParaRPr lang="en-US" sz="900" dirty="0"/>
          </a:p>
        </p:txBody>
      </p:sp>
      <p:sp>
        <p:nvSpPr>
          <p:cNvPr id="8" name="Shape 6"/>
          <p:cNvSpPr/>
          <p:nvPr/>
        </p:nvSpPr>
        <p:spPr>
          <a:xfrm>
            <a:off x="841248" y="1997964"/>
            <a:ext cx="10506456" cy="1801368"/>
          </a:xfrm>
          <a:prstGeom prst="roundRect">
            <a:avLst>
              <a:gd name="adj" fmla="val 3046"/>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9" name="Shape 7"/>
          <p:cNvSpPr/>
          <p:nvPr/>
        </p:nvSpPr>
        <p:spPr>
          <a:xfrm>
            <a:off x="1161288" y="2253996"/>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2253996"/>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2253996"/>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2656332"/>
            <a:ext cx="9957816" cy="978408"/>
          </a:xfrm>
          <a:prstGeom prst="rect">
            <a:avLst/>
          </a:prstGeom>
          <a:noFill/>
          <a:ln/>
        </p:spPr>
        <p:txBody>
          <a:bodyPr wrap="square" lIns="0" tIns="0" rIns="0" bIns="0" rtlCol="0" anchor="t"/>
          <a:lstStyle/>
          <a:p>
            <a:pPr algn="l" indent="0" marL="0">
              <a:buNone/>
            </a:pPr>
            <a:r>
              <a:rPr lang="en-US" sz="1250" dirty="0">
                <a:solidFill>
                  <a:srgbClr val="E7E2D8"/>
                </a:solidFill>
                <a:latin typeface="Consolas" pitchFamily="34" charset="0"/>
                <a:ea typeface="Consolas" pitchFamily="34" charset="-122"/>
                <a:cs typeface="Consolas" pitchFamily="34" charset="-120"/>
              </a:rPr>
              <a:t>select e.* from hr.employees e, hr.departments d</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where e.department_id = d.department_id;</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내부적으로: select * from hr.employees</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where department_id is not null;</a:t>
            </a:r>
            <a:endParaRPr lang="en-US" sz="1250" dirty="0"/>
          </a:p>
        </p:txBody>
      </p:sp>
      <p:sp>
        <p:nvSpPr>
          <p:cNvPr id="13" name="Text 11"/>
          <p:cNvSpPr/>
          <p:nvPr/>
        </p:nvSpPr>
        <p:spPr>
          <a:xfrm>
            <a:off x="841248" y="3982212"/>
            <a:ext cx="10506456" cy="1792224"/>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1:m에서 1쪽을 참조하지 않으면 → 1쪽을 읽지 않는다</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전제: PK(1쪽)·FK(m쪽) — FK가 '반드시 존재'를 증명</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_optimizer_join_elimination_enabled = TRUE(기본) · 힌트 no_eliminated_join(d)</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FK의 덤: 데이터 품질 + 조인 제거 · PK lock 문제는 9i에서 해결</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05</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semi &amp; anti join</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만나면 멈추고, 없으면 담는다</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semi는 브레이크, anti는 '없어야' 담는다 — 변환된 쪽은 항상 후행</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옵티마이저는 내 SQL을 다시 쓴다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09</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41248" y="1965960"/>
          <a:ext cx="10506456" cy="2066544"/>
        </p:xfrm>
        <a:graphic>
          <a:graphicData uri="http://schemas.openxmlformats.org/drawingml/2006/table">
            <a:tbl>
              <a:tblPr/>
              <a:tblGrid>
                <a:gridCol w="3502152"/>
                <a:gridCol w="3502152"/>
                <a:gridCol w="3502152"/>
              </a:tblGrid>
              <a:tr h="413309">
                <a:tc>
                  <a:txBody>
                    <a:bodyPr/>
                    <a:lstStyle/>
                    <a:p>
                      <a:pPr algn="l" indent="0" marL="0">
                        <a:buNone/>
                      </a:pP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semi join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anti join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찾는 것</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존재하는 메인 행 (IN·EXISTS)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존재하지 않는 행 (NOT IN·NOT EXISTS)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동작</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match되면 그 행의 검색을 멈춤(브레이크)</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match되면 버리고, 없으면 결과로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공통</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서브쿼리→조인 변환 · 변환된 쪽 항상 후행(inner)</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동일</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힌트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nl_sj · merge_sj · hash_sj</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nl_aj · merge_aj · hash_aj</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215384"/>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334256"/>
            <a:ext cx="73152" cy="135331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416552"/>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SORT UNIQUE의 정체</a:t>
            </a:r>
            <a:endParaRPr lang="en-US" sz="1400" dirty="0"/>
          </a:p>
        </p:txBody>
      </p:sp>
      <p:sp>
        <p:nvSpPr>
          <p:cNvPr id="12" name="Text 9"/>
          <p:cNvSpPr/>
          <p:nvPr/>
        </p:nvSpPr>
        <p:spPr>
          <a:xfrm>
            <a:off x="1161288" y="4873752"/>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merge_sj 플랜의 SORT UNIQUE는 정렬이 아니라 m쪽을 1쪽 집합처럼 중복 제거하는 작업 — semi가 유리한 이유는 짝을 하나 찾으면 더 안 뒤지기 때문이다.</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NOT IN은 null 하나로 전멸한다 — is not null 또는 NOT EXISTS</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옵티마이저는 내 SQL을 다시 쓴다</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10</a:t>
            </a:r>
            <a:endParaRPr lang="en-US" sz="900" dirty="0"/>
          </a:p>
        </p:txBody>
      </p:sp>
      <p:sp>
        <p:nvSpPr>
          <p:cNvPr id="8" name="Shape 6"/>
          <p:cNvSpPr/>
          <p:nvPr/>
        </p:nvSpPr>
        <p:spPr>
          <a:xfrm>
            <a:off x="841248" y="1801368"/>
            <a:ext cx="365760" cy="365760"/>
          </a:xfrm>
          <a:prstGeom prst="ellipse">
            <a:avLst/>
          </a:prstGeom>
          <a:solidFill>
            <a:srgbClr val="C74634"/>
          </a:solidFill>
          <a:ln w="12700">
            <a:solidFill>
              <a:srgbClr val="C74634"/>
            </a:solidFill>
            <a:prstDash val="solid"/>
          </a:ln>
        </p:spPr>
      </p:sp>
      <p:sp>
        <p:nvSpPr>
          <p:cNvPr id="9" name="Text 7"/>
          <p:cNvSpPr/>
          <p:nvPr/>
        </p:nvSpPr>
        <p:spPr>
          <a:xfrm>
            <a:off x="841248" y="180136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①</a:t>
            </a:r>
            <a:endParaRPr lang="en-US" sz="1500" dirty="0"/>
          </a:p>
        </p:txBody>
      </p:sp>
      <p:sp>
        <p:nvSpPr>
          <p:cNvPr id="10" name="Text 8"/>
          <p:cNvSpPr/>
          <p:nvPr/>
        </p:nvSpPr>
        <p:spPr>
          <a:xfrm>
            <a:off x="1344168" y="1783080"/>
            <a:ext cx="9866376" cy="347472"/>
          </a:xfrm>
          <a:prstGeom prst="rect">
            <a:avLst/>
          </a:prstGeom>
          <a:noFill/>
          <a:ln/>
        </p:spPr>
        <p:txBody>
          <a:bodyPr wrap="square" lIns="0" tIns="0" rIns="0" bIns="0" rtlCol="0" anchor="ctr"/>
          <a:lstStyle/>
          <a:p>
            <a:pPr algn="l" indent="0" marL="0">
              <a:buNone/>
            </a:pPr>
            <a:r>
              <a:rPr lang="en-US" sz="1500" b="1" dirty="0">
                <a:solidFill>
                  <a:srgbClr val="20303F"/>
                </a:solidFill>
                <a:latin typeface="맑은 고딕" pitchFamily="34" charset="0"/>
                <a:ea typeface="맑은 고딕" pitchFamily="34" charset="-122"/>
                <a:cs typeface="맑은 고딕" pitchFamily="34" charset="-120"/>
              </a:rPr>
              <a:t>증상</a:t>
            </a:r>
            <a:endParaRPr lang="en-US" sz="1500" dirty="0"/>
          </a:p>
        </p:txBody>
      </p:sp>
      <p:sp>
        <p:nvSpPr>
          <p:cNvPr id="11" name="Text 9"/>
          <p:cNvSpPr/>
          <p:nvPr/>
        </p:nvSpPr>
        <p:spPr>
          <a:xfrm>
            <a:off x="1344168" y="2130552"/>
            <a:ext cx="9866376" cy="292608"/>
          </a:xfrm>
          <a:prstGeom prst="rect">
            <a:avLst/>
          </a:prstGeom>
          <a:noFill/>
          <a:ln/>
        </p:spPr>
        <p:txBody>
          <a:bodyPr wrap="square" lIns="0" tIns="0" rIns="0" bIns="0" rtlCol="0" anchor="t"/>
          <a:lstStyle/>
          <a:p>
            <a:pPr algn="l" indent="0" marL="0">
              <a:buNone/>
            </a:pPr>
            <a:r>
              <a:rPr lang="en-US" sz="1300" dirty="0">
                <a:solidFill>
                  <a:srgbClr val="6B6256"/>
                </a:solidFill>
                <a:latin typeface="맑은 고딕" pitchFamily="34" charset="0"/>
                <a:ea typeface="맑은 고딕" pitchFamily="34" charset="-122"/>
                <a:cs typeface="맑은 고딕" pitchFamily="34" charset="-120"/>
              </a:rPr>
              <a:t>not in (select department_id from emp) → 0건</a:t>
            </a:r>
            <a:endParaRPr lang="en-US" sz="1300" dirty="0"/>
          </a:p>
        </p:txBody>
      </p:sp>
      <p:sp>
        <p:nvSpPr>
          <p:cNvPr id="12" name="Shape 10"/>
          <p:cNvSpPr/>
          <p:nvPr/>
        </p:nvSpPr>
        <p:spPr>
          <a:xfrm>
            <a:off x="841248" y="2587752"/>
            <a:ext cx="365760" cy="365760"/>
          </a:xfrm>
          <a:prstGeom prst="ellipse">
            <a:avLst/>
          </a:prstGeom>
          <a:solidFill>
            <a:srgbClr val="C74634"/>
          </a:solidFill>
          <a:ln w="12700">
            <a:solidFill>
              <a:srgbClr val="C74634"/>
            </a:solidFill>
            <a:prstDash val="solid"/>
          </a:ln>
        </p:spPr>
      </p:sp>
      <p:sp>
        <p:nvSpPr>
          <p:cNvPr id="13" name="Text 11"/>
          <p:cNvSpPr/>
          <p:nvPr/>
        </p:nvSpPr>
        <p:spPr>
          <a:xfrm>
            <a:off x="841248" y="258775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②</a:t>
            </a:r>
            <a:endParaRPr lang="en-US" sz="1500" dirty="0"/>
          </a:p>
        </p:txBody>
      </p:sp>
      <p:sp>
        <p:nvSpPr>
          <p:cNvPr id="14" name="Text 12"/>
          <p:cNvSpPr/>
          <p:nvPr/>
        </p:nvSpPr>
        <p:spPr>
          <a:xfrm>
            <a:off x="1344168" y="2569464"/>
            <a:ext cx="9866376" cy="347472"/>
          </a:xfrm>
          <a:prstGeom prst="rect">
            <a:avLst/>
          </a:prstGeom>
          <a:noFill/>
          <a:ln/>
        </p:spPr>
        <p:txBody>
          <a:bodyPr wrap="square" lIns="0" tIns="0" rIns="0" bIns="0" rtlCol="0" anchor="ctr"/>
          <a:lstStyle/>
          <a:p>
            <a:pPr algn="l" indent="0" marL="0">
              <a:buNone/>
            </a:pPr>
            <a:r>
              <a:rPr lang="en-US" sz="1500" b="1" dirty="0">
                <a:solidFill>
                  <a:srgbClr val="20303F"/>
                </a:solidFill>
                <a:latin typeface="맑은 고딕" pitchFamily="34" charset="0"/>
                <a:ea typeface="맑은 고딕" pitchFamily="34" charset="-122"/>
                <a:cs typeface="맑은 고딕" pitchFamily="34" charset="-120"/>
              </a:rPr>
              <a:t>원인</a:t>
            </a:r>
            <a:endParaRPr lang="en-US" sz="1500" dirty="0"/>
          </a:p>
        </p:txBody>
      </p:sp>
      <p:sp>
        <p:nvSpPr>
          <p:cNvPr id="15" name="Text 13"/>
          <p:cNvSpPr/>
          <p:nvPr/>
        </p:nvSpPr>
        <p:spPr>
          <a:xfrm>
            <a:off x="1344168" y="2916936"/>
            <a:ext cx="9866376" cy="292608"/>
          </a:xfrm>
          <a:prstGeom prst="rect">
            <a:avLst/>
          </a:prstGeom>
          <a:noFill/>
          <a:ln/>
        </p:spPr>
        <p:txBody>
          <a:bodyPr wrap="square" lIns="0" tIns="0" rIns="0" bIns="0" rtlCol="0" anchor="t"/>
          <a:lstStyle/>
          <a:p>
            <a:pPr algn="l" indent="0" marL="0">
              <a:buNone/>
            </a:pPr>
            <a:r>
              <a:rPr lang="en-US" sz="1300" dirty="0">
                <a:solidFill>
                  <a:srgbClr val="6B6256"/>
                </a:solidFill>
                <a:latin typeface="맑은 고딕" pitchFamily="34" charset="0"/>
                <a:ea typeface="맑은 고딕" pitchFamily="34" charset="-122"/>
                <a:cs typeface="맑은 고딕" pitchFamily="34" charset="-120"/>
              </a:rPr>
              <a:t>x != null은 UNKNOWN — AND 진리표로 전체가 UNKNOWN</a:t>
            </a:r>
            <a:endParaRPr lang="en-US" sz="1300" dirty="0"/>
          </a:p>
        </p:txBody>
      </p:sp>
      <p:sp>
        <p:nvSpPr>
          <p:cNvPr id="16" name="Shape 14"/>
          <p:cNvSpPr/>
          <p:nvPr/>
        </p:nvSpPr>
        <p:spPr>
          <a:xfrm>
            <a:off x="841248" y="3374136"/>
            <a:ext cx="365760" cy="365760"/>
          </a:xfrm>
          <a:prstGeom prst="ellipse">
            <a:avLst/>
          </a:prstGeom>
          <a:solidFill>
            <a:srgbClr val="C74634"/>
          </a:solidFill>
          <a:ln w="12700">
            <a:solidFill>
              <a:srgbClr val="C74634"/>
            </a:solidFill>
            <a:prstDash val="solid"/>
          </a:ln>
        </p:spPr>
      </p:sp>
      <p:sp>
        <p:nvSpPr>
          <p:cNvPr id="17" name="Text 15"/>
          <p:cNvSpPr/>
          <p:nvPr/>
        </p:nvSpPr>
        <p:spPr>
          <a:xfrm>
            <a:off x="841248" y="337413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③</a:t>
            </a:r>
            <a:endParaRPr lang="en-US" sz="1500" dirty="0"/>
          </a:p>
        </p:txBody>
      </p:sp>
      <p:sp>
        <p:nvSpPr>
          <p:cNvPr id="18" name="Text 16"/>
          <p:cNvSpPr/>
          <p:nvPr/>
        </p:nvSpPr>
        <p:spPr>
          <a:xfrm>
            <a:off x="1344168" y="3355848"/>
            <a:ext cx="9866376" cy="347472"/>
          </a:xfrm>
          <a:prstGeom prst="rect">
            <a:avLst/>
          </a:prstGeom>
          <a:noFill/>
          <a:ln/>
        </p:spPr>
        <p:txBody>
          <a:bodyPr wrap="square" lIns="0" tIns="0" rIns="0" bIns="0" rtlCol="0" anchor="ctr"/>
          <a:lstStyle/>
          <a:p>
            <a:pPr algn="l" indent="0" marL="0">
              <a:buNone/>
            </a:pPr>
            <a:r>
              <a:rPr lang="en-US" sz="1500" b="1" dirty="0">
                <a:solidFill>
                  <a:srgbClr val="20303F"/>
                </a:solidFill>
                <a:latin typeface="맑은 고딕" pitchFamily="34" charset="0"/>
                <a:ea typeface="맑은 고딕" pitchFamily="34" charset="-122"/>
                <a:cs typeface="맑은 고딕" pitchFamily="34" charset="-120"/>
              </a:rPr>
              <a:t>처방</a:t>
            </a:r>
            <a:endParaRPr lang="en-US" sz="1500" dirty="0"/>
          </a:p>
        </p:txBody>
      </p:sp>
      <p:sp>
        <p:nvSpPr>
          <p:cNvPr id="19" name="Text 17"/>
          <p:cNvSpPr/>
          <p:nvPr/>
        </p:nvSpPr>
        <p:spPr>
          <a:xfrm>
            <a:off x="1344168" y="3703320"/>
            <a:ext cx="9866376" cy="292608"/>
          </a:xfrm>
          <a:prstGeom prst="rect">
            <a:avLst/>
          </a:prstGeom>
          <a:noFill/>
          <a:ln/>
        </p:spPr>
        <p:txBody>
          <a:bodyPr wrap="square" lIns="0" tIns="0" rIns="0" bIns="0" rtlCol="0" anchor="t"/>
          <a:lstStyle/>
          <a:p>
            <a:pPr algn="l" indent="0" marL="0">
              <a:buNone/>
            </a:pPr>
            <a:r>
              <a:rPr lang="en-US" sz="1300" dirty="0">
                <a:solidFill>
                  <a:srgbClr val="6B6256"/>
                </a:solidFill>
                <a:latin typeface="맑은 고딕" pitchFamily="34" charset="0"/>
                <a:ea typeface="맑은 고딕" pitchFamily="34" charset="-122"/>
                <a:cs typeface="맑은 고딕" pitchFamily="34" charset="-120"/>
              </a:rPr>
              <a:t>서브쿼리에 is not null 추가, 또는 NOT EXISTS로</a:t>
            </a:r>
            <a:endParaRPr lang="en-US" sz="1300" dirty="0"/>
          </a:p>
        </p:txBody>
      </p:sp>
      <p:sp>
        <p:nvSpPr>
          <p:cNvPr id="20" name="Shape 18"/>
          <p:cNvSpPr/>
          <p:nvPr/>
        </p:nvSpPr>
        <p:spPr>
          <a:xfrm>
            <a:off x="841248" y="4370832"/>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21" name="Shape 19"/>
          <p:cNvSpPr/>
          <p:nvPr/>
        </p:nvSpPr>
        <p:spPr>
          <a:xfrm>
            <a:off x="868680" y="4489704"/>
            <a:ext cx="73152" cy="1078992"/>
          </a:xfrm>
          <a:prstGeom prst="roundRect">
            <a:avLst>
              <a:gd name="adj" fmla="val 50000"/>
            </a:avLst>
          </a:prstGeom>
          <a:solidFill>
            <a:srgbClr val="334155"/>
          </a:solidFill>
          <a:ln w="12700">
            <a:solidFill>
              <a:srgbClr val="334155"/>
            </a:solidFill>
            <a:prstDash val="solid"/>
          </a:ln>
        </p:spPr>
      </p:sp>
      <p:sp>
        <p:nvSpPr>
          <p:cNvPr id="22" name="Text 20"/>
          <p:cNvSpPr/>
          <p:nvPr/>
        </p:nvSpPr>
        <p:spPr>
          <a:xfrm>
            <a:off x="1161288" y="4572000"/>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면접·실무 단골</a:t>
            </a:r>
            <a:endParaRPr lang="en-US" sz="1400" dirty="0"/>
          </a:p>
        </p:txBody>
      </p:sp>
      <p:sp>
        <p:nvSpPr>
          <p:cNvPr id="23" name="Text 21"/>
          <p:cNvSpPr/>
          <p:nvPr/>
        </p:nvSpPr>
        <p:spPr>
          <a:xfrm>
            <a:off x="1161288" y="5029200"/>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NOT IN + null = 0건. anti join을 쓰려면 null을 먼저 정리해야 한다 — nl_aj·merge_aj·hash_aj는 그 다음 이야기.</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841248" y="603504"/>
            <a:ext cx="3657600" cy="365760"/>
          </a:xfrm>
          <a:prstGeom prst="rect">
            <a:avLst/>
          </a:prstGeom>
          <a:noFill/>
          <a:ln/>
        </p:spPr>
        <p:txBody>
          <a:bodyPr wrap="square" lIns="0" tIns="0" rIns="0" bIns="0" rtlCol="0" anchor="ctr"/>
          <a:lstStyle/>
          <a:p>
            <a:pPr algn="l" indent="0" marL="0">
              <a:buNone/>
            </a:pPr>
            <a:r>
              <a:rPr lang="en-US" sz="1300" b="1" spc="400" kern="0" dirty="0">
                <a:solidFill>
                  <a:srgbClr val="E89B8C"/>
                </a:solidFill>
                <a:latin typeface="맑은 고딕" pitchFamily="34" charset="0"/>
                <a:ea typeface="맑은 고딕" pitchFamily="34" charset="-122"/>
                <a:cs typeface="맑은 고딕" pitchFamily="34" charset="-120"/>
              </a:rPr>
              <a:t>ORACLE</a:t>
            </a:r>
            <a:endParaRPr lang="en-US" sz="1300" dirty="0"/>
          </a:p>
        </p:txBody>
      </p:sp>
      <p:sp>
        <p:nvSpPr>
          <p:cNvPr id="3" name="Shape 1"/>
          <p:cNvSpPr/>
          <p:nvPr/>
        </p:nvSpPr>
        <p:spPr>
          <a:xfrm>
            <a:off x="841248" y="2697480"/>
            <a:ext cx="566928" cy="82296"/>
          </a:xfrm>
          <a:prstGeom prst="roundRect">
            <a:avLst>
              <a:gd name="adj" fmla="val 50000"/>
            </a:avLst>
          </a:prstGeom>
          <a:solidFill>
            <a:srgbClr val="C74634"/>
          </a:solidFill>
          <a:ln w="12700">
            <a:solidFill>
              <a:srgbClr val="C74634"/>
            </a:solidFill>
            <a:prstDash val="solid"/>
          </a:ln>
        </p:spPr>
      </p:sp>
      <p:sp>
        <p:nvSpPr>
          <p:cNvPr id="4" name="Text 2"/>
          <p:cNvSpPr/>
          <p:nvPr/>
        </p:nvSpPr>
        <p:spPr>
          <a:xfrm>
            <a:off x="841248" y="2971800"/>
            <a:ext cx="10506456" cy="1005840"/>
          </a:xfrm>
          <a:prstGeom prst="rect">
            <a:avLst/>
          </a:prstGeom>
          <a:noFill/>
          <a:ln/>
        </p:spPr>
        <p:txBody>
          <a:bodyPr wrap="square" lIns="0" tIns="0" rIns="0" bIns="0" rtlCol="0" anchor="t"/>
          <a:lstStyle/>
          <a:p>
            <a:pPr algn="l" indent="0" marL="0">
              <a:buNone/>
            </a:pPr>
            <a:r>
              <a:rPr lang="en-US" sz="4400" b="1" dirty="0">
                <a:solidFill>
                  <a:srgbClr val="FFFFFF"/>
                </a:solidFill>
                <a:latin typeface="맑은 고딕" pitchFamily="34" charset="0"/>
                <a:ea typeface="맑은 고딕" pitchFamily="34" charset="-122"/>
                <a:cs typeface="맑은 고딕" pitchFamily="34" charset="-120"/>
              </a:rPr>
              <a:t>감사합니다</a:t>
            </a:r>
            <a:endParaRPr lang="en-US" sz="4400" dirty="0"/>
          </a:p>
        </p:txBody>
      </p:sp>
      <p:sp>
        <p:nvSpPr>
          <p:cNvPr id="5" name="Text 3"/>
          <p:cNvSpPr/>
          <p:nvPr/>
        </p:nvSpPr>
        <p:spPr>
          <a:xfrm>
            <a:off x="841248" y="4114800"/>
            <a:ext cx="10506456" cy="64008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질문이 있으면 편하게 말씀해 주세요.</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옵티마이저는 내 SQL을 다시 쓴다</dc:title>
  <dc:subject>PptxGenJS Presentation</dc:subject>
  <dc:creator>Oracle DBA Study</dc:creator>
  <cp:lastModifiedBy>Oracle DBA Study</cp:lastModifiedBy>
  <cp:revision>1</cp:revision>
  <dcterms:created xsi:type="dcterms:W3CDTF">2026-07-06T07:56:25Z</dcterms:created>
  <dcterms:modified xsi:type="dcterms:W3CDTF">2026-07-06T07:56:25Z</dcterms:modified>
</cp:coreProperties>
</file>
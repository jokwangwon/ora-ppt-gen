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수업은 크게 두 덩어리였습니다. 전반부는 커서 공유예요. 파싱이 비싸니까 같은 SQL이면 커서를 공유한다 — 여기까진 내부구조편에서 배운 이득입니다. 그런데 공유란 플랜 하나를 여럿이 같이 쓴다는 뜻이에요. 우리 emp 테이블은 50번 부서가 45명, 10번 부서가 1명으로 치우쳐 있죠. 하나의 플랜이 누군가에겐 최악이 됩니다. 그 함정의 이름이 bind peeking이고, 오라클의 해법이 Adaptive Cursor Sharing입니다. 후반부는 파티션이에요. 인덱스의 random I/O는 일정량을 넘으면 full scan보다 못하고, full scan도 부담스럽다 — 그 사이의 세 번째 길이 읽을 범위 자체를 설계로 줄이는 파티션입니다. 두 축 모두 '실행계획을 실측으로 확인한다'는 이 수업의 원칙 그대로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employee_id 100부터 104까지, 값만 다른 다섯 문장을 리터럴로 실행했습니다. v$sql을 보면 sql_id가 다섯 개 — 5g6ygund8wa94부터 dczf7ww35yukm까지 전부 다릅니다. hash_value도 다 달라요. 그런데 plan_hash_value는 다섯 개 모두 2466118986으로 같습니다. 여기서 해시 두 개를 구분해야 해요. sql_id와 hash_value는 SQL 텍스트의 해시입니다. 텍스트가 한 글자라도 다르면 다른 커서예요. plan_hash_value는 실행계획의 해시고요. 즉 다섯 커서가 하는 일은 완전히 같은데 — INDEX UNIQUE SCAN에 TABLE ACCESS BY INDEX ROWID — LOADS가 1씩이니 hard parse를 다섯 번 한 겁니다. shared pool 다섯 자리를 차지하고, 만들 때마다 라이브러리 캐시 latch를 잡았어요. 값만 다른 SQL이 수만 개인 시스템이면 이게 그대로 장애 재료입니다.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cursor_sharing 파라미터의 기본값은 EXACT입니다. SQL문이 똑같은 경우에만 공유해요. FORCE로 바꾸면, 다른 문자열은 모두 같고 일부 값만 다를 때 그 값들을 바인드 변수로 대체해서 공유 가능한 커서를 만듭니다. 같은 다섯 문장을 FORCE에서 실행하니 v$sql에 커서가 하나만 남았어요. 텍스트가 employee_id = 콜론 SYS_B_0으로 바뀌었고, PARSE_CALLS 5, LOADS 1, EXECUTIONS 5 — hard parse 한 번에 다섯 번 실행입니다. employee_id는 unique 컬럼이라 어떤 값이든 결과가 1행이에요. 플랜을 공유해도 손해 볼 사람이 없으니 여기까지는 순수 이득입니다. 다만 FORCE는 응급처치예요. 앱이 리터럴을 남발할 때 서버 쪽에서 강제로 바인드화하는 수단이고, 근본 해법은 앱이 바인드 변수를 쓰는 겁니다. 그리고 다음 장면부터 — 바인드에는 바인드의 함정이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바인드 변수에는 딜레마가 있습니다. 파싱 시점에는 값을 모른다 — 값을 모르면 9장에서 만든 히스토그램을 쓸 수가 없어요. 그래서 오라클은 _optim_peek_user_binds, 바인드 변수를 포함한 SQL이 최초로 실행될 때 그 바인드 값을 훔쳐봐서 실행계획을 수립합니다. 문제는 그렇게 정해진 플랜을 이후의 모든 값이 soft parse로 재사용한다는 거예요. 그림처럼 50이 첫 값이면 — 50은 45명이니 full이 이득이라 full 플랜이 확정되고 — 그다음에 오는 10은 1명이라 index가 이득인데도 full을 씁니다. 중요한 건, 히스토그램이 없을 때는 이 함정이 보이지 않는다는 겁니다. 실측에서 10, 20, 50, 80을 어떤 순서로 실행해도 E-Rows 10의 index 플랜이었어요. 107행 나누기 11종, 균등 가정에선 값이 뭐든 계산이 같으니까 플랜이 갈릴 일 자체가 없는 거죠. 함정의 재료는 peeking 더하기 치우친 분포 더하기 히스토그램, 셋의 조합입니다.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department_id에 size 12로 히스토그램을 만들었습니다. FREQUENCY — 이제 옵티마이저는 50번이 45명, 10번이 1명이라는 걸 알아요. 이 상태에서 FORCE로 리터럴 50을 먼저 실행한 재현 실측 — 공유 커서의 플랜이 통째로 TABLE ACCESS FULL로 바뀌었습니다. plan_hash_value 3956160932, E-Rows 45, 비용 2. peek된 50에게는 full이 정답이 맞아요. 하지만 뒤따라온 10, 1명짜리도 같은 full 플랜을 씁니다. 첫 값이 10이었다면 반대로 전원이 index 플랜을 썼겠죠. 한 가지 정직하게 기록할 것 — 같은 조건의 다른 실측 한 번은 E-Rows만 45로 재산정된 index 플랜, 비용 6이 나왔습니다. LOADS 3, 커서가 재적재된 흔적이 있었는데 노트에 원인 설명은 없어요. 강사님 결론은 '히스토그램 후 peek이 50이면 full' — 홈랩에서 flush로 순서를 통제해서 재확인해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이번엔 진짜 바인드 변수로요. var b_id에 10을 넣고 먼저 실행하면 E-Rows 1의 index 플랜이 확정됩니다. 이어서 50으로 바꿔 재실행하면 같은 커서를 재사용 — v$sql_bind_capture를 조회하면 VALUE_STRING이 10입니다. 커서가 잡은 첫 캡처 값만 보여줘요. 이 커서의 플랜을 누가 정했는지 추적하는 증거인 거죠. 반대로 flush 하고 50을 먼저 넣으면 full 플랜이 확정되고 10도 full을 씁니다. 그럼 얼마나 손해일까요. allstats last로 값별 실측을 했습니다. 10은 index로 버퍼 3 — 적정해요. 50은 그 index 플랜을 재사용해서 버퍼 9. 그런데 full 힌트를 줘보면 버퍼 6이면 됩니다. 즉 50은 첫 값이 10이었다는 이유만으로 실행할 때마다 3블록씩 손해를 봐요. 107행짜리 실습이라 3블록이지, 치우친 대용량 테이블이면 이 차이가 그대로 사고가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오라클의 해법이 Adaptive Cursor Sharing입니다. 히든 파라미터 두 개를 x$ksppi에서 확인했어요. _optim_peek_user_binds가 peeking 자체고, _optimizer_adaptive_cursor_sharing은 peeking으로 최초 플랜이 결정되더라도 이후 새로운 바인드 값이 사용되면 이에 맞게 실행계획을 세분화한다 — child cursor를 생성한다는 뜻입니다. 바인드 값의 분포에 따라 플랜을 분리해서 쓰는 거죠. v$sql에 플래그 두 개가 있습니다. is_bind_sensitive는 이 커서가 바인드 값에 민감하다는 표시 — 오라클이 값별 실행 통계를 관찰하고 있다는 뜻이에요. is_bind_aware는 실제로 값에 따라 적절한 child cursor를 만들어 운용하는 단계입니다. 수업 실측은 50과 10을 반복한 뒤 Y, N — 관찰은 시작됐지만 아직 분화 전 상태까지 봤어요. 같은 커서를 값을 바꿔가며 더 실행하면 aware가 Y로 넘어가면서 child가 갈라지는 순간이 올 텐데, 그 전환 시점은 홈랩 관찰 과제로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ACS를 기다리는 대신 SQL 자체를 분기하는 수동 처방도 배웠습니다. 요구는 50과 80 부서가 들어오면 full scan, 그 외는 index range scan. 콜론 b_id in 50, 80 조건을 단 full 힌트 브랜치와, not in 조건을 단 index 힌트 브랜치를 union all로 묶습니다. b_id가 50일 때 실측 — 위 브랜치의 FILTER 게이트는 참이라 full scan이 45행에 버퍼 6으로 살고, 아래 브랜치의 FILTER는 거짓이라 자식들이 Starts 0, 버퍼 0입니다. 이 FILTER의 조건, 콜론 B_ID가 50이거나 80 — 테이블 필터가 아니라 브랜치를 실행할지 말지 정하는 게이트예요. PL/SQL이라면 같은 분기를 if문으로, 50이나 80이면 full 힌트 쿼리, 아니면 index 힌트 쿼리를 bulk collect로 실행하면 됩니다. 이 무늬를 기억해 두세요 — 곧 나올 파티션 뷰의 NULL IS NOT NULL이 정확히 같은 원리입니다.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후반부, 파티션입니다. 파티션은 테이블이나 인덱스를 파티션 단위로 나눠 저장하는 객체예요. 하나의 테이블이라도 파티션 키에 따라 물리적으로 별도의 세그먼트에 저장됩니다. 왜 나눌까요. 관리 측면 — 보관주기가 지난 데이터를 별도로 백업하고 지우는 일이 아주 쉬워집니다. 파티션만 떼어내면 되니까요. 성능 측면 — 대용량에서 인덱스를 이용한 테이블 액세스, 즉 random I/O는 일정량이 넘는 순간 full table scan보다 못한 결과가 나옵니다. 그렇다고 full scan도 부담스럽죠. 파티션으로 나누면 full scan을 하더라도 일부 파티션 세그먼트만 읽고 멈출 수 있습니다. 이게 partition pruning이에요. 그림처럼 hire_date 조건이 있으면 P2005 세그먼트 하나만 읽는 겁니다. 읽을 범위를 쿼리 튜닝이 아니라 설계로 줄이는 것 — 그래서 파티션은 만들 때가 아니라 설계할 때 결정되는 튜닝입니다.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7버전까지는 파티션 테이블이 없어서 뷰로 흉내를 냈습니다. 테이블 셋에 CHECK 제약을 걸어요 — p1은 dept 20 미만, p2는 20 이상 30 미만, p3는 30 이상 40 미만. 그리고 union all 뷰로 묶습니다. dept=10을 조회한 실측 플랜이 오늘의 백미인데요. P1은 Starts 1로 실제로 읽고 버퍼 7. 그런데 P2와 P3 브랜치 위에는 FILTER, 조건이 NULL IS NOT NULL입니다. 항상 거짓이죠. 그래서 자식들이 Starts 0, 버퍼 0이에요. CHECK 제약이 'P2에는 dept 10이 있을 수 없다'를 보증하니까, 옵티마이저가 그 브랜치를 항상 거짓인 게이트로 잠근 겁니다. 조건 없이 조회하면 세 테이블 전부, 18블록이고요. 방금 §10.7에서 본 분기 union all의 FILTER 게이트와 완전히 같은 무늬라는 것, 눈치채셨나요. 지금도 플랜에서 NULL IS NOT NULL을 보면 파티션 뷰나 분기 union all이 있구나 하고 읽으면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정식 파티션 네 가지를 연혁 순으로 훑었습니다. range, 8버전 — hire_date 같은 키에 less than 경계로 나눕니다. 이력성 데이터 조회에 유리하고, 파티션 키는 최대 16개 컬럼, 경계 밖 값은 maxvalue 파티션이 받아요. 경계는 딕셔너리 dba_tab_partitions의 high_value에서 확인하고, partition(p2004) 문법으로 특정 파티션만 조회할 수 있습니다. interval, 11g — range 정의에 interval, 예를 들어 numtoyminterval 1년을 더하면 경계 밖 데이터가 올 때 파티션이 자동으로 추가됩니다. 실측에서 SYS_P769, SYS_P770이 자동 생성됐어요. maxvalue 없이도 넘치는 값이 수용되는 게 range와의 차이입니다. hash, 8i — 키에 해시 함수를 적용해 나눕니다. 경계가 없으니 high_value도 비어 있어요. 유일하고 분포가 고른 컬럼, 2의 제곱 개수가 권장이고, pruning은 equal과 in 조건에서만 됩니다. 목적이 달라요 — 검색 범위 축소보다 동시 입력이 많은 테이블의 경합을 흩는 겁니다. list, 9i — 값 목록으로 나누고 단일 컬럼만 됩니다. default 파티션이 목록 밖 값과 NULL을 받아요 — 실측에서 부서가 NULL인 Grant가 default에 저장됐습니다.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조합 파티션입니다. range salary로 1차 분배하고 서브 파티션 hash employee_id 4개 — 4 곱하기 4, 세그먼트 16개입니다. 세그먼트는 서브 파티션마다 하나씩이에요. 연혁은 range-hash가 8i, range-list가 9i, 나머지 조합이 11g. 플랜을 읽는 법이 오늘의 마무리인데, display_cursor에 +partition 옵션을 주면 Pstart와 Pstop 컬럼이 나옵니다. 규칙은 하나예요 — 조건이 키를 확정하면 그 축은 SINGLE, 못 하면 ALL. salary 5000 미만에 employee_id 200이면 두 축 다 SINGLE, 16분의 1만 읽고 버퍼 3. salary 조건만 있으면 RANGE SINGLE에 HASH ALL — 그 파티션의 서브 4개를 Starts 4로 다 읽어요. 반대로 employee_id만 있으면 RANGE ALL에 HASH SINGLE — 파티션마다 같은 해시 위치를 4번 찾아갑니다. 재미있는 건 번호예요. salary 2만 초과에서 HASH ALL이 13에서 16으로 찍히는데, 서브 파티션 번호가 전체 일련번호거든요. 4번 파티션의 h1부터 h4가 13부터 16인 겁니다. E-Rows가 산수였듯 pruning도 산수입니다 — where절에 어느 키를 넣느냐가 읽을 세그먼트 수를 정해요. where절 설계가 곧 I/O 설계입니다.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정직하게 남긴 빈틈입니다. 첫째, 히스토그램 생성 후 FORCE 실측 한 번이 E-Rows 45짜리 index 플랜, 비용 6으로 나왔어요. 재현에선 full이 나왔고요. LOADS 3, 커서 재적재 흔적만 있고 노트에 설명이 없습니다. flush로 순서를 통제해 재확인해야 해요. 둘째, ACS의 aware 전환 — 수업은 sensitive Y, aware N까지만 봤습니다. 값을 바꿔가며 몇 번을 더 실행하면 child cursor가 갈라지는지, v$sql에서 child_number가 늘어나는 순간을 잡아보는 게 관찰 과제예요. 셋째, 어제 78일차의 미해결 — SA_REP과 dept 50의 E-Rows 10도 아직 남아 있죠. 다음 시간은 파티션이 이어질 가능성이 큽니다 — 파티션 인덱스, local과 global이 남아 있으니까요. 로드맵 11이 진행 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Text 1"/>
          <p:cNvSpPr/>
          <p:nvPr/>
        </p:nvSpPr>
        <p:spPr>
          <a:xfrm>
            <a:off x="6775704" y="603504"/>
            <a:ext cx="457200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assets/sql_tuning.html §10~§11</a:t>
            </a:r>
            <a:endParaRPr lang="en-US" sz="1100" dirty="0"/>
          </a:p>
        </p:txBody>
      </p:sp>
      <p:sp>
        <p:nvSpPr>
          <p:cNvPr id="4" name="Shape 2"/>
          <p:cNvSpPr/>
          <p:nvPr/>
        </p:nvSpPr>
        <p:spPr>
          <a:xfrm>
            <a:off x="841248" y="2395728"/>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1591056" y="2286000"/>
            <a:ext cx="9692640" cy="310896"/>
          </a:xfrm>
          <a:prstGeom prst="rect">
            <a:avLst/>
          </a:prstGeom>
          <a:noFill/>
          <a:ln/>
        </p:spPr>
        <p:txBody>
          <a:bodyPr wrap="square" lIns="0" tIns="0" rIns="0" bIns="0" rtlCol="0" anchor="ctr"/>
          <a:lstStyle/>
          <a:p>
            <a:pPr algn="l" indent="0" marL="0">
              <a:buNone/>
            </a:pPr>
            <a:r>
              <a:rPr lang="en-US" sz="1300" spc="100" kern="0" dirty="0">
                <a:solidFill>
                  <a:srgbClr val="E89B8C"/>
                </a:solidFill>
                <a:latin typeface="맑은 고딕" pitchFamily="34" charset="0"/>
                <a:ea typeface="맑은 고딕" pitchFamily="34" charset="-122"/>
                <a:cs typeface="맑은 고딕" pitchFamily="34" charset="-120"/>
              </a:rPr>
              <a:t>Oracle DBA 학습 정리</a:t>
            </a:r>
            <a:endParaRPr lang="en-US" sz="1300" dirty="0"/>
          </a:p>
        </p:txBody>
      </p:sp>
      <p:sp>
        <p:nvSpPr>
          <p:cNvPr id="6" name="Text 4"/>
          <p:cNvSpPr/>
          <p:nvPr/>
        </p:nvSpPr>
        <p:spPr>
          <a:xfrm>
            <a:off x="841248" y="2788920"/>
            <a:ext cx="10698480" cy="1737360"/>
          </a:xfrm>
          <a:prstGeom prst="rect">
            <a:avLst/>
          </a:prstGeom>
          <a:noFill/>
          <a:ln/>
        </p:spPr>
        <p:txBody>
          <a:bodyPr wrap="square" lIns="0" tIns="0" rIns="0" bIns="0" rtlCol="0" anchor="t"/>
          <a:lstStyle/>
          <a:p>
            <a:pPr algn="l" indent="0" marL="0">
              <a:lnSpc>
                <a:spcPct val="104000"/>
              </a:lnSpc>
              <a:buNone/>
            </a:pPr>
            <a:r>
              <a:rPr lang="en-US" sz="4800" b="1" dirty="0">
                <a:solidFill>
                  <a:srgbClr val="FFFFFF"/>
                </a:solidFill>
                <a:latin typeface="맑은 고딕" pitchFamily="34" charset="0"/>
                <a:ea typeface="맑은 고딕" pitchFamily="34" charset="-122"/>
                <a:cs typeface="맑은 고딕" pitchFamily="34" charset="-120"/>
              </a:rPr>
              <a:t>첫 값이 모두의 플랜을 정한다 — 그리고 파티션</a:t>
            </a:r>
            <a:endParaRPr lang="en-US" sz="4800" dirty="0"/>
          </a:p>
        </p:txBody>
      </p:sp>
      <p:sp>
        <p:nvSpPr>
          <p:cNvPr id="7" name="Text 5"/>
          <p:cNvSpPr/>
          <p:nvPr/>
        </p:nvSpPr>
        <p:spPr>
          <a:xfrm>
            <a:off x="841248" y="4709160"/>
            <a:ext cx="10506456" cy="640080"/>
          </a:xfrm>
          <a:prstGeom prst="rect">
            <a:avLst/>
          </a:prstGeom>
          <a:noFill/>
          <a:ln/>
        </p:spPr>
        <p:txBody>
          <a:bodyPr wrap="square" lIns="0" tIns="0" rIns="0" bIns="0" rtlCol="0" anchor="t"/>
          <a:lstStyle/>
          <a:p>
            <a:pPr algn="l" indent="0" marL="0">
              <a:buNone/>
            </a:pPr>
            <a:r>
              <a:rPr lang="en-US" sz="1700" dirty="0">
                <a:solidFill>
                  <a:srgbClr val="A79E90"/>
                </a:solidFill>
                <a:latin typeface="맑은 고딕" pitchFamily="34" charset="0"/>
                <a:ea typeface="맑은 고딕" pitchFamily="34" charset="-122"/>
                <a:cs typeface="맑은 고딕" pitchFamily="34" charset="-120"/>
              </a:rPr>
              <a:t>79일차 — 커서 공유 · bind peeking · ACS · 파티션 5형제와 Pstart/Pstop</a:t>
            </a:r>
            <a:endParaRPr lang="en-US" sz="1700" dirty="0"/>
          </a:p>
        </p:txBody>
      </p:sp>
      <p:sp>
        <p:nvSpPr>
          <p:cNvPr id="8" name="Text 6"/>
          <p:cNvSpPr/>
          <p:nvPr/>
        </p:nvSpPr>
        <p:spPr>
          <a:xfrm>
            <a:off x="841248" y="5989320"/>
            <a:ext cx="7315200" cy="457200"/>
          </a:xfrm>
          <a:prstGeom prst="rect">
            <a:avLst/>
          </a:prstGeom>
          <a:noFill/>
          <a:ln/>
        </p:spPr>
        <p:txBody>
          <a:bodyPr wrap="square" lIns="0" tIns="0" rIns="0" bIns="0" rtlCol="0" anchor="t"/>
          <a:lstStyle/>
          <a:p>
            <a:pPr algn="l" indent="0" marL="0">
              <a:buNone/>
            </a:pPr>
            <a:r>
              <a:rPr lang="en-US" sz="1200" dirty="0">
                <a:solidFill>
                  <a:srgbClr val="A79E90"/>
                </a:solidFill>
                <a:latin typeface="맑은 고딕" pitchFamily="34" charset="0"/>
                <a:ea typeface="맑은 고딕" pitchFamily="34" charset="-122"/>
                <a:cs typeface="맑은 고딕" pitchFamily="34" charset="-120"/>
              </a:rPr>
              <a:t>Oracle DBA 부트캠프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5486400" cy="502920"/>
          </a:xfrm>
          <a:prstGeom prst="rect">
            <a:avLst/>
          </a:prstGeom>
          <a:noFill/>
          <a:ln/>
        </p:spPr>
        <p:txBody>
          <a:bodyPr wrap="square" lIns="0" tIns="0" rIns="0" bIns="0" rtlCol="0" anchor="t"/>
          <a:lstStyle/>
          <a:p>
            <a:pPr algn="l" indent="0" marL="0">
              <a:buNone/>
            </a:pPr>
            <a:r>
              <a:rPr lang="en-US" sz="2500" b="1" dirty="0">
                <a:solidFill>
                  <a:srgbClr val="20303F"/>
                </a:solidFill>
                <a:latin typeface="맑은 고딕" pitchFamily="34" charset="0"/>
                <a:ea typeface="맑은 고딕" pitchFamily="34" charset="-122"/>
                <a:cs typeface="맑은 고딕" pitchFamily="34" charset="-120"/>
              </a:rPr>
              <a:t>발표 흐름</a:t>
            </a:r>
            <a:endParaRPr lang="en-US" sz="2500" dirty="0"/>
          </a:p>
        </p:txBody>
      </p:sp>
      <p:sp>
        <p:nvSpPr>
          <p:cNvPr id="4" name="Text 2"/>
          <p:cNvSpPr/>
          <p:nvPr/>
        </p:nvSpPr>
        <p:spPr>
          <a:xfrm>
            <a:off x="841248" y="1316736"/>
            <a:ext cx="5486400" cy="274320"/>
          </a:xfrm>
          <a:prstGeom prst="rect">
            <a:avLst/>
          </a:prstGeom>
          <a:noFill/>
          <a:ln/>
        </p:spPr>
        <p:txBody>
          <a:bodyPr wrap="square" lIns="0" tIns="0" rIns="0" bIns="0" rtlCol="0" anchor="ctr"/>
          <a:lstStyle/>
          <a:p>
            <a:pPr algn="l" indent="0" marL="0">
              <a:buNone/>
            </a:pPr>
            <a:r>
              <a:rPr lang="en-US" sz="1100" spc="200" kern="0" dirty="0">
                <a:solidFill>
                  <a:srgbClr val="A79E90"/>
                </a:solidFill>
                <a:latin typeface="맑은 고딕" pitchFamily="34" charset="0"/>
                <a:ea typeface="맑은 고딕" pitchFamily="34" charset="-122"/>
                <a:cs typeface="맑은 고딕" pitchFamily="34" charset="-120"/>
              </a:rPr>
              <a:t>ROADMAP</a:t>
            </a:r>
            <a:endParaRPr lang="en-US" sz="1100" dirty="0"/>
          </a:p>
        </p:txBody>
      </p:sp>
      <p:sp>
        <p:nvSpPr>
          <p:cNvPr id="5" name="Text 3"/>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8" name="Text 6"/>
          <p:cNvSpPr/>
          <p:nvPr/>
        </p:nvSpPr>
        <p:spPr>
          <a:xfrm>
            <a:off x="841248" y="17373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00</a:t>
            </a:r>
            <a:endParaRPr lang="en-US" sz="2600" dirty="0"/>
          </a:p>
        </p:txBody>
      </p:sp>
      <p:sp>
        <p:nvSpPr>
          <p:cNvPr id="9" name="Text 7"/>
          <p:cNvSpPr/>
          <p:nvPr/>
        </p:nvSpPr>
        <p:spPr>
          <a:xfrm>
            <a:off x="1755648" y="17556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오늘의 큰 그림</a:t>
            </a:r>
            <a:endParaRPr lang="en-US" sz="1700" dirty="0"/>
          </a:p>
        </p:txBody>
      </p:sp>
      <p:sp>
        <p:nvSpPr>
          <p:cNvPr id="10" name="Text 8"/>
          <p:cNvSpPr/>
          <p:nvPr/>
        </p:nvSpPr>
        <p:spPr>
          <a:xfrm>
            <a:off x="1755648" y="21488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공유의 이득 · 공유의 함정 · 읽을 범위의 설계</a:t>
            </a:r>
            <a:endParaRPr lang="en-US" sz="1200" dirty="0"/>
          </a:p>
        </p:txBody>
      </p:sp>
      <p:sp>
        <p:nvSpPr>
          <p:cNvPr id="11" name="Text 9"/>
          <p:cNvSpPr/>
          <p:nvPr/>
        </p:nvSpPr>
        <p:spPr>
          <a:xfrm>
            <a:off x="841248" y="245364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01</a:t>
            </a:r>
            <a:endParaRPr lang="en-US" sz="2600" dirty="0"/>
          </a:p>
        </p:txBody>
      </p:sp>
      <p:sp>
        <p:nvSpPr>
          <p:cNvPr id="12" name="Text 10"/>
          <p:cNvSpPr/>
          <p:nvPr/>
        </p:nvSpPr>
        <p:spPr>
          <a:xfrm>
            <a:off x="1755648" y="247192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커서 공유</a:t>
            </a:r>
            <a:endParaRPr lang="en-US" sz="1700" dirty="0"/>
          </a:p>
        </p:txBody>
      </p:sp>
      <p:sp>
        <p:nvSpPr>
          <p:cNvPr id="13" name="Text 11"/>
          <p:cNvSpPr/>
          <p:nvPr/>
        </p:nvSpPr>
        <p:spPr>
          <a:xfrm>
            <a:off x="1755648" y="286512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리터럴 5문장 = 커서 5개 · cursor_sharing=FORCE</a:t>
            </a:r>
            <a:endParaRPr lang="en-US" sz="1200" dirty="0"/>
          </a:p>
        </p:txBody>
      </p:sp>
      <p:sp>
        <p:nvSpPr>
          <p:cNvPr id="14" name="Text 12"/>
          <p:cNvSpPr/>
          <p:nvPr/>
        </p:nvSpPr>
        <p:spPr>
          <a:xfrm>
            <a:off x="841248" y="316992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02</a:t>
            </a:r>
            <a:endParaRPr lang="en-US" sz="2600" dirty="0"/>
          </a:p>
        </p:txBody>
      </p:sp>
      <p:sp>
        <p:nvSpPr>
          <p:cNvPr id="15" name="Text 13"/>
          <p:cNvSpPr/>
          <p:nvPr/>
        </p:nvSpPr>
        <p:spPr>
          <a:xfrm>
            <a:off x="1755648" y="318820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Bind Peeking</a:t>
            </a:r>
            <a:endParaRPr lang="en-US" sz="1700" dirty="0"/>
          </a:p>
        </p:txBody>
      </p:sp>
      <p:sp>
        <p:nvSpPr>
          <p:cNvPr id="16" name="Text 14"/>
          <p:cNvSpPr/>
          <p:nvPr/>
        </p:nvSpPr>
        <p:spPr>
          <a:xfrm>
            <a:off x="1755648" y="358140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첫 hard parse가 값을 훔쳐본다</a:t>
            </a:r>
            <a:endParaRPr lang="en-US" sz="1200" dirty="0"/>
          </a:p>
        </p:txBody>
      </p:sp>
      <p:sp>
        <p:nvSpPr>
          <p:cNvPr id="17" name="Text 15"/>
          <p:cNvSpPr/>
          <p:nvPr/>
        </p:nvSpPr>
        <p:spPr>
          <a:xfrm>
            <a:off x="841248" y="388620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03</a:t>
            </a:r>
            <a:endParaRPr lang="en-US" sz="2600" dirty="0"/>
          </a:p>
        </p:txBody>
      </p:sp>
      <p:sp>
        <p:nvSpPr>
          <p:cNvPr id="18" name="Text 16"/>
          <p:cNvSpPr/>
          <p:nvPr/>
        </p:nvSpPr>
        <p:spPr>
          <a:xfrm>
            <a:off x="1755648" y="390448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ACS와 수동 처방</a:t>
            </a:r>
            <a:endParaRPr lang="en-US" sz="1700" dirty="0"/>
          </a:p>
        </p:txBody>
      </p:sp>
      <p:sp>
        <p:nvSpPr>
          <p:cNvPr id="19" name="Text 17"/>
          <p:cNvSpPr/>
          <p:nvPr/>
        </p:nvSpPr>
        <p:spPr>
          <a:xfrm>
            <a:off x="1755648" y="429768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sensitive → aware · FILTER 게이트 분기</a:t>
            </a:r>
            <a:endParaRPr lang="en-US" sz="1200" dirty="0"/>
          </a:p>
        </p:txBody>
      </p:sp>
      <p:sp>
        <p:nvSpPr>
          <p:cNvPr id="20" name="Text 18"/>
          <p:cNvSpPr/>
          <p:nvPr/>
        </p:nvSpPr>
        <p:spPr>
          <a:xfrm>
            <a:off x="841248" y="460248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04</a:t>
            </a:r>
            <a:endParaRPr lang="en-US" sz="2600" dirty="0"/>
          </a:p>
        </p:txBody>
      </p:sp>
      <p:sp>
        <p:nvSpPr>
          <p:cNvPr id="21" name="Text 19"/>
          <p:cNvSpPr/>
          <p:nvPr/>
        </p:nvSpPr>
        <p:spPr>
          <a:xfrm>
            <a:off x="1755648" y="462076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파티션</a:t>
            </a:r>
            <a:endParaRPr lang="en-US" sz="1700" dirty="0"/>
          </a:p>
        </p:txBody>
      </p:sp>
      <p:sp>
        <p:nvSpPr>
          <p:cNvPr id="22" name="Text 20"/>
          <p:cNvSpPr/>
          <p:nvPr/>
        </p:nvSpPr>
        <p:spPr>
          <a:xfrm>
            <a:off x="1755648" y="501396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읽을 범위를 설계로 줄인다 — pruning</a:t>
            </a:r>
            <a:endParaRPr lang="en-US" sz="1200" dirty="0"/>
          </a:p>
        </p:txBody>
      </p:sp>
      <p:sp>
        <p:nvSpPr>
          <p:cNvPr id="23" name="Text 21"/>
          <p:cNvSpPr/>
          <p:nvPr/>
        </p:nvSpPr>
        <p:spPr>
          <a:xfrm>
            <a:off x="841248" y="5318760"/>
            <a:ext cx="822960" cy="579120"/>
          </a:xfrm>
          <a:prstGeom prst="rect">
            <a:avLst/>
          </a:prstGeom>
          <a:noFill/>
          <a:ln/>
        </p:spPr>
        <p:txBody>
          <a:bodyPr wrap="square" lIns="0" tIns="0" rIns="0" bIns="0" rtlCol="0" anchor="t"/>
          <a:lstStyle/>
          <a:p>
            <a:pPr algn="l" indent="0" marL="0">
              <a:buNone/>
            </a:pPr>
            <a:r>
              <a:rPr lang="en-US" sz="2600" b="1" dirty="0">
                <a:solidFill>
                  <a:srgbClr val="C74634"/>
                </a:solidFill>
                <a:latin typeface="맑은 고딕" pitchFamily="34" charset="0"/>
                <a:ea typeface="맑은 고딕" pitchFamily="34" charset="-122"/>
                <a:cs typeface="맑은 고딕" pitchFamily="34" charset="-120"/>
              </a:rPr>
              <a:t>05</a:t>
            </a:r>
            <a:endParaRPr lang="en-US" sz="2600" dirty="0"/>
          </a:p>
        </p:txBody>
      </p:sp>
      <p:sp>
        <p:nvSpPr>
          <p:cNvPr id="24" name="Text 22"/>
          <p:cNvSpPr/>
          <p:nvPr/>
        </p:nvSpPr>
        <p:spPr>
          <a:xfrm>
            <a:off x="1755648" y="5337048"/>
            <a:ext cx="9592056" cy="365760"/>
          </a:xfrm>
          <a:prstGeom prst="rect">
            <a:avLst/>
          </a:prstGeom>
          <a:noFill/>
          <a:ln/>
        </p:spPr>
        <p:txBody>
          <a:bodyPr wrap="square" lIns="0" tIns="0" rIns="0" bIns="0" rtlCol="0" anchor="t"/>
          <a:lstStyle/>
          <a:p>
            <a:pPr algn="l" indent="0" marL="0">
              <a:buNone/>
            </a:pPr>
            <a:r>
              <a:rPr lang="en-US" sz="1700" b="1" dirty="0">
                <a:solidFill>
                  <a:srgbClr val="20303F"/>
                </a:solidFill>
                <a:latin typeface="맑은 고딕" pitchFamily="34" charset="0"/>
                <a:ea typeface="맑은 고딕" pitchFamily="34" charset="-122"/>
                <a:cs typeface="맑은 고딕" pitchFamily="34" charset="-120"/>
              </a:rPr>
              <a:t>빈틈 &amp; 질문</a:t>
            </a:r>
            <a:endParaRPr lang="en-US" sz="1700" dirty="0"/>
          </a:p>
        </p:txBody>
      </p:sp>
      <p:sp>
        <p:nvSpPr>
          <p:cNvPr id="25" name="Text 23"/>
          <p:cNvSpPr/>
          <p:nvPr/>
        </p:nvSpPr>
        <p:spPr>
          <a:xfrm>
            <a:off x="1755648" y="5730240"/>
            <a:ext cx="9592056" cy="365760"/>
          </a:xfrm>
          <a:prstGeom prst="rect">
            <a:avLst/>
          </a:prstGeom>
          <a:noFill/>
          <a:ln/>
        </p:spPr>
        <p:txBody>
          <a:bodyPr wrap="square" lIns="0" tIns="0" rIns="0" bIns="0" rtlCol="0" anchor="t"/>
          <a:lstStyle/>
          <a:p>
            <a:pPr algn="l" indent="0" marL="0">
              <a:buNone/>
            </a:pPr>
            <a:r>
              <a:rPr lang="en-US" sz="1200" dirty="0">
                <a:solidFill>
                  <a:srgbClr val="6B6256"/>
                </a:solidFill>
                <a:latin typeface="맑은 고딕" pitchFamily="34" charset="0"/>
                <a:ea typeface="맑은 고딕" pitchFamily="34" charset="-122"/>
                <a:cs typeface="맑은 고딕" pitchFamily="34" charset="-120"/>
              </a:rPr>
              <a:t>홈랩 재확인 목록</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00</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오늘의 큰 그림</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공유의 이득 · 공유의 함정 · 읽을 범위의 설계</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오늘은 두 축 — 플랜을 '누가' 정하나, 읽을 범위를 '어떻게' 줄이나</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01</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질문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오늘의 답</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커서 공유 (§10)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공유된 플랜은 누가 정했나?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첫 실행의 바인드 값 — bind peeking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치우친 값도 같은 플랜을 써야 하나?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ACS(sensitive→aware) 또는 분기 SQL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파티션 (§11)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덜 읽는 구조를 미리 만들 수 있나?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range·interval·hash·list·composite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몇 개 세그먼트를 읽었는지 어떻게 아나?</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Pstart/Pstop — pruning도 산수다</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연결</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§9의 히스토그램이 오늘 함정의 재료다 — '옵티마이저가 분포를 안다'는 좋은 일이, 첫 값 하나로 플랜이 고정되는 공유와 만나면 사고가 된다.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01</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커서 공유</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리터럴 5문장 = 커서 5개 · cursor_sharing=FORCE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값만 다른 리터럴 5문장은 같은 플랜을 5번 hard parse한다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02</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2626614"/>
                <a:gridCol w="2626614"/>
                <a:gridCol w="2626614"/>
                <a:gridCol w="2626614"/>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SQL_ID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HASH_VALUE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PLAN_HASH_VALUE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LOADS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5g6ygund8wa94 (=100)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445524260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2466118986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9z06k8rm2hfsf (=101)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3861396238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2466118986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2j2qaayc7xh8q (=102)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2558443798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2466118986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 =103, =104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전부 다름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전부 같음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1씩 — hard parse 5번</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해시 두 개</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sql_id/hash_value = 텍스트의 해시, plan_hash_value = 플랜의 해시. '같은 일을 하는 다른 커서 5개'가 낭비의 정체다.</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cursor_sharing=FORCE — 리터럴이 :"SYS_B_0"이 되어 커서 하나로</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03</a:t>
            </a:r>
            <a:endParaRPr lang="en-US" sz="900" dirty="0"/>
          </a:p>
        </p:txBody>
      </p:sp>
      <p:sp>
        <p:nvSpPr>
          <p:cNvPr id="8" name="Shape 6"/>
          <p:cNvSpPr/>
          <p:nvPr/>
        </p:nvSpPr>
        <p:spPr>
          <a:xfrm>
            <a:off x="841248" y="2107692"/>
            <a:ext cx="10506456" cy="2057400"/>
          </a:xfrm>
          <a:prstGeom prst="roundRect">
            <a:avLst>
              <a:gd name="adj" fmla="val 2667"/>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2363724"/>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2363724"/>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2363724"/>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766060"/>
            <a:ext cx="9957816" cy="1234440"/>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SQL&gt; alter session set cursor_sharing = force;</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employee_id = 100 ~ 104 다섯 문장 실행 후:</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SQL_ID         SQL_TEXT                                   PARSE LOADS EXEC</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awdc07c3dg4qv  ...where employee_id = :"SYS_B_0"             5     1    5</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2 - access("EMPLOYEE_ID"=:SYS_B_0)</a:t>
            </a:r>
            <a:endParaRPr lang="en-US" sz="1250" dirty="0"/>
          </a:p>
        </p:txBody>
      </p:sp>
      <p:sp>
        <p:nvSpPr>
          <p:cNvPr id="13" name="Shape 11"/>
          <p:cNvSpPr/>
          <p:nvPr/>
        </p:nvSpPr>
        <p:spPr>
          <a:xfrm>
            <a:off x="841248" y="4347972"/>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466844"/>
            <a:ext cx="73152" cy="1078992"/>
          </a:xfrm>
          <a:prstGeom prst="roundRect">
            <a:avLst>
              <a:gd name="adj" fmla="val 50000"/>
            </a:avLst>
          </a:prstGeom>
          <a:solidFill>
            <a:srgbClr val="334155"/>
          </a:solidFill>
          <a:ln w="12700">
            <a:solidFill>
              <a:srgbClr val="334155"/>
            </a:solidFill>
            <a:prstDash val="solid"/>
          </a:ln>
        </p:spPr>
      </p:sp>
      <p:sp>
        <p:nvSpPr>
          <p:cNvPr id="15" name="Text 13"/>
          <p:cNvSpPr/>
          <p:nvPr/>
        </p:nvSpPr>
        <p:spPr>
          <a:xfrm>
            <a:off x="1161288" y="4549140"/>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EXACT vs FORCE</a:t>
            </a:r>
            <a:endParaRPr lang="en-US" sz="1400" dirty="0"/>
          </a:p>
        </p:txBody>
      </p:sp>
      <p:sp>
        <p:nvSpPr>
          <p:cNvPr id="16" name="Text 14"/>
          <p:cNvSpPr/>
          <p:nvPr/>
        </p:nvSpPr>
        <p:spPr>
          <a:xfrm>
            <a:off x="1161288" y="5006340"/>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EXACT(기본) = 텍스트가 똑같아야 공유. FORCE = 값만 다르면 시스템 바인드로 치환해 공유. unique 컬럼이라면 순수 이득 — 문제는 치우친 컬럼이다.</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02</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Bind Peeking</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첫 hard parse가 값을 훔쳐본다</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bind peeking — 첫 실행의 값이 이후 모든 실행의 플랜이 된다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04</a:t>
            </a:r>
            <a:endParaRPr lang="en-US" sz="900" dirty="0"/>
          </a:p>
        </p:txBody>
      </p:sp>
      <p:pic>
        <p:nvPicPr>
          <p:cNvPr id="8" name="Image 0" descr="preencoded.png">    </p:cNvPr>
          <p:cNvPicPr>
            <a:picLocks noChangeAspect="1"/>
          </p:cNvPicPr>
          <p:nvPr/>
        </p:nvPicPr>
        <p:blipFill>
          <a:blip r:embed="rId1"/>
          <a:stretch>
            <a:fillRect/>
          </a:stretch>
        </p:blipFill>
        <p:spPr>
          <a:xfrm>
            <a:off x="2071116" y="2045128"/>
            <a:ext cx="8046720" cy="1588168"/>
          </a:xfrm>
          <a:prstGeom prst="rect">
            <a:avLst/>
          </a:prstGeom>
        </p:spPr>
      </p:pic>
      <p:sp>
        <p:nvSpPr>
          <p:cNvPr id="9" name="Text 6"/>
          <p:cNvSpPr/>
          <p:nvPr/>
        </p:nvSpPr>
        <p:spPr>
          <a:xfrm>
            <a:off x="841248" y="3688160"/>
            <a:ext cx="10506456" cy="274320"/>
          </a:xfrm>
          <a:prstGeom prst="rect">
            <a:avLst/>
          </a:prstGeom>
          <a:noFill/>
          <a:ln/>
        </p:spPr>
        <p:txBody>
          <a:bodyPr wrap="square" lIns="0" tIns="0" rIns="0" bIns="0" rtlCol="0" anchor="t"/>
          <a:lstStyle/>
          <a:p>
            <a:pPr algn="ctr" indent="0" marL="0">
              <a:buNone/>
            </a:pPr>
            <a:r>
              <a:rPr lang="en-US" sz="1100" i="1" dirty="0">
                <a:solidFill>
                  <a:srgbClr val="6B6256"/>
                </a:solidFill>
                <a:latin typeface="맑은 고딕" pitchFamily="34" charset="0"/>
                <a:ea typeface="맑은 고딕" pitchFamily="34" charset="-122"/>
                <a:cs typeface="맑은 고딕" pitchFamily="34" charset="-120"/>
              </a:rPr>
              <a:t>첫 실행의 값이 플랜을 정하고, 이후 값들은 soft parse로 그대로 재사용한다</a:t>
            </a:r>
            <a:endParaRPr lang="en-US" sz="1100" dirty="0"/>
          </a:p>
        </p:txBody>
      </p:sp>
      <p:sp>
        <p:nvSpPr>
          <p:cNvPr id="10" name="Shape 7"/>
          <p:cNvSpPr/>
          <p:nvPr/>
        </p:nvSpPr>
        <p:spPr>
          <a:xfrm>
            <a:off x="841248" y="4136216"/>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1" name="Shape 8"/>
          <p:cNvSpPr/>
          <p:nvPr/>
        </p:nvSpPr>
        <p:spPr>
          <a:xfrm>
            <a:off x="868680" y="4255088"/>
            <a:ext cx="73152" cy="1353312"/>
          </a:xfrm>
          <a:prstGeom prst="roundRect">
            <a:avLst>
              <a:gd name="adj" fmla="val 50000"/>
            </a:avLst>
          </a:prstGeom>
          <a:solidFill>
            <a:srgbClr val="C74634"/>
          </a:solidFill>
          <a:ln w="12700">
            <a:solidFill>
              <a:srgbClr val="C74634"/>
            </a:solidFill>
            <a:prstDash val="solid"/>
          </a:ln>
        </p:spPr>
      </p:sp>
      <p:sp>
        <p:nvSpPr>
          <p:cNvPr id="12" name="Text 9"/>
          <p:cNvSpPr/>
          <p:nvPr/>
        </p:nvSpPr>
        <p:spPr>
          <a:xfrm>
            <a:off x="1161288" y="433738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함정의 3재료</a:t>
            </a:r>
            <a:endParaRPr lang="en-US" sz="1400" dirty="0"/>
          </a:p>
        </p:txBody>
      </p:sp>
      <p:sp>
        <p:nvSpPr>
          <p:cNvPr id="13" name="Text 10"/>
          <p:cNvSpPr/>
          <p:nvPr/>
        </p:nvSpPr>
        <p:spPr>
          <a:xfrm>
            <a:off x="1161288" y="4794584"/>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peeking 단독은 무해 — 히스토그램이 없으면 어떤 값이든 E-Rows 10으로 같다(실측). peeking + 치우친 분포 + 히스토그램이 모여야 '첫 값이 누구냐'가 운명이 된다.</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히스토그램이 생기면 — 50이 먼저 오면 전원 full scan</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05</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41248" y="2157984"/>
          <a:ext cx="10506456" cy="1682496"/>
        </p:xfrm>
        <a:graphic>
          <a:graphicData uri="http://schemas.openxmlformats.org/drawingml/2006/table">
            <a:tbl>
              <a:tblPr/>
              <a:tblGrid>
                <a:gridCol w="3502152"/>
                <a:gridCol w="3502152"/>
                <a:gridCol w="3502152"/>
              </a:tblGrid>
              <a:tr h="42062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시나리오 (FORCE + 히스토그램)</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peek된 값</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공유 커서의 플랜</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히스토그램 없음 — 어떤 순서든</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무관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INDEX RANGE SCAN, E-Rows 10 (균등)</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FREQUENCY 생성 후 50 먼저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50 (45명)</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TABLE ACCESS FULL, E-Rows 45 — 10·20·80도 full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(만약) 10이 먼저였다면</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10 (1명)</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index 플랜을 전원이 재사용 — §10.5에서 실증</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023360"/>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142232"/>
            <a:ext cx="73152" cy="135331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224528"/>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재확인 메모</a:t>
            </a:r>
            <a:endParaRPr lang="en-US" sz="1400" dirty="0"/>
          </a:p>
        </p:txBody>
      </p:sp>
      <p:sp>
        <p:nvSpPr>
          <p:cNvPr id="12" name="Text 9"/>
          <p:cNvSpPr/>
          <p:nvPr/>
        </p:nvSpPr>
        <p:spPr>
          <a:xfrm>
            <a:off x="1161288" y="4681728"/>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다른 실측 한 번은 E-Rows 45의 index 플랜(cost 6, LOADS 3)이 나왔다 — 노트에 원인 설명 없음. 홈랩에서 flush 후 순서를 통제해 재확인.</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진짜 바인드로 실증 — 첫 값이 10이면 50은 매번 3블록 손해</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06</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2626614"/>
                <a:gridCol w="2626614"/>
                <a:gridCol w="2626614"/>
                <a:gridCol w="2626614"/>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:b_id</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플랜 (peek=10이 확정)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A-Rows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Buffers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INDEX RANGE SCAN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 — 적정</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50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INDEX RANGE SCAN 재사용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45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9 ← full이면 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80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INDEX RANGE SCAN 재사용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50 + full(e) 힌트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TABLE ACCESS FULL</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45</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v$sql_bind_capture</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첫 캡처 값(10 또는 50)만 보인다 — '이 커서의 플랜은 누가 정했나'의 증거. datatype·max_length도 함께.</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03</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ACS와 수동 처방</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sensitive → aware · FILTER 게이트 분기</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Adaptive Cursor Sharing — 관찰(sensitive=Y)에서 분화(aware)로 가는 중</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07</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플래그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뜻</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수업 실측</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is_bind_sensitive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값에 민감한 커서 — 값별 실행 통계를 관찰 중</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Y (50↔10 반복 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is_bind_aware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값 분포별 child cursor로 플랜 분리 운용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N — 아직 분화 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_optim_peek_user_binds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최초 실행 시 바인드 값으로 플랜 수립</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TRUE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_optimizer_adaptive_cursor_sharing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새 값이 오면 child cursor로 세분화</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TRUE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홈랩 관찰 과제</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값을 바꿔가며 더 실행해 aware=Y로 넘어가는(child cursor가 갈라지는) 순간을 잡아보기 — 전환 횟수·조건은 실측으로 재확인.</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수동 처방 — FILTER 게이트로 SQL을 분기하면 안 쓰는 브랜치는 Starts 0</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1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08</a:t>
            </a:r>
            <a:endParaRPr lang="en-US" sz="900" dirty="0"/>
          </a:p>
        </p:txBody>
      </p:sp>
      <p:sp>
        <p:nvSpPr>
          <p:cNvPr id="9" name="Shape 7"/>
          <p:cNvSpPr/>
          <p:nvPr/>
        </p:nvSpPr>
        <p:spPr>
          <a:xfrm>
            <a:off x="841248" y="2601468"/>
            <a:ext cx="10506456" cy="2569464"/>
          </a:xfrm>
          <a:prstGeom prst="roundRect">
            <a:avLst>
              <a:gd name="adj" fmla="val 2135"/>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1161288" y="2857500"/>
            <a:ext cx="118872" cy="118872"/>
          </a:xfrm>
          <a:prstGeom prst="ellipse">
            <a:avLst/>
          </a:prstGeom>
          <a:solidFill>
            <a:srgbClr val="EF4444"/>
          </a:solidFill>
          <a:ln w="12700">
            <a:solidFill>
              <a:srgbClr val="EF4444"/>
            </a:solidFill>
            <a:prstDash val="solid"/>
          </a:ln>
        </p:spPr>
      </p:sp>
      <p:sp>
        <p:nvSpPr>
          <p:cNvPr id="11" name="Shape 9"/>
          <p:cNvSpPr/>
          <p:nvPr/>
        </p:nvSpPr>
        <p:spPr>
          <a:xfrm>
            <a:off x="1389888" y="2857500"/>
            <a:ext cx="118872" cy="118872"/>
          </a:xfrm>
          <a:prstGeom prst="ellipse">
            <a:avLst/>
          </a:prstGeom>
          <a:solidFill>
            <a:srgbClr val="F59E0B"/>
          </a:solidFill>
          <a:ln w="12700">
            <a:solidFill>
              <a:srgbClr val="F59E0B"/>
            </a:solidFill>
            <a:prstDash val="solid"/>
          </a:ln>
        </p:spPr>
      </p:sp>
      <p:sp>
        <p:nvSpPr>
          <p:cNvPr id="12" name="Shape 10"/>
          <p:cNvSpPr/>
          <p:nvPr/>
        </p:nvSpPr>
        <p:spPr>
          <a:xfrm>
            <a:off x="1618488" y="2857500"/>
            <a:ext cx="118872" cy="118872"/>
          </a:xfrm>
          <a:prstGeom prst="ellipse">
            <a:avLst/>
          </a:prstGeom>
          <a:solidFill>
            <a:srgbClr val="22C55E"/>
          </a:solidFill>
          <a:ln w="12700">
            <a:solidFill>
              <a:srgbClr val="22C55E"/>
            </a:solidFill>
            <a:prstDash val="solid"/>
          </a:ln>
        </p:spPr>
      </p:sp>
      <p:sp>
        <p:nvSpPr>
          <p:cNvPr id="13" name="Text 11"/>
          <p:cNvSpPr/>
          <p:nvPr/>
        </p:nvSpPr>
        <p:spPr>
          <a:xfrm>
            <a:off x="1161288" y="3259836"/>
            <a:ext cx="9957816" cy="1746504"/>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select /*+ full(e) */ * from hr.emp 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where :b_id in (50,80) and department_id = :b_id</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union all</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select /*+ index(e emp_dept_idx) */ * from hr.emp e</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where :b_id not in (50,80) and department_id = :b_id;</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:b_id=50 → FILTER(:B_ID=50 OR 80) 참: full 브랜치 Starts 1</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FILTER(&lt;&gt;80 AND &lt;&gt;50) 거짓: index 브랜치 Starts 0·Buffers 0</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수동 처방 — FILTER 게이트로 SQL을 분기하면 안 쓰는 브랜치는 Starts 0</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Text 3"/>
          <p:cNvSpPr/>
          <p:nvPr/>
        </p:nvSpPr>
        <p:spPr>
          <a:xfrm>
            <a:off x="8695944" y="603504"/>
            <a:ext cx="1463040" cy="365760"/>
          </a:xfrm>
          <a:prstGeom prst="rect">
            <a:avLst/>
          </a:prstGeom>
          <a:noFill/>
          <a:ln/>
        </p:spPr>
        <p:txBody>
          <a:bodyPr wrap="square" lIns="0" tIns="0" rIns="0" bIns="0" rtlCol="0" anchor="ctr"/>
          <a:lstStyle/>
          <a:p>
            <a:pPr algn="r" indent="0" marL="0">
              <a:buNone/>
            </a:pPr>
            <a:r>
              <a:rPr lang="en-US" sz="1100" dirty="0">
                <a:solidFill>
                  <a:srgbClr val="A79E90"/>
                </a:solidFill>
                <a:latin typeface="맑은 고딕" pitchFamily="34" charset="0"/>
                <a:ea typeface="맑은 고딕" pitchFamily="34" charset="-122"/>
                <a:cs typeface="맑은 고딕" pitchFamily="34" charset="-120"/>
              </a:rPr>
              <a:t>2 / 2</a:t>
            </a:r>
            <a:endParaRPr lang="en-US" sz="1100" dirty="0"/>
          </a:p>
        </p:txBody>
      </p:sp>
      <p:sp>
        <p:nvSpPr>
          <p:cNvPr id="6" name="Shape 4"/>
          <p:cNvSpPr/>
          <p:nvPr/>
        </p:nvSpPr>
        <p:spPr>
          <a:xfrm>
            <a:off x="841248" y="1627632"/>
            <a:ext cx="10506456" cy="10973"/>
          </a:xfrm>
          <a:prstGeom prst="rect">
            <a:avLst/>
          </a:prstGeom>
          <a:solidFill>
            <a:srgbClr val="E7E1D6"/>
          </a:solidFill>
          <a:ln w="12700">
            <a:solidFill>
              <a:srgbClr val="E7E1D6"/>
            </a:solidFill>
            <a:prstDash val="solid"/>
          </a:ln>
        </p:spPr>
      </p:sp>
      <p:sp>
        <p:nvSpPr>
          <p:cNvPr id="7" name="Text 5"/>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8" name="Text 6"/>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09</a:t>
            </a:r>
            <a:endParaRPr lang="en-US" sz="900" dirty="0"/>
          </a:p>
        </p:txBody>
      </p:sp>
      <p:sp>
        <p:nvSpPr>
          <p:cNvPr id="9" name="Shape 7"/>
          <p:cNvSpPr/>
          <p:nvPr/>
        </p:nvSpPr>
        <p:spPr>
          <a:xfrm>
            <a:off x="841248" y="3090672"/>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68680" y="3209544"/>
            <a:ext cx="73152" cy="1353312"/>
          </a:xfrm>
          <a:prstGeom prst="roundRect">
            <a:avLst>
              <a:gd name="adj" fmla="val 50000"/>
            </a:avLst>
          </a:prstGeom>
          <a:solidFill>
            <a:srgbClr val="C74634"/>
          </a:solidFill>
          <a:ln w="12700">
            <a:solidFill>
              <a:srgbClr val="C74634"/>
            </a:solidFill>
            <a:prstDash val="solid"/>
          </a:ln>
        </p:spPr>
      </p:sp>
      <p:sp>
        <p:nvSpPr>
          <p:cNvPr id="11" name="Text 9"/>
          <p:cNvSpPr/>
          <p:nvPr/>
        </p:nvSpPr>
        <p:spPr>
          <a:xfrm>
            <a:off x="1161288" y="3291840"/>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게이트 FILTER</a:t>
            </a:r>
            <a:endParaRPr lang="en-US" sz="1400" dirty="0"/>
          </a:p>
        </p:txBody>
      </p:sp>
      <p:sp>
        <p:nvSpPr>
          <p:cNvPr id="12" name="Text 10"/>
          <p:cNvSpPr/>
          <p:nvPr/>
        </p:nvSpPr>
        <p:spPr>
          <a:xfrm>
            <a:off x="1161288" y="3749040"/>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조건이 거짓이면 자식을 아예 시작하지 않는다(Starts 0). 값 범위별로 각자 최적 플랜을 태우는 bind peeking 우회법 — §11.2 파티션 뷰와 같은 무늬.</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04</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파티션</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읽을 범위를 설계로 줄인다 — pruning</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파티션 — 인덱스도 full도 아닌 세 번째 길</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10</a:t>
            </a:r>
            <a:endParaRPr lang="en-US" sz="900" dirty="0"/>
          </a:p>
        </p:txBody>
      </p:sp>
      <p:pic>
        <p:nvPicPr>
          <p:cNvPr id="8" name="Image 0" descr="preencoded.png">    </p:cNvPr>
          <p:cNvPicPr>
            <a:picLocks noChangeAspect="1"/>
          </p:cNvPicPr>
          <p:nvPr/>
        </p:nvPicPr>
        <p:blipFill>
          <a:blip r:embed="rId1"/>
          <a:stretch>
            <a:fillRect/>
          </a:stretch>
        </p:blipFill>
        <p:spPr>
          <a:xfrm>
            <a:off x="2071116" y="1949838"/>
            <a:ext cx="8046720" cy="1778749"/>
          </a:xfrm>
          <a:prstGeom prst="rect">
            <a:avLst/>
          </a:prstGeom>
        </p:spPr>
      </p:pic>
      <p:sp>
        <p:nvSpPr>
          <p:cNvPr id="9" name="Text 6"/>
          <p:cNvSpPr/>
          <p:nvPr/>
        </p:nvSpPr>
        <p:spPr>
          <a:xfrm>
            <a:off x="841248" y="3783450"/>
            <a:ext cx="10506456" cy="274320"/>
          </a:xfrm>
          <a:prstGeom prst="rect">
            <a:avLst/>
          </a:prstGeom>
          <a:noFill/>
          <a:ln/>
        </p:spPr>
        <p:txBody>
          <a:bodyPr wrap="square" lIns="0" tIns="0" rIns="0" bIns="0" rtlCol="0" anchor="t"/>
          <a:lstStyle/>
          <a:p>
            <a:pPr algn="ctr" indent="0" marL="0">
              <a:buNone/>
            </a:pPr>
            <a:r>
              <a:rPr lang="en-US" sz="1100" i="1" dirty="0">
                <a:solidFill>
                  <a:srgbClr val="6B6256"/>
                </a:solidFill>
                <a:latin typeface="맑은 고딕" pitchFamily="34" charset="0"/>
                <a:ea typeface="맑은 고딕" pitchFamily="34" charset="-122"/>
                <a:cs typeface="맑은 고딕" pitchFamily="34" charset="-120"/>
              </a:rPr>
              <a:t>파티션 키 조건 → 해당 세그먼트만 스캔. 읽을 범위를 설계로 줄인다</a:t>
            </a:r>
            <a:endParaRPr lang="en-US" sz="1100" dirty="0"/>
          </a:p>
        </p:txBody>
      </p:sp>
      <p:sp>
        <p:nvSpPr>
          <p:cNvPr id="10" name="Shape 7"/>
          <p:cNvSpPr/>
          <p:nvPr/>
        </p:nvSpPr>
        <p:spPr>
          <a:xfrm>
            <a:off x="841248" y="4231506"/>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1" name="Shape 8"/>
          <p:cNvSpPr/>
          <p:nvPr/>
        </p:nvSpPr>
        <p:spPr>
          <a:xfrm>
            <a:off x="868680" y="4350378"/>
            <a:ext cx="73152" cy="1353312"/>
          </a:xfrm>
          <a:prstGeom prst="roundRect">
            <a:avLst>
              <a:gd name="adj" fmla="val 50000"/>
            </a:avLst>
          </a:prstGeom>
          <a:solidFill>
            <a:srgbClr val="C74634"/>
          </a:solidFill>
          <a:ln w="12700">
            <a:solidFill>
              <a:srgbClr val="C74634"/>
            </a:solidFill>
            <a:prstDash val="solid"/>
          </a:ln>
        </p:spPr>
      </p:sp>
      <p:sp>
        <p:nvSpPr>
          <p:cNvPr id="12" name="Text 9"/>
          <p:cNvSpPr/>
          <p:nvPr/>
        </p:nvSpPr>
        <p:spPr>
          <a:xfrm>
            <a:off x="1161288" y="4432674"/>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왜 세 번째 길인가</a:t>
            </a:r>
            <a:endParaRPr lang="en-US" sz="1400" dirty="0"/>
          </a:p>
        </p:txBody>
      </p:sp>
      <p:sp>
        <p:nvSpPr>
          <p:cNvPr id="13" name="Text 10"/>
          <p:cNvSpPr/>
          <p:nvPr/>
        </p:nvSpPr>
        <p:spPr>
          <a:xfrm>
            <a:off x="1161288" y="4889874"/>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random I/O는 일정량 넘으면 full보다 못하고, full은 전부 읽는다. 파티션 full scan은 '일부만 전부 읽기' — 관리(보관주기 백업·삭제)까지 덤이다.</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파티션 뷰(~7버전) — CHECK 제약이 만든 NULL IS NOT NULL 게이트</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11</a:t>
            </a:r>
            <a:endParaRPr lang="en-US" sz="900" dirty="0"/>
          </a:p>
        </p:txBody>
      </p:sp>
      <p:sp>
        <p:nvSpPr>
          <p:cNvPr id="8" name="Shape 6"/>
          <p:cNvSpPr/>
          <p:nvPr/>
        </p:nvSpPr>
        <p:spPr>
          <a:xfrm>
            <a:off x="841248" y="1737360"/>
            <a:ext cx="10506456" cy="2569464"/>
          </a:xfrm>
          <a:prstGeom prst="roundRect">
            <a:avLst>
              <a:gd name="adj" fmla="val 2135"/>
            </a:avLst>
          </a:prstGeom>
          <a:solidFill>
            <a:srgbClr val="2C3742"/>
          </a:solidFill>
          <a:ln w="12700">
            <a:solidFill>
              <a:srgbClr val="2C3742"/>
            </a:solidFill>
            <a:prstDash val="solid"/>
          </a:ln>
          <a:effectLst>
            <a:outerShdw sx="100000" sy="100000" kx="0" ky="0" algn="bl" rotWithShape="0" blurRad="152400" dist="25400" dir="5400000">
              <a:srgbClr val="8A7F6A">
                <a:alpha val="14000"/>
              </a:srgbClr>
            </a:outerShdw>
          </a:effectLst>
        </p:spPr>
      </p:sp>
      <p:sp>
        <p:nvSpPr>
          <p:cNvPr id="9" name="Shape 7"/>
          <p:cNvSpPr/>
          <p:nvPr/>
        </p:nvSpPr>
        <p:spPr>
          <a:xfrm>
            <a:off x="1161288" y="1993392"/>
            <a:ext cx="118872" cy="118872"/>
          </a:xfrm>
          <a:prstGeom prst="ellipse">
            <a:avLst/>
          </a:prstGeom>
          <a:solidFill>
            <a:srgbClr val="EF4444"/>
          </a:solidFill>
          <a:ln w="12700">
            <a:solidFill>
              <a:srgbClr val="EF4444"/>
            </a:solidFill>
            <a:prstDash val="solid"/>
          </a:ln>
        </p:spPr>
      </p:sp>
      <p:sp>
        <p:nvSpPr>
          <p:cNvPr id="10" name="Shape 8"/>
          <p:cNvSpPr/>
          <p:nvPr/>
        </p:nvSpPr>
        <p:spPr>
          <a:xfrm>
            <a:off x="1389888" y="1993392"/>
            <a:ext cx="118872" cy="118872"/>
          </a:xfrm>
          <a:prstGeom prst="ellipse">
            <a:avLst/>
          </a:prstGeom>
          <a:solidFill>
            <a:srgbClr val="F59E0B"/>
          </a:solidFill>
          <a:ln w="12700">
            <a:solidFill>
              <a:srgbClr val="F59E0B"/>
            </a:solidFill>
            <a:prstDash val="solid"/>
          </a:ln>
        </p:spPr>
      </p:sp>
      <p:sp>
        <p:nvSpPr>
          <p:cNvPr id="11" name="Shape 9"/>
          <p:cNvSpPr/>
          <p:nvPr/>
        </p:nvSpPr>
        <p:spPr>
          <a:xfrm>
            <a:off x="1618488" y="1993392"/>
            <a:ext cx="118872" cy="118872"/>
          </a:xfrm>
          <a:prstGeom prst="ellipse">
            <a:avLst/>
          </a:prstGeom>
          <a:solidFill>
            <a:srgbClr val="22C55E"/>
          </a:solidFill>
          <a:ln w="12700">
            <a:solidFill>
              <a:srgbClr val="22C55E"/>
            </a:solidFill>
            <a:prstDash val="solid"/>
          </a:ln>
        </p:spPr>
      </p:sp>
      <p:sp>
        <p:nvSpPr>
          <p:cNvPr id="12" name="Text 10"/>
          <p:cNvSpPr/>
          <p:nvPr/>
        </p:nvSpPr>
        <p:spPr>
          <a:xfrm>
            <a:off x="1161288" y="2395728"/>
            <a:ext cx="9957816" cy="1746504"/>
          </a:xfrm>
          <a:prstGeom prst="rect">
            <a:avLst/>
          </a:prstGeom>
          <a:noFill/>
          <a:ln/>
        </p:spPr>
        <p:txBody>
          <a:bodyPr wrap="square" lIns="0" tIns="0" rIns="0" bIns="0" rtlCol="0" anchor="t"/>
          <a:lstStyle/>
          <a:p>
            <a:pPr algn="l" indent="0" marL="0">
              <a:buNone/>
            </a:pPr>
            <a:r>
              <a:rPr lang="en-US" sz="1250" dirty="0">
                <a:solidFill>
                  <a:srgbClr val="E7E2D8"/>
                </a:solidFill>
                <a:latin typeface="Consolas" pitchFamily="34" charset="0"/>
                <a:ea typeface="Consolas" pitchFamily="34" charset="-122"/>
                <a:cs typeface="Consolas" pitchFamily="34" charset="-120"/>
              </a:rPr>
              <a:t>alter table hr.p1 add constraint c_dept_10 check(department_id &lt; 20);</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create view hr.emp_view as select * from hr.p1</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  union all select * from hr.p2 union all select * from hr.p3;</a:t>
            </a:r>
            <a:endParaRPr lang="en-US" sz="1250" dirty="0"/>
          </a:p>
          <a:p>
            <a:pPr algn="l" indent="0" marL="0">
              <a:buNone/>
            </a:pPr>
            <a:r>
              <a:rPr lang="en-US" sz="1250" dirty="0">
                <a:solidFill>
                  <a:srgbClr val="9AA6A0"/>
                </a:solidFill>
                <a:latin typeface="Consolas" pitchFamily="34" charset="0"/>
                <a:ea typeface="Consolas" pitchFamily="34" charset="-122"/>
                <a:cs typeface="Consolas" pitchFamily="34" charset="-120"/>
              </a:rPr>
              <a:t>-- where department_id = 10 실측:</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|*3 | TABLE ACCESS FULL | P1 | Starts 1 | Buffers 7 |  ← 실제로 읽음</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|*4 | FILTER(NULL IS NOT NULL)  | Starts 1 → 자식 Starts 0</a:t>
            </a:r>
            <a:endParaRPr lang="en-US" sz="1250" dirty="0"/>
          </a:p>
          <a:p>
            <a:pPr algn="l" indent="0" marL="0">
              <a:buNone/>
            </a:pPr>
            <a:r>
              <a:rPr lang="en-US" sz="1250" dirty="0">
                <a:solidFill>
                  <a:srgbClr val="E7E2D8"/>
                </a:solidFill>
                <a:latin typeface="Consolas" pitchFamily="34" charset="0"/>
                <a:ea typeface="Consolas" pitchFamily="34" charset="-122"/>
                <a:cs typeface="Consolas" pitchFamily="34" charset="-120"/>
              </a:rPr>
              <a:t>|*5 |  TABLE ACCESS FULL| P2 | Starts 0 | Buffers 0 |  ← 잠김 (P3 동일)</a:t>
            </a:r>
            <a:endParaRPr lang="en-US" sz="1250" dirty="0"/>
          </a:p>
        </p:txBody>
      </p:sp>
      <p:sp>
        <p:nvSpPr>
          <p:cNvPr id="13" name="Shape 11"/>
          <p:cNvSpPr/>
          <p:nvPr/>
        </p:nvSpPr>
        <p:spPr>
          <a:xfrm>
            <a:off x="841248" y="448970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4" name="Shape 12"/>
          <p:cNvSpPr/>
          <p:nvPr/>
        </p:nvSpPr>
        <p:spPr>
          <a:xfrm>
            <a:off x="868680" y="4608576"/>
            <a:ext cx="73152" cy="1078992"/>
          </a:xfrm>
          <a:prstGeom prst="roundRect">
            <a:avLst>
              <a:gd name="adj" fmla="val 50000"/>
            </a:avLst>
          </a:prstGeom>
          <a:solidFill>
            <a:srgbClr val="C74634"/>
          </a:solidFill>
          <a:ln w="12700">
            <a:solidFill>
              <a:srgbClr val="C74634"/>
            </a:solidFill>
            <a:prstDash val="solid"/>
          </a:ln>
        </p:spPr>
      </p:sp>
      <p:sp>
        <p:nvSpPr>
          <p:cNvPr id="15" name="Text 13"/>
          <p:cNvSpPr/>
          <p:nvPr/>
        </p:nvSpPr>
        <p:spPr>
          <a:xfrm>
            <a:off x="1161288" y="469087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pruning의 원형</a:t>
            </a:r>
            <a:endParaRPr lang="en-US" sz="1400" dirty="0"/>
          </a:p>
        </p:txBody>
      </p:sp>
      <p:sp>
        <p:nvSpPr>
          <p:cNvPr id="16" name="Text 14"/>
          <p:cNvSpPr/>
          <p:nvPr/>
        </p:nvSpPr>
        <p:spPr>
          <a:xfrm>
            <a:off x="1161288" y="514807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CHECK가 '여긴 없다'를 보증 → 항상 거짓 게이트로 브랜치 잠금. dept=10이면 7블록, 조건 없으면 18블록 — §10.7 분기 SQL과 같은 무늬다.</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파티션 4형제 — range는 이력, interval은 자동, hash는 경합, list는 그룹</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12</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41248" y="2103120"/>
          <a:ext cx="10506456" cy="2066544"/>
        </p:xfrm>
        <a:graphic>
          <a:graphicData uri="http://schemas.openxmlformats.org/drawingml/2006/table">
            <a:tbl>
              <a:tblPr/>
              <a:tblGrid>
                <a:gridCol w="3502152"/>
                <a:gridCol w="3502152"/>
                <a:gridCol w="3502152"/>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종류(버전)</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나누는 기준</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핵심 특징 · 실측</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range (8)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경계 — less than</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이력 데이터 기본형 · 키 최대 16컬럼 · maxvalue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interval (11g)</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range + 간격</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파티션 자동 증설 — SYS_P769·770 실측 · maxvalue 불필요</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hash (8i)</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해시 함수 — 양</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2의 제곱 개수 · =·in만 pruning · 동시 입력 경합 완화</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list (9i)</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값 목록 — 그룹</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단일 컬럼만 · values(default)가 목록 밖+NULL 수용(Grant)</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352544"/>
            <a:ext cx="10506456" cy="1316736"/>
          </a:xfrm>
          <a:prstGeom prst="roundRect">
            <a:avLst>
              <a:gd name="adj" fmla="val 8333"/>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471416"/>
            <a:ext cx="73152" cy="1078992"/>
          </a:xfrm>
          <a:prstGeom prst="roundRect">
            <a:avLst>
              <a:gd name="adj" fmla="val 50000"/>
            </a:avLst>
          </a:prstGeom>
          <a:solidFill>
            <a:srgbClr val="334155"/>
          </a:solidFill>
          <a:ln w="12700">
            <a:solidFill>
              <a:srgbClr val="334155"/>
            </a:solidFill>
            <a:prstDash val="solid"/>
          </a:ln>
        </p:spPr>
      </p:sp>
      <p:sp>
        <p:nvSpPr>
          <p:cNvPr id="11" name="Text 8"/>
          <p:cNvSpPr/>
          <p:nvPr/>
        </p:nvSpPr>
        <p:spPr>
          <a:xfrm>
            <a:off x="1161288" y="4553712"/>
            <a:ext cx="995781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의미 vs 양</a:t>
            </a:r>
            <a:endParaRPr lang="en-US" sz="1400" dirty="0"/>
          </a:p>
        </p:txBody>
      </p:sp>
      <p:sp>
        <p:nvSpPr>
          <p:cNvPr id="12" name="Text 9"/>
          <p:cNvSpPr/>
          <p:nvPr/>
        </p:nvSpPr>
        <p:spPr>
          <a:xfrm>
            <a:off x="1161288" y="5010912"/>
            <a:ext cx="9957816" cy="4937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range·list는 데이터의 '의미'로 나눠 검색을 줄이고, hash는 '양'으로 흩어 넣을 때의 경합을 줄인다 — 고르는 기준이 다르다.</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1900" b="1" dirty="0">
                <a:solidFill>
                  <a:srgbClr val="20303F"/>
                </a:solidFill>
                <a:latin typeface="맑은 고딕" pitchFamily="34" charset="0"/>
                <a:ea typeface="맑은 고딕" pitchFamily="34" charset="-122"/>
                <a:cs typeface="맑은 고딕" pitchFamily="34" charset="-120"/>
              </a:rPr>
              <a:t>composite 4×4 — Pstart/Pstop을 읽으면 몇 조각을 읽었는지 보인다</a:t>
            </a:r>
            <a:endParaRPr lang="en-US" sz="19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13</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41248" y="1965960"/>
          <a:ext cx="10506456" cy="2066544"/>
        </p:xfrm>
        <a:graphic>
          <a:graphicData uri="http://schemas.openxmlformats.org/drawingml/2006/table">
            <a:tbl>
              <a:tblPr/>
              <a:tblGrid>
                <a:gridCol w="2101291"/>
                <a:gridCol w="2101291"/>
                <a:gridCol w="2101291"/>
                <a:gridCol w="2101291"/>
                <a:gridCol w="2101291"/>
              </a:tblGrid>
              <a:tr h="413309">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조건</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RANGE</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HASH</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세그먼트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Buffers</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20303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salary&lt;5000 and emp=200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SINGLE 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SINGLE 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1/16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3</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salary&lt;5000 (범위 키만)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SINGLE 1</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ALL 1–4 (Starts 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4/16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emp=100 (해시 키만)</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ALL 1–4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SINGLE 3 (Starts 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4/16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8</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r h="413309">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salary&gt;20000 and emp=100</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SINGLE 4</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SINGLE 15 ← 전체 일련번호</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1/16</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0303F"/>
                          </a:solidFill>
                          <a:latin typeface="맑은 고딕" pitchFamily="34" charset="0"/>
                          <a:ea typeface="맑은 고딕" pitchFamily="34" charset="-122"/>
                          <a:cs typeface="맑은 고딕" pitchFamily="34" charset="-120"/>
                        </a:rPr>
                        <a:t>2</a:t>
                      </a:r>
                      <a:endParaRPr lang="en-US" sz="1200" dirty="0">
                        <a:latin typeface="맑은 고딕" charset="0"/>
                        <a:ea typeface="맑은 고딕" charset="0"/>
                        <a:cs typeface="맑은 고딕" charset="0"/>
                      </a:endParaRPr>
                    </a:p>
                  </a:txBody>
                  <a:tcPr marL="76200" marR="76200" marT="38100" marB="38100" anchor="ctr">
                    <a:lnL w="6350" cap="flat" cmpd="sng" algn="ctr">
                      <a:solidFill>
                        <a:srgbClr val="E7E1D6"/>
                      </a:solidFill>
                      <a:prstDash val="solid"/>
                      <a:round/>
                      <a:headEnd type="none" w="med" len="med"/>
                      <a:tailEnd type="none" w="med" len="med"/>
                    </a:lnL>
                    <a:lnR w="6350" cap="flat" cmpd="sng" algn="ctr">
                      <a:solidFill>
                        <a:srgbClr val="E7E1D6"/>
                      </a:solidFill>
                      <a:prstDash val="solid"/>
                      <a:round/>
                      <a:headEnd type="none" w="med" len="med"/>
                      <a:tailEnd type="none" w="med" len="med"/>
                    </a:lnR>
                    <a:lnT w="6350" cap="flat" cmpd="sng" algn="ctr">
                      <a:solidFill>
                        <a:srgbClr val="E7E1D6"/>
                      </a:solidFill>
                      <a:prstDash val="solid"/>
                      <a:round/>
                      <a:headEnd type="none" w="med" len="med"/>
                      <a:tailEnd type="none" w="med" len="med"/>
                    </a:lnT>
                    <a:lnB w="6350" cap="flat" cmpd="sng" algn="ctr">
                      <a:solidFill>
                        <a:srgbClr val="E7E1D6"/>
                      </a:solidFill>
                      <a:prstDash val="solid"/>
                      <a:round/>
                      <a:headEnd type="none" w="med" len="med"/>
                      <a:tailEnd type="none" w="med" len="med"/>
                    </a:lnB>
                    <a:solidFill>
                      <a:srgbClr val="FFFFFF"/>
                    </a:solidFill>
                  </a:tcPr>
                </a:tc>
              </a:tr>
            </a:tbl>
          </a:graphicData>
        </a:graphic>
      </p:graphicFrame>
      <p:sp>
        <p:nvSpPr>
          <p:cNvPr id="9" name="Shape 6"/>
          <p:cNvSpPr/>
          <p:nvPr/>
        </p:nvSpPr>
        <p:spPr>
          <a:xfrm>
            <a:off x="841248" y="4215384"/>
            <a:ext cx="10506456" cy="1591056"/>
          </a:xfrm>
          <a:prstGeom prst="roundRect">
            <a:avLst>
              <a:gd name="adj" fmla="val 6897"/>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7"/>
          <p:cNvSpPr/>
          <p:nvPr/>
        </p:nvSpPr>
        <p:spPr>
          <a:xfrm>
            <a:off x="868680" y="4334256"/>
            <a:ext cx="73152" cy="1353312"/>
          </a:xfrm>
          <a:prstGeom prst="roundRect">
            <a:avLst>
              <a:gd name="adj" fmla="val 50000"/>
            </a:avLst>
          </a:prstGeom>
          <a:solidFill>
            <a:srgbClr val="C74634"/>
          </a:solidFill>
          <a:ln w="12700">
            <a:solidFill>
              <a:srgbClr val="C74634"/>
            </a:solidFill>
            <a:prstDash val="solid"/>
          </a:ln>
        </p:spPr>
      </p:sp>
      <p:sp>
        <p:nvSpPr>
          <p:cNvPr id="11" name="Text 8"/>
          <p:cNvSpPr/>
          <p:nvPr/>
        </p:nvSpPr>
        <p:spPr>
          <a:xfrm>
            <a:off x="1161288" y="4416552"/>
            <a:ext cx="9957816" cy="365760"/>
          </a:xfrm>
          <a:prstGeom prst="rect">
            <a:avLst/>
          </a:prstGeom>
          <a:noFill/>
          <a:ln/>
        </p:spPr>
        <p:txBody>
          <a:bodyPr wrap="square" lIns="0" tIns="0" rIns="0" bIns="0" rtlCol="0" anchor="ctr"/>
          <a:lstStyle/>
          <a:p>
            <a:pPr algn="l" indent="0" marL="0">
              <a:buNone/>
            </a:pPr>
            <a:r>
              <a:rPr lang="en-US" sz="1400" b="1" dirty="0">
                <a:solidFill>
                  <a:srgbClr val="C74634"/>
                </a:solidFill>
                <a:latin typeface="맑은 고딕" pitchFamily="34" charset="0"/>
                <a:ea typeface="맑은 고딕" pitchFamily="34" charset="-122"/>
                <a:cs typeface="맑은 고딕" pitchFamily="34" charset="-120"/>
              </a:rPr>
              <a:t>pruning도 산수</a:t>
            </a:r>
            <a:endParaRPr lang="en-US" sz="1400" dirty="0"/>
          </a:p>
        </p:txBody>
      </p:sp>
      <p:sp>
        <p:nvSpPr>
          <p:cNvPr id="12" name="Text 9"/>
          <p:cNvSpPr/>
          <p:nvPr/>
        </p:nvSpPr>
        <p:spPr>
          <a:xfrm>
            <a:off x="1161288" y="4873752"/>
            <a:ext cx="9957816" cy="76809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키가 확정된 축=SINGLE, 못 정한 축=ALL. HASH의 13–16·15는 서브 파티션의 전체 일련번호(4번 파티션의 h1~h4=13~16). 두 키를 다 주면 1/16.</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3" name="Text 1"/>
          <p:cNvSpPr/>
          <p:nvPr/>
        </p:nvSpPr>
        <p:spPr>
          <a:xfrm>
            <a:off x="795528" y="1371600"/>
            <a:ext cx="4572000" cy="2011680"/>
          </a:xfrm>
          <a:prstGeom prst="rect">
            <a:avLst/>
          </a:prstGeom>
          <a:noFill/>
          <a:ln/>
        </p:spPr>
        <p:txBody>
          <a:bodyPr wrap="square" lIns="0" tIns="0" rIns="0" bIns="0" rtlCol="0" anchor="t"/>
          <a:lstStyle/>
          <a:p>
            <a:pPr algn="l" indent="0" marL="0">
              <a:buNone/>
            </a:pPr>
            <a:r>
              <a:rPr lang="en-US" sz="13000" b="1" dirty="0">
                <a:solidFill>
                  <a:srgbClr val="334155"/>
                </a:solidFill>
                <a:latin typeface="맑은 고딕" pitchFamily="34" charset="0"/>
                <a:ea typeface="맑은 고딕" pitchFamily="34" charset="-122"/>
                <a:cs typeface="맑은 고딕" pitchFamily="34" charset="-120"/>
              </a:rPr>
              <a:t>05</a:t>
            </a:r>
            <a:endParaRPr lang="en-US" sz="13000" dirty="0"/>
          </a:p>
        </p:txBody>
      </p:sp>
      <p:sp>
        <p:nvSpPr>
          <p:cNvPr id="4" name="Shape 2"/>
          <p:cNvSpPr/>
          <p:nvPr/>
        </p:nvSpPr>
        <p:spPr>
          <a:xfrm>
            <a:off x="841248" y="4114800"/>
            <a:ext cx="566928" cy="82296"/>
          </a:xfrm>
          <a:prstGeom prst="roundRect">
            <a:avLst>
              <a:gd name="adj" fmla="val 50000"/>
            </a:avLst>
          </a:prstGeom>
          <a:solidFill>
            <a:srgbClr val="C74634"/>
          </a:solidFill>
          <a:ln w="12700">
            <a:solidFill>
              <a:srgbClr val="C74634"/>
            </a:solidFill>
            <a:prstDash val="solid"/>
          </a:ln>
        </p:spPr>
      </p:sp>
      <p:sp>
        <p:nvSpPr>
          <p:cNvPr id="5" name="Text 3"/>
          <p:cNvSpPr/>
          <p:nvPr/>
        </p:nvSpPr>
        <p:spPr>
          <a:xfrm>
            <a:off x="841248" y="4343400"/>
            <a:ext cx="10506456" cy="822960"/>
          </a:xfrm>
          <a:prstGeom prst="rect">
            <a:avLst/>
          </a:prstGeom>
          <a:noFill/>
          <a:ln/>
        </p:spPr>
        <p:txBody>
          <a:bodyPr wrap="square" lIns="0" tIns="0" rIns="0" bIns="0" rtlCol="0" anchor="t"/>
          <a:lstStyle/>
          <a:p>
            <a:pPr algn="l" indent="0" marL="0">
              <a:buNone/>
            </a:pPr>
            <a:r>
              <a:rPr lang="en-US" sz="3800" b="1" dirty="0">
                <a:solidFill>
                  <a:srgbClr val="FFFFFF"/>
                </a:solidFill>
                <a:latin typeface="맑은 고딕" pitchFamily="34" charset="0"/>
                <a:ea typeface="맑은 고딕" pitchFamily="34" charset="-122"/>
                <a:cs typeface="맑은 고딕" pitchFamily="34" charset="-120"/>
              </a:rPr>
              <a:t>빈틈 &amp; 질문</a:t>
            </a:r>
            <a:endParaRPr lang="en-US" sz="3800" dirty="0"/>
          </a:p>
        </p:txBody>
      </p:sp>
      <p:sp>
        <p:nvSpPr>
          <p:cNvPr id="6" name="Text 4"/>
          <p:cNvSpPr/>
          <p:nvPr/>
        </p:nvSpPr>
        <p:spPr>
          <a:xfrm>
            <a:off x="841248" y="5230368"/>
            <a:ext cx="10506456" cy="54864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홈랩 재확인 목록</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4"/>
        </a:solidFill>
      </p:bgPr>
    </p:bg>
    <p:spTree>
      <p:nvGrpSpPr>
        <p:cNvPr id="1" name=""/>
        <p:cNvGrpSpPr/>
        <p:nvPr/>
      </p:nvGrpSpPr>
      <p:grpSpPr>
        <a:xfrm>
          <a:off x="0" y="0"/>
          <a:ext cx="0" cy="0"/>
          <a:chOff x="0" y="0"/>
          <a:chExt cx="0" cy="0"/>
        </a:xfrm>
      </p:grpSpPr>
      <p:sp>
        <p:nvSpPr>
          <p:cNvPr id="2" name="Shape 0"/>
          <p:cNvSpPr/>
          <p:nvPr/>
        </p:nvSpPr>
        <p:spPr>
          <a:xfrm>
            <a:off x="841248" y="603504"/>
            <a:ext cx="420624" cy="73152"/>
          </a:xfrm>
          <a:prstGeom prst="roundRect">
            <a:avLst>
              <a:gd name="adj" fmla="val 50000"/>
            </a:avLst>
          </a:prstGeom>
          <a:solidFill>
            <a:srgbClr val="C74634"/>
          </a:solidFill>
          <a:ln w="12700">
            <a:solidFill>
              <a:srgbClr val="C74634"/>
            </a:solidFill>
            <a:prstDash val="solid"/>
          </a:ln>
        </p:spPr>
      </p:sp>
      <p:sp>
        <p:nvSpPr>
          <p:cNvPr id="3" name="Text 1"/>
          <p:cNvSpPr/>
          <p:nvPr/>
        </p:nvSpPr>
        <p:spPr>
          <a:xfrm>
            <a:off x="841248" y="768096"/>
            <a:ext cx="9326880" cy="868680"/>
          </a:xfrm>
          <a:prstGeom prst="rect">
            <a:avLst/>
          </a:prstGeom>
          <a:noFill/>
          <a:ln/>
        </p:spPr>
        <p:txBody>
          <a:bodyPr wrap="square" lIns="0" tIns="0" rIns="0" bIns="0" rtlCol="0" anchor="t"/>
          <a:lstStyle/>
          <a:p>
            <a:pPr algn="l" indent="0" marL="0">
              <a:lnSpc>
                <a:spcPct val="104000"/>
              </a:lnSpc>
              <a:buNone/>
            </a:pPr>
            <a:r>
              <a:rPr lang="en-US" sz="2400" b="1" dirty="0">
                <a:solidFill>
                  <a:srgbClr val="20303F"/>
                </a:solidFill>
                <a:latin typeface="맑은 고딕" pitchFamily="34" charset="0"/>
                <a:ea typeface="맑은 고딕" pitchFamily="34" charset="-122"/>
                <a:cs typeface="맑은 고딕" pitchFamily="34" charset="-120"/>
              </a:rPr>
              <a:t>오늘의 빈틈 — 홈랩에서 잡을 것 세 가지</a:t>
            </a:r>
            <a:endParaRPr lang="en-US" sz="2400" dirty="0"/>
          </a:p>
        </p:txBody>
      </p:sp>
      <p:sp>
        <p:nvSpPr>
          <p:cNvPr id="4" name="Text 2"/>
          <p:cNvSpPr/>
          <p:nvPr/>
        </p:nvSpPr>
        <p:spPr>
          <a:xfrm>
            <a:off x="9701784" y="658368"/>
            <a:ext cx="1645920" cy="274320"/>
          </a:xfrm>
          <a:prstGeom prst="rect">
            <a:avLst/>
          </a:prstGeom>
          <a:noFill/>
          <a:ln/>
        </p:spPr>
        <p:txBody>
          <a:bodyPr wrap="square" lIns="0" tIns="0" rIns="0" bIns="0" rtlCol="0" anchor="ctr"/>
          <a:lstStyle/>
          <a:p>
            <a:pPr algn="r" indent="0" marL="0">
              <a:buNone/>
            </a:pPr>
            <a:r>
              <a:rPr lang="en-US" sz="1000" b="1" spc="200" kern="0" dirty="0">
                <a:solidFill>
                  <a:srgbClr val="C74634"/>
                </a:solidFill>
                <a:latin typeface="맑은 고딕" pitchFamily="34" charset="0"/>
                <a:ea typeface="맑은 고딕" pitchFamily="34" charset="-122"/>
                <a:cs typeface="맑은 고딕" pitchFamily="34" charset="-120"/>
              </a:rPr>
              <a:t>ORACLE</a:t>
            </a:r>
            <a:endParaRPr lang="en-US" sz="1000" dirty="0"/>
          </a:p>
        </p:txBody>
      </p:sp>
      <p:sp>
        <p:nvSpPr>
          <p:cNvPr id="5" name="Shape 3"/>
          <p:cNvSpPr/>
          <p:nvPr/>
        </p:nvSpPr>
        <p:spPr>
          <a:xfrm>
            <a:off x="841248" y="1627632"/>
            <a:ext cx="10506456" cy="10973"/>
          </a:xfrm>
          <a:prstGeom prst="rect">
            <a:avLst/>
          </a:prstGeom>
          <a:solidFill>
            <a:srgbClr val="E7E1D6"/>
          </a:solidFill>
          <a:ln w="12700">
            <a:solidFill>
              <a:srgbClr val="E7E1D6"/>
            </a:solidFill>
            <a:prstDash val="solid"/>
          </a:ln>
        </p:spPr>
      </p:sp>
      <p:sp>
        <p:nvSpPr>
          <p:cNvPr id="6" name="Text 4"/>
          <p:cNvSpPr/>
          <p:nvPr/>
        </p:nvSpPr>
        <p:spPr>
          <a:xfrm>
            <a:off x="841248" y="6355080"/>
            <a:ext cx="6400800" cy="274320"/>
          </a:xfrm>
          <a:prstGeom prst="rect">
            <a:avLst/>
          </a:prstGeom>
          <a:noFill/>
          <a:ln/>
        </p:spPr>
        <p:txBody>
          <a:bodyPr wrap="square" lIns="0" tIns="0" rIns="0" bIns="0" rtlCol="0" anchor="ctr"/>
          <a:lstStyle/>
          <a:p>
            <a:pPr algn="l" indent="0" marL="0">
              <a:buNone/>
            </a:pPr>
            <a:r>
              <a:rPr lang="en-US" sz="900" dirty="0">
                <a:solidFill>
                  <a:srgbClr val="6B6256"/>
                </a:solidFill>
                <a:latin typeface="맑은 고딕" pitchFamily="34" charset="0"/>
                <a:ea typeface="맑은 고딕" pitchFamily="34" charset="-122"/>
                <a:cs typeface="맑은 고딕" pitchFamily="34" charset="-120"/>
              </a:rPr>
              <a:t>Oracle DBA · 첫 값이 모두의 플랜을 정한다 — 그리고 파티션</a:t>
            </a:r>
            <a:endParaRPr lang="en-US" sz="900" dirty="0"/>
          </a:p>
        </p:txBody>
      </p:sp>
      <p:sp>
        <p:nvSpPr>
          <p:cNvPr id="7" name="Text 5"/>
          <p:cNvSpPr/>
          <p:nvPr/>
        </p:nvSpPr>
        <p:spPr>
          <a:xfrm>
            <a:off x="10433304" y="6355080"/>
            <a:ext cx="914400" cy="274320"/>
          </a:xfrm>
          <a:prstGeom prst="rect">
            <a:avLst/>
          </a:prstGeom>
          <a:noFill/>
          <a:ln/>
        </p:spPr>
        <p:txBody>
          <a:bodyPr wrap="square" lIns="0" tIns="0" rIns="0" bIns="0" rtlCol="0" anchor="ctr"/>
          <a:lstStyle/>
          <a:p>
            <a:pPr algn="r" indent="0" marL="0">
              <a:buNone/>
            </a:pPr>
            <a:r>
              <a:rPr lang="en-US" sz="900" dirty="0">
                <a:solidFill>
                  <a:srgbClr val="6B6256"/>
                </a:solidFill>
                <a:latin typeface="맑은 고딕" pitchFamily="34" charset="0"/>
                <a:ea typeface="맑은 고딕" pitchFamily="34" charset="-122"/>
                <a:cs typeface="맑은 고딕" pitchFamily="34" charset="-120"/>
              </a:rPr>
              <a:t>14</a:t>
            </a:r>
            <a:endParaRPr lang="en-US" sz="900" dirty="0"/>
          </a:p>
        </p:txBody>
      </p:sp>
      <p:sp>
        <p:nvSpPr>
          <p:cNvPr id="8" name="Text 6"/>
          <p:cNvSpPr/>
          <p:nvPr/>
        </p:nvSpPr>
        <p:spPr>
          <a:xfrm>
            <a:off x="841248" y="1737360"/>
            <a:ext cx="6675120" cy="31089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히스토그램+FORCE 실측 불일치 — index(cost 6, LOADS 3) vs full(재현): flush로 순서 통제해 재확인</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ACS aware=Y 전환 관찰 — 값을 바꿔 반복 실행, child cursor가 갈라지는 시점 잡기</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(이월) 78일차 SA_REP·dept=50의 E-Rows 10 — 히스토그램 후에도 10인 이유</a:t>
            </a:r>
            <a:endParaRPr lang="en-US" sz="1600" dirty="0"/>
          </a:p>
          <a:p>
            <a:pPr marL="203200" indent="-203200">
              <a:spcAft>
                <a:spcPts val="800"/>
              </a:spcAft>
              <a:buSzPct val="100000"/>
              <a:buChar char="•"/>
            </a:pPr>
            <a:r>
              <a:rPr lang="en-US" sz="1600" dirty="0">
                <a:solidFill>
                  <a:srgbClr val="20303F"/>
                </a:solidFill>
                <a:latin typeface="맑은 고딕" pitchFamily="34" charset="0"/>
                <a:ea typeface="맑은 고딕" pitchFamily="34" charset="-122"/>
                <a:cs typeface="맑은 고딕" pitchFamily="34" charset="-120"/>
              </a:rPr>
              <a:t>다음 예고 — 파티션 인덱스(local/global)로 이어질 전망, 로드맵 11 진행 중</a:t>
            </a:r>
            <a:endParaRPr lang="en-US" sz="1600" dirty="0"/>
          </a:p>
        </p:txBody>
      </p:sp>
      <p:sp>
        <p:nvSpPr>
          <p:cNvPr id="9" name="Shape 7"/>
          <p:cNvSpPr/>
          <p:nvPr/>
        </p:nvSpPr>
        <p:spPr>
          <a:xfrm>
            <a:off x="7973568" y="1737360"/>
            <a:ext cx="3374136" cy="2688336"/>
          </a:xfrm>
          <a:prstGeom prst="roundRect">
            <a:avLst>
              <a:gd name="adj" fmla="val 4082"/>
            </a:avLst>
          </a:prstGeom>
          <a:solidFill>
            <a:srgbClr val="F4F1EA"/>
          </a:solidFill>
          <a:ln w="12700">
            <a:solidFill>
              <a:srgbClr val="E7E1D6"/>
            </a:solidFill>
            <a:prstDash val="solid"/>
          </a:ln>
          <a:effectLst>
            <a:outerShdw sx="100000" sy="100000" kx="0" ky="0" algn="bl" rotWithShape="0" blurRad="152400" dist="25400" dir="5400000">
              <a:srgbClr val="8A7F6A">
                <a:alpha val="14000"/>
              </a:srgbClr>
            </a:outerShdw>
          </a:effectLst>
        </p:spPr>
      </p:sp>
      <p:sp>
        <p:nvSpPr>
          <p:cNvPr id="10" name="Shape 8"/>
          <p:cNvSpPr/>
          <p:nvPr/>
        </p:nvSpPr>
        <p:spPr>
          <a:xfrm>
            <a:off x="8001000" y="1856232"/>
            <a:ext cx="73152" cy="2450592"/>
          </a:xfrm>
          <a:prstGeom prst="roundRect">
            <a:avLst>
              <a:gd name="adj" fmla="val 50000"/>
            </a:avLst>
          </a:prstGeom>
          <a:solidFill>
            <a:srgbClr val="334155"/>
          </a:solidFill>
          <a:ln w="12700">
            <a:solidFill>
              <a:srgbClr val="334155"/>
            </a:solidFill>
            <a:prstDash val="solid"/>
          </a:ln>
        </p:spPr>
      </p:sp>
      <p:sp>
        <p:nvSpPr>
          <p:cNvPr id="11" name="Text 9"/>
          <p:cNvSpPr/>
          <p:nvPr/>
        </p:nvSpPr>
        <p:spPr>
          <a:xfrm>
            <a:off x="8293608" y="1938528"/>
            <a:ext cx="2825496" cy="365760"/>
          </a:xfrm>
          <a:prstGeom prst="rect">
            <a:avLst/>
          </a:prstGeom>
          <a:noFill/>
          <a:ln/>
        </p:spPr>
        <p:txBody>
          <a:bodyPr wrap="square" lIns="0" tIns="0" rIns="0" bIns="0" rtlCol="0" anchor="ctr"/>
          <a:lstStyle/>
          <a:p>
            <a:pPr algn="l" indent="0" marL="0">
              <a:buNone/>
            </a:pPr>
            <a:r>
              <a:rPr lang="en-US" sz="1400" b="1" dirty="0">
                <a:solidFill>
                  <a:srgbClr val="20303F"/>
                </a:solidFill>
                <a:latin typeface="맑은 고딕" pitchFamily="34" charset="0"/>
                <a:ea typeface="맑은 고딕" pitchFamily="34" charset="-122"/>
                <a:cs typeface="맑은 고딕" pitchFamily="34" charset="-120"/>
              </a:rPr>
              <a:t>오늘의 한 줄</a:t>
            </a:r>
            <a:endParaRPr lang="en-US" sz="1400" dirty="0"/>
          </a:p>
        </p:txBody>
      </p:sp>
      <p:sp>
        <p:nvSpPr>
          <p:cNvPr id="12" name="Text 10"/>
          <p:cNvSpPr/>
          <p:nvPr/>
        </p:nvSpPr>
        <p:spPr>
          <a:xfrm>
            <a:off x="8293608" y="2395728"/>
            <a:ext cx="2825496" cy="1865376"/>
          </a:xfrm>
          <a:prstGeom prst="rect">
            <a:avLst/>
          </a:prstGeom>
          <a:noFill/>
          <a:ln/>
        </p:spPr>
        <p:txBody>
          <a:bodyPr wrap="square" lIns="0" tIns="0" rIns="0" bIns="0" rtlCol="0" anchor="t"/>
          <a:lstStyle/>
          <a:p>
            <a:pPr algn="l" indent="0" marL="0">
              <a:buNone/>
            </a:pPr>
            <a:r>
              <a:rPr lang="en-US" sz="1300" dirty="0">
                <a:solidFill>
                  <a:srgbClr val="20303F"/>
                </a:solidFill>
                <a:latin typeface="맑은 고딕" pitchFamily="34" charset="0"/>
                <a:ea typeface="맑은 고딕" pitchFamily="34" charset="-122"/>
                <a:cs typeface="맑은 고딕" pitchFamily="34" charset="-120"/>
              </a:rPr>
              <a:t>공유된 플랜은 '첫 값'이 정했고(peeking), 읽을 세그먼트는 'where절의 키'가 정한다(pruning) — 둘 다 실행계획에 증거가 찍힌다.</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C3742"/>
        </a:solidFill>
      </p:bgPr>
    </p:bg>
    <p:spTree>
      <p:nvGrpSpPr>
        <p:cNvPr id="1" name=""/>
        <p:cNvGrpSpPr/>
        <p:nvPr/>
      </p:nvGrpSpPr>
      <p:grpSpPr>
        <a:xfrm>
          <a:off x="0" y="0"/>
          <a:ext cx="0" cy="0"/>
          <a:chOff x="0" y="0"/>
          <a:chExt cx="0" cy="0"/>
        </a:xfrm>
      </p:grpSpPr>
      <p:sp>
        <p:nvSpPr>
          <p:cNvPr id="2" name="Text 0"/>
          <p:cNvSpPr/>
          <p:nvPr/>
        </p:nvSpPr>
        <p:spPr>
          <a:xfrm>
            <a:off x="841248" y="603504"/>
            <a:ext cx="3657600" cy="365760"/>
          </a:xfrm>
          <a:prstGeom prst="rect">
            <a:avLst/>
          </a:prstGeom>
          <a:noFill/>
          <a:ln/>
        </p:spPr>
        <p:txBody>
          <a:bodyPr wrap="square" lIns="0" tIns="0" rIns="0" bIns="0" rtlCol="0" anchor="ctr"/>
          <a:lstStyle/>
          <a:p>
            <a:pPr algn="l" indent="0" marL="0">
              <a:buNone/>
            </a:pPr>
            <a:r>
              <a:rPr lang="en-US" sz="1300" b="1" spc="400" kern="0" dirty="0">
                <a:solidFill>
                  <a:srgbClr val="E89B8C"/>
                </a:solidFill>
                <a:latin typeface="맑은 고딕" pitchFamily="34" charset="0"/>
                <a:ea typeface="맑은 고딕" pitchFamily="34" charset="-122"/>
                <a:cs typeface="맑은 고딕" pitchFamily="34" charset="-120"/>
              </a:rPr>
              <a:t>ORACLE</a:t>
            </a:r>
            <a:endParaRPr lang="en-US" sz="1300" dirty="0"/>
          </a:p>
        </p:txBody>
      </p:sp>
      <p:sp>
        <p:nvSpPr>
          <p:cNvPr id="3" name="Shape 1"/>
          <p:cNvSpPr/>
          <p:nvPr/>
        </p:nvSpPr>
        <p:spPr>
          <a:xfrm>
            <a:off x="841248" y="2697480"/>
            <a:ext cx="566928" cy="82296"/>
          </a:xfrm>
          <a:prstGeom prst="roundRect">
            <a:avLst>
              <a:gd name="adj" fmla="val 50000"/>
            </a:avLst>
          </a:prstGeom>
          <a:solidFill>
            <a:srgbClr val="C74634"/>
          </a:solidFill>
          <a:ln w="12700">
            <a:solidFill>
              <a:srgbClr val="C74634"/>
            </a:solidFill>
            <a:prstDash val="solid"/>
          </a:ln>
        </p:spPr>
      </p:sp>
      <p:sp>
        <p:nvSpPr>
          <p:cNvPr id="4" name="Text 2"/>
          <p:cNvSpPr/>
          <p:nvPr/>
        </p:nvSpPr>
        <p:spPr>
          <a:xfrm>
            <a:off x="841248" y="2971800"/>
            <a:ext cx="10506456" cy="1005840"/>
          </a:xfrm>
          <a:prstGeom prst="rect">
            <a:avLst/>
          </a:prstGeom>
          <a:noFill/>
          <a:ln/>
        </p:spPr>
        <p:txBody>
          <a:bodyPr wrap="square" lIns="0" tIns="0" rIns="0" bIns="0" rtlCol="0" anchor="t"/>
          <a:lstStyle/>
          <a:p>
            <a:pPr algn="l" indent="0" marL="0">
              <a:buNone/>
            </a:pPr>
            <a:r>
              <a:rPr lang="en-US" sz="4400" b="1" dirty="0">
                <a:solidFill>
                  <a:srgbClr val="FFFFFF"/>
                </a:solidFill>
                <a:latin typeface="맑은 고딕" pitchFamily="34" charset="0"/>
                <a:ea typeface="맑은 고딕" pitchFamily="34" charset="-122"/>
                <a:cs typeface="맑은 고딕" pitchFamily="34" charset="-120"/>
              </a:rPr>
              <a:t>감사합니다</a:t>
            </a:r>
            <a:endParaRPr lang="en-US" sz="4400" dirty="0"/>
          </a:p>
        </p:txBody>
      </p:sp>
      <p:sp>
        <p:nvSpPr>
          <p:cNvPr id="5" name="Text 3"/>
          <p:cNvSpPr/>
          <p:nvPr/>
        </p:nvSpPr>
        <p:spPr>
          <a:xfrm>
            <a:off x="841248" y="4114800"/>
            <a:ext cx="10506456" cy="640080"/>
          </a:xfrm>
          <a:prstGeom prst="rect">
            <a:avLst/>
          </a:prstGeom>
          <a:noFill/>
          <a:ln/>
        </p:spPr>
        <p:txBody>
          <a:bodyPr wrap="square" lIns="0" tIns="0" rIns="0" bIns="0" rtlCol="0" anchor="t"/>
          <a:lstStyle/>
          <a:p>
            <a:pPr algn="l" indent="0" marL="0">
              <a:buNone/>
            </a:pPr>
            <a:r>
              <a:rPr lang="en-US" sz="1600" dirty="0">
                <a:solidFill>
                  <a:srgbClr val="A79E90"/>
                </a:solidFill>
                <a:latin typeface="맑은 고딕" pitchFamily="34" charset="0"/>
                <a:ea typeface="맑은 고딕" pitchFamily="34" charset="-122"/>
                <a:cs typeface="맑은 고딕" pitchFamily="34" charset="-120"/>
              </a:rPr>
              <a:t>질문이 있으면 편하게 말씀해 주세요.</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첫 값이 모두의 플랜을 정한다 — 그리고 파티션</dc:title>
  <dc:subject>PptxGenJS Presentation</dc:subject>
  <dc:creator>Oracle DBA Study</dc:creator>
  <cp:lastModifiedBy>Oracle DBA Study</cp:lastModifiedBy>
  <cp:revision>1</cp:revision>
  <dcterms:created xsi:type="dcterms:W3CDTF">2026-07-10T09:02:57Z</dcterms:created>
  <dcterms:modified xsi:type="dcterms:W3CDTF">2026-07-10T09:02:57Z</dcterms:modified>
</cp:coreProperties>
</file>